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9"/>
  </p:notesMasterIdLst>
  <p:sldIdLst>
    <p:sldId id="256" r:id="rId2"/>
    <p:sldId id="292" r:id="rId3"/>
    <p:sldId id="293" r:id="rId4"/>
    <p:sldId id="295" r:id="rId5"/>
    <p:sldId id="294" r:id="rId6"/>
    <p:sldId id="296" r:id="rId7"/>
    <p:sldId id="258" r:id="rId8"/>
    <p:sldId id="259" r:id="rId9"/>
    <p:sldId id="260" r:id="rId10"/>
    <p:sldId id="263" r:id="rId11"/>
    <p:sldId id="262" r:id="rId12"/>
    <p:sldId id="264" r:id="rId13"/>
    <p:sldId id="265" r:id="rId14"/>
    <p:sldId id="267" r:id="rId15"/>
    <p:sldId id="269" r:id="rId16"/>
    <p:sldId id="270" r:id="rId17"/>
    <p:sldId id="271" r:id="rId18"/>
    <p:sldId id="272" r:id="rId19"/>
    <p:sldId id="273" r:id="rId20"/>
    <p:sldId id="274" r:id="rId21"/>
    <p:sldId id="275" r:id="rId22"/>
    <p:sldId id="276" r:id="rId23"/>
    <p:sldId id="277" r:id="rId24"/>
    <p:sldId id="288" r:id="rId25"/>
    <p:sldId id="289" r:id="rId26"/>
    <p:sldId id="290" r:id="rId27"/>
    <p:sldId id="291" r:id="rId28"/>
    <p:sldId id="278" r:id="rId29"/>
    <p:sldId id="279" r:id="rId30"/>
    <p:sldId id="280" r:id="rId31"/>
    <p:sldId id="281" r:id="rId32"/>
    <p:sldId id="282" r:id="rId33"/>
    <p:sldId id="283" r:id="rId34"/>
    <p:sldId id="284" r:id="rId35"/>
    <p:sldId id="285" r:id="rId36"/>
    <p:sldId id="286" r:id="rId37"/>
    <p:sldId id="287"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5FF"/>
    <a:srgbClr val="84B9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7" d="100"/>
          <a:sy n="77" d="100"/>
        </p:scale>
        <p:origin x="-36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CC6C6FA-6E8D-4E50-A3C5-8E8B92801954}" type="datetimeFigureOut">
              <a:rPr lang="en-GB" smtClean="0"/>
              <a:t>17/09/2018</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A22779-2939-43D5-8490-8AF5D38380AB}" type="slidenum">
              <a:rPr lang="en-GB" smtClean="0"/>
              <a:t>‹#›</a:t>
            </a:fld>
            <a:endParaRPr lang="en-GB"/>
          </a:p>
        </p:txBody>
      </p:sp>
    </p:spTree>
    <p:extLst>
      <p:ext uri="{BB962C8B-B14F-4D97-AF65-F5344CB8AC3E}">
        <p14:creationId xmlns:p14="http://schemas.microsoft.com/office/powerpoint/2010/main" val="1963787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691DBC50-69C2-4517-B6F4-B48AEF63AC54}" type="slidenum">
              <a:rPr lang="en-GB" altLang="en-US"/>
              <a:pPr/>
              <a:t>10</a:t>
            </a:fld>
            <a:endParaRPr lang="en-GB" altLang="en-US"/>
          </a:p>
        </p:txBody>
      </p:sp>
      <p:sp>
        <p:nvSpPr>
          <p:cNvPr id="91137" name="Rectangle 1"/>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1138"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A2ECD1EF-EAFD-49B3-9AD5-5B187D52CC4B}" type="slidenum">
              <a:rPr lang="en-GB" altLang="en-US"/>
              <a:pPr/>
              <a:t>11</a:t>
            </a:fld>
            <a:endParaRPr lang="en-GB" altLang="en-US"/>
          </a:p>
        </p:txBody>
      </p:sp>
      <p:sp>
        <p:nvSpPr>
          <p:cNvPr id="90113" name="Rectangle 1"/>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0114"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0A186838-A667-41DA-8226-A4FE452F9E25}" type="slidenum">
              <a:rPr lang="en-GB" altLang="en-US"/>
              <a:pPr/>
              <a:t>12</a:t>
            </a:fld>
            <a:endParaRPr lang="en-GB" altLang="en-US"/>
          </a:p>
        </p:txBody>
      </p:sp>
      <p:sp>
        <p:nvSpPr>
          <p:cNvPr id="92161" name="Rectangle 1"/>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162"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833611A8-4EA4-416F-A371-F0D379B3B32F}" type="slidenum">
              <a:rPr lang="en-GB" altLang="en-US"/>
              <a:pPr/>
              <a:t>13</a:t>
            </a:fld>
            <a:endParaRPr lang="en-GB" altLang="en-US"/>
          </a:p>
        </p:txBody>
      </p:sp>
      <p:sp>
        <p:nvSpPr>
          <p:cNvPr id="93185" name="Rectangle 1"/>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3186"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C2423178-3904-420F-B547-E4D3E479D9E2}" type="slidenum">
              <a:rPr lang="en-GB" altLang="en-US"/>
              <a:pPr/>
              <a:t>14</a:t>
            </a:fld>
            <a:endParaRPr lang="en-GB" altLang="en-US"/>
          </a:p>
        </p:txBody>
      </p:sp>
      <p:sp>
        <p:nvSpPr>
          <p:cNvPr id="95233" name="Rectangle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5234"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2EE1CDB6-D617-40E4-BE1D-056D625594FE}" type="slidenum">
              <a:rPr lang="en-GB" altLang="en-US"/>
              <a:pPr/>
              <a:t>15</a:t>
            </a:fld>
            <a:endParaRPr lang="en-GB" altLang="en-US"/>
          </a:p>
        </p:txBody>
      </p:sp>
      <p:sp>
        <p:nvSpPr>
          <p:cNvPr id="97281" name="Rectangle 1"/>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7282"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87CEA73A-7D92-46F5-BA25-BFB1E90AE881}" type="slidenum">
              <a:rPr lang="en-GB" altLang="en-US"/>
              <a:pPr/>
              <a:t>16</a:t>
            </a:fld>
            <a:endParaRPr lang="en-GB" altLang="en-US"/>
          </a:p>
        </p:txBody>
      </p:sp>
      <p:sp>
        <p:nvSpPr>
          <p:cNvPr id="98305" name="Rectangle 1"/>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8306"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51394350-D8EB-4698-8E9F-7C69A8E8341C}" type="slidenum">
              <a:rPr lang="en-GB" altLang="en-US"/>
              <a:pPr/>
              <a:t>17</a:t>
            </a:fld>
            <a:endParaRPr lang="en-GB" altLang="en-US"/>
          </a:p>
        </p:txBody>
      </p:sp>
      <p:sp>
        <p:nvSpPr>
          <p:cNvPr id="99329" name="Rectangle 1"/>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9330"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F9B52E62-F870-4D52-8FAE-815D341C36D5}" type="slidenum">
              <a:rPr lang="en-GB" altLang="en-US"/>
              <a:pPr/>
              <a:t>18</a:t>
            </a:fld>
            <a:endParaRPr lang="en-GB" altLang="en-US"/>
          </a:p>
        </p:txBody>
      </p:sp>
      <p:sp>
        <p:nvSpPr>
          <p:cNvPr id="100353" name="Rectangle 1"/>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0354"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E247A3E5-66C9-44DA-B029-B5B04CE25C08}" type="slidenum">
              <a:rPr lang="en-GB" altLang="en-US"/>
              <a:pPr/>
              <a:t>19</a:t>
            </a:fld>
            <a:endParaRPr lang="en-GB" altLang="en-US"/>
          </a:p>
        </p:txBody>
      </p:sp>
      <p:sp>
        <p:nvSpPr>
          <p:cNvPr id="101377" name="Rectangle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1378"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71B1F152-6E0C-4AEB-A4CA-7FDCDC83ABCC}" type="slidenum">
              <a:rPr lang="en-GB" altLang="en-US"/>
              <a:pPr/>
              <a:t>20</a:t>
            </a:fld>
            <a:endParaRPr lang="en-GB" altLang="en-US"/>
          </a:p>
        </p:txBody>
      </p:sp>
      <p:sp>
        <p:nvSpPr>
          <p:cNvPr id="102401" name="Rectangle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2402"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555BBC4E-C90D-4D7E-BEB5-9CCAD0FBA642}" type="slidenum">
              <a:rPr lang="en-GB" altLang="en-US"/>
              <a:pPr/>
              <a:t>21</a:t>
            </a:fld>
            <a:endParaRPr lang="en-GB" altLang="en-US"/>
          </a:p>
        </p:txBody>
      </p:sp>
      <p:sp>
        <p:nvSpPr>
          <p:cNvPr id="103425" name="Rectangle 1"/>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3426"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F446F122-AE79-4516-AF69-973A20C57489}" type="slidenum">
              <a:rPr lang="en-GB" altLang="en-US"/>
              <a:pPr/>
              <a:t>22</a:t>
            </a:fld>
            <a:endParaRPr lang="en-GB" altLang="en-US"/>
          </a:p>
        </p:txBody>
      </p:sp>
      <p:sp>
        <p:nvSpPr>
          <p:cNvPr id="104449" name="Rectangle 1"/>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4450"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1082EFA6-18B1-4480-977D-42BF63D9FA4F}" type="slidenum">
              <a:rPr lang="en-GB" altLang="en-US"/>
              <a:pPr/>
              <a:t>23</a:t>
            </a:fld>
            <a:endParaRPr lang="en-GB" altLang="en-US"/>
          </a:p>
        </p:txBody>
      </p:sp>
      <p:sp>
        <p:nvSpPr>
          <p:cNvPr id="105473" name="Rectangle 1"/>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5474"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1082EFA6-18B1-4480-977D-42BF63D9FA4F}" type="slidenum">
              <a:rPr lang="en-GB" altLang="en-US"/>
              <a:pPr/>
              <a:t>24</a:t>
            </a:fld>
            <a:endParaRPr lang="en-GB" altLang="en-US"/>
          </a:p>
        </p:txBody>
      </p:sp>
      <p:sp>
        <p:nvSpPr>
          <p:cNvPr id="105473" name="Rectangle 1"/>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5474"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DC135F8E-644B-46FB-897B-D9482700106B}" type="slidenum">
              <a:rPr lang="en-GB" altLang="en-US"/>
              <a:pPr/>
              <a:t>28</a:t>
            </a:fld>
            <a:endParaRPr lang="en-GB" altLang="en-US"/>
          </a:p>
        </p:txBody>
      </p:sp>
      <p:sp>
        <p:nvSpPr>
          <p:cNvPr id="107521" name="Rectangle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7522"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04F63B69-28E4-45D9-BD42-7F5A275F7577}" type="slidenum">
              <a:rPr lang="en-GB" altLang="en-US"/>
              <a:pPr/>
              <a:t>29</a:t>
            </a:fld>
            <a:endParaRPr lang="en-GB" altLang="en-US"/>
          </a:p>
        </p:txBody>
      </p:sp>
      <p:sp>
        <p:nvSpPr>
          <p:cNvPr id="108545" name="Rectangle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8546"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965061FD-44DD-4E50-98B4-DC3AB4F8A1B4}" type="slidenum">
              <a:rPr lang="en-GB" altLang="en-US"/>
              <a:pPr/>
              <a:t>30</a:t>
            </a:fld>
            <a:endParaRPr lang="en-GB" altLang="en-US"/>
          </a:p>
        </p:txBody>
      </p:sp>
      <p:sp>
        <p:nvSpPr>
          <p:cNvPr id="109569" name="Rectangle 1"/>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9570"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CD7055B9-24C4-4FD1-9BB7-4C7262FECF49}" type="slidenum">
              <a:rPr lang="en-GB" altLang="en-US"/>
              <a:pPr/>
              <a:t>31</a:t>
            </a:fld>
            <a:endParaRPr lang="en-GB" altLang="en-US"/>
          </a:p>
        </p:txBody>
      </p:sp>
      <p:sp>
        <p:nvSpPr>
          <p:cNvPr id="110593" name="Rectangle 1"/>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0594"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67C0CB8C-D1E1-4255-B21D-81F191C2F837}" type="slidenum">
              <a:rPr lang="en-GB" altLang="en-US"/>
              <a:pPr/>
              <a:t>32</a:t>
            </a:fld>
            <a:endParaRPr lang="en-GB" altLang="en-US"/>
          </a:p>
        </p:txBody>
      </p:sp>
      <p:sp>
        <p:nvSpPr>
          <p:cNvPr id="111617" name="Rectangle 1"/>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1618"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3C0BECBC-D8E0-4F38-8E6D-9D37210206B9}" type="slidenum">
              <a:rPr lang="en-GB" altLang="en-US"/>
              <a:pPr/>
              <a:t>33</a:t>
            </a:fld>
            <a:endParaRPr lang="en-GB" altLang="en-US"/>
          </a:p>
        </p:txBody>
      </p:sp>
      <p:sp>
        <p:nvSpPr>
          <p:cNvPr id="112641" name="Rectangle 1"/>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42"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276B79EC-D7F6-4CB6-B540-CB4F41A962E9}" type="slidenum">
              <a:rPr lang="en-GB" altLang="en-US"/>
              <a:pPr/>
              <a:t>34</a:t>
            </a:fld>
            <a:endParaRPr lang="en-GB" altLang="en-US"/>
          </a:p>
        </p:txBody>
      </p:sp>
      <p:sp>
        <p:nvSpPr>
          <p:cNvPr id="113665" name="Rectangle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3666"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BDCA096F-58AB-4751-BD4A-D7E906BFD317}" type="slidenum">
              <a:rPr lang="en-GB" altLang="en-US"/>
              <a:pPr/>
              <a:t>35</a:t>
            </a:fld>
            <a:endParaRPr lang="en-GB" altLang="en-US"/>
          </a:p>
        </p:txBody>
      </p:sp>
      <p:sp>
        <p:nvSpPr>
          <p:cNvPr id="114689" name="Rectangle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4690"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56CB7B16-A6D5-4435-9B57-031056D1EBC1}" type="slidenum">
              <a:rPr lang="en-GB" altLang="en-US"/>
              <a:pPr/>
              <a:t>36</a:t>
            </a:fld>
            <a:endParaRPr lang="en-GB" altLang="en-US"/>
          </a:p>
        </p:txBody>
      </p:sp>
      <p:sp>
        <p:nvSpPr>
          <p:cNvPr id="115713" name="Rectangle 1"/>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5714"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C12AAC60-AE2C-42DD-A89F-35744650CFB2}" type="slidenum">
              <a:rPr lang="en-GB" altLang="en-US"/>
              <a:pPr/>
              <a:t>37</a:t>
            </a:fld>
            <a:endParaRPr lang="en-GB" altLang="en-US"/>
          </a:p>
        </p:txBody>
      </p:sp>
      <p:sp>
        <p:nvSpPr>
          <p:cNvPr id="116737" name="Rectangle 1"/>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6738" name="Rectangle 2"/>
          <p:cNvSpPr txBox="1">
            <a:spLocks noGrp="1" noChangeArrowheads="1"/>
          </p:cNvSpPr>
          <p:nvPr>
            <p:ph type="body" idx="1"/>
          </p:nvPr>
        </p:nvSpPr>
        <p:spPr bwMode="auto">
          <a:xfrm>
            <a:off x="686360" y="4342534"/>
            <a:ext cx="5486681" cy="403369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9/17/2018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62CEF3B-A037-46D0-B02C-1428F07E9383}" type="datetimeFigureOut">
              <a:rPr lang="en-US" dirty="0"/>
              <a:t>9/17/2018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CE482DC-2269-4F26-9D2A-7E44B1A4CD8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9/17/2018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9/17/2018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9/17/2018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9/17/2018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6DFF08F-DC6B-4601-B491-B0F83F6DD2DA}" type="datetimeFigureOut">
              <a:rPr lang="en-US" dirty="0"/>
              <a:pPr/>
              <a:t>9/17/2018</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6DFF08F-DC6B-4601-B491-B0F83F6DD2DA}" type="datetimeFigureOut">
              <a:rPr lang="en-US" dirty="0"/>
              <a:pPr/>
              <a:t>9/17/2018</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9/17/2018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9/17/2018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9/17/2018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08641" y="273629"/>
            <a:ext cx="10970880" cy="1143480"/>
          </a:xfrm>
        </p:spPr>
        <p:txBody>
          <a:bodyPr/>
          <a:lstStyle/>
          <a:p>
            <a:r>
              <a:rPr lang="en-US" smtClean="0"/>
              <a:t>Click to edit Master title style</a:t>
            </a:r>
            <a:endParaRPr lang="en-GB"/>
          </a:p>
        </p:txBody>
      </p:sp>
      <p:sp>
        <p:nvSpPr>
          <p:cNvPr id="3" name="Date Placeholder 2"/>
          <p:cNvSpPr>
            <a:spLocks noGrp="1"/>
          </p:cNvSpPr>
          <p:nvPr>
            <p:ph type="dt" idx="10"/>
          </p:nvPr>
        </p:nvSpPr>
        <p:spPr>
          <a:xfrm>
            <a:off x="608641" y="6247376"/>
            <a:ext cx="2837760" cy="472370"/>
          </a:xfrm>
        </p:spPr>
        <p:txBody>
          <a:bodyPr/>
          <a:lstStyle>
            <a:lvl1pPr>
              <a:defRPr/>
            </a:lvl1pPr>
          </a:lstStyle>
          <a:p>
            <a:endParaRPr lang="en-GB" altLang="en-US"/>
          </a:p>
        </p:txBody>
      </p:sp>
      <p:sp>
        <p:nvSpPr>
          <p:cNvPr id="4" name="Footer Placeholder 3"/>
          <p:cNvSpPr>
            <a:spLocks noGrp="1"/>
          </p:cNvSpPr>
          <p:nvPr>
            <p:ph type="ftr" idx="11"/>
          </p:nvPr>
        </p:nvSpPr>
        <p:spPr>
          <a:xfrm>
            <a:off x="4170240" y="6247376"/>
            <a:ext cx="3863040" cy="472370"/>
          </a:xfrm>
        </p:spPr>
        <p:txBody>
          <a:bodyPr/>
          <a:lstStyle>
            <a:lvl1pPr>
              <a:defRPr/>
            </a:lvl1pPr>
          </a:lstStyle>
          <a:p>
            <a:endParaRPr lang="en-GB" altLang="en-US"/>
          </a:p>
        </p:txBody>
      </p:sp>
      <p:sp>
        <p:nvSpPr>
          <p:cNvPr id="5" name="Slide Number Placeholder 4"/>
          <p:cNvSpPr>
            <a:spLocks noGrp="1"/>
          </p:cNvSpPr>
          <p:nvPr>
            <p:ph type="sldNum" idx="12"/>
          </p:nvPr>
        </p:nvSpPr>
        <p:spPr>
          <a:xfrm>
            <a:off x="8741761" y="6247376"/>
            <a:ext cx="2837760" cy="472370"/>
          </a:xfrm>
        </p:spPr>
        <p:txBody>
          <a:bodyPr/>
          <a:lstStyle>
            <a:lvl1pPr>
              <a:defRPr/>
            </a:lvl1pPr>
          </a:lstStyle>
          <a:p>
            <a:fld id="{F33AD3BC-5DB2-4E6C-B811-77045AF9550F}" type="slidenum">
              <a:rPr lang="en-GB" altLang="en-US"/>
              <a:pPr/>
              <a:t>‹#›</a:t>
            </a:fld>
            <a:endParaRPr lang="en-GB" altLang="en-US"/>
          </a:p>
        </p:txBody>
      </p:sp>
    </p:spTree>
    <p:extLst>
      <p:ext uri="{BB962C8B-B14F-4D97-AF65-F5344CB8AC3E}">
        <p14:creationId xmlns:p14="http://schemas.microsoft.com/office/powerpoint/2010/main" val="2266124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6DFF08F-DC6B-4601-B491-B0F83F6DD2DA}" type="datetimeFigureOut">
              <a:rPr lang="en-US" dirty="0"/>
              <a:pPr/>
              <a:t>9/17/2018</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CSSLayoutFlexbox.html" TargetMode="External"/><Relationship Id="rId2" Type="http://schemas.openxmlformats.org/officeDocument/2006/relationships/hyperlink" Target="CSSLayoutFloat.html" TargetMode="External"/><Relationship Id="rId1" Type="http://schemas.openxmlformats.org/officeDocument/2006/relationships/slideLayout" Target="../slideLayouts/slideLayout2.xml"/><Relationship Id="rId5" Type="http://schemas.openxmlformats.org/officeDocument/2006/relationships/hyperlink" Target="https://www.w3schools.com/bootstrap/default.asp" TargetMode="External"/><Relationship Id="rId4" Type="http://schemas.openxmlformats.org/officeDocument/2006/relationships/hyperlink" Target="https://www.w3schools.com/w3css/default.asp"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00051" y="4455621"/>
            <a:ext cx="10144598" cy="1143000"/>
          </a:xfrm>
        </p:spPr>
        <p:txBody>
          <a:bodyPr>
            <a:normAutofit/>
          </a:bodyPr>
          <a:lstStyle/>
          <a:p>
            <a:r>
              <a:rPr lang="en-US" b="1" dirty="0" smtClean="0"/>
              <a:t>Lecture 3: </a:t>
            </a:r>
          </a:p>
          <a:p>
            <a:pPr marL="342900" indent="-342900">
              <a:buFont typeface="Arial" panose="020B0604020202020204" pitchFamily="34" charset="0"/>
              <a:buChar char="•"/>
            </a:pPr>
            <a:r>
              <a:rPr lang="en-US" b="1" dirty="0" smtClean="0"/>
              <a:t>Chapter </a:t>
            </a:r>
            <a:r>
              <a:rPr lang="en-US" b="1" dirty="0"/>
              <a:t>2: </a:t>
            </a:r>
            <a:r>
              <a:rPr lang="en-US" b="1" dirty="0" smtClean="0"/>
              <a:t>HTML5 Advance features </a:t>
            </a:r>
          </a:p>
        </p:txBody>
      </p:sp>
      <p:sp>
        <p:nvSpPr>
          <p:cNvPr id="6" name="Title 1"/>
          <p:cNvSpPr>
            <a:spLocks noGrp="1"/>
          </p:cNvSpPr>
          <p:nvPr>
            <p:ph type="ctrTitle"/>
          </p:nvPr>
        </p:nvSpPr>
        <p:spPr>
          <a:xfrm>
            <a:off x="1097280" y="758952"/>
            <a:ext cx="10058400" cy="1700043"/>
          </a:xfrm>
        </p:spPr>
        <p:txBody>
          <a:bodyPr>
            <a:normAutofit/>
          </a:bodyPr>
          <a:lstStyle/>
          <a:p>
            <a:r>
              <a:rPr lang="en-US" sz="6600" dirty="0" smtClean="0"/>
              <a:t>INF 213 – Web Technology 1</a:t>
            </a:r>
            <a:endParaRPr lang="en-US" sz="6600" dirty="0"/>
          </a:p>
        </p:txBody>
      </p:sp>
    </p:spTree>
    <p:extLst>
      <p:ext uri="{BB962C8B-B14F-4D97-AF65-F5344CB8AC3E}">
        <p14:creationId xmlns:p14="http://schemas.microsoft.com/office/powerpoint/2010/main" val="31638953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altLang="en-US" b="1" smtClean="0"/>
              <a:t>HTML Layout Techniques</a:t>
            </a:r>
            <a:br>
              <a:rPr lang="en-US" altLang="en-US" b="1" smtClean="0"/>
            </a:br>
            <a:endParaRPr lang="en-GB" altLang="en-US" smtClean="0"/>
          </a:p>
        </p:txBody>
      </p:sp>
      <p:sp>
        <p:nvSpPr>
          <p:cNvPr id="3" name="Content Placeholder 2"/>
          <p:cNvSpPr>
            <a:spLocks noGrp="1"/>
          </p:cNvSpPr>
          <p:nvPr>
            <p:ph idx="1"/>
          </p:nvPr>
        </p:nvSpPr>
        <p:spPr/>
        <p:txBody>
          <a:bodyPr/>
          <a:lstStyle/>
          <a:p>
            <a:pPr eaLnBrk="1" hangingPunct="1">
              <a:defRPr/>
            </a:pPr>
            <a:r>
              <a:rPr lang="en-US" dirty="0" smtClean="0">
                <a:solidFill>
                  <a:schemeClr val="tx1"/>
                </a:solidFill>
              </a:rPr>
              <a:t>There are four different ways to create multicolumn layouts. Each way has its pros and cons:</a:t>
            </a:r>
          </a:p>
          <a:p>
            <a:pPr marL="430511" indent="-430511">
              <a:buFont typeface="+mj-lt"/>
              <a:buAutoNum type="arabicPeriod"/>
              <a:defRPr/>
            </a:pPr>
            <a:r>
              <a:rPr lang="en-US" dirty="0" smtClean="0">
                <a:solidFill>
                  <a:schemeClr val="tx1"/>
                </a:solidFill>
              </a:rPr>
              <a:t>HTML tables (not recommended)</a:t>
            </a:r>
          </a:p>
          <a:p>
            <a:pPr marL="430511" indent="-430511">
              <a:buFont typeface="+mj-lt"/>
              <a:buAutoNum type="arabicPeriod"/>
              <a:defRPr/>
            </a:pPr>
            <a:r>
              <a:rPr lang="en-US" dirty="0" smtClean="0">
                <a:solidFill>
                  <a:schemeClr val="tx1"/>
                </a:solidFill>
                <a:hlinkClick r:id="rId2" action="ppaction://hlinkfile"/>
              </a:rPr>
              <a:t>CSS float property</a:t>
            </a:r>
            <a:endParaRPr lang="en-US" dirty="0" smtClean="0">
              <a:solidFill>
                <a:schemeClr val="tx1"/>
              </a:solidFill>
            </a:endParaRPr>
          </a:p>
          <a:p>
            <a:pPr marL="430511" indent="-430511">
              <a:buFont typeface="+mj-lt"/>
              <a:buAutoNum type="arabicPeriod"/>
              <a:defRPr/>
            </a:pPr>
            <a:r>
              <a:rPr lang="en-US" dirty="0" smtClean="0">
                <a:solidFill>
                  <a:schemeClr val="tx1"/>
                </a:solidFill>
                <a:hlinkClick r:id="rId3" action="ppaction://hlinkfile"/>
              </a:rPr>
              <a:t>CSS flexbox</a:t>
            </a:r>
            <a:endParaRPr lang="en-US" dirty="0" smtClean="0">
              <a:solidFill>
                <a:schemeClr val="tx1"/>
              </a:solidFill>
            </a:endParaRPr>
          </a:p>
          <a:p>
            <a:pPr marL="430511" indent="-430511">
              <a:buFont typeface="+mj-lt"/>
              <a:buAutoNum type="arabicPeriod"/>
              <a:defRPr/>
            </a:pPr>
            <a:r>
              <a:rPr lang="en-US" dirty="0" smtClean="0">
                <a:solidFill>
                  <a:schemeClr val="tx1"/>
                </a:solidFill>
              </a:rPr>
              <a:t>CSS framework</a:t>
            </a:r>
          </a:p>
          <a:p>
            <a:pPr lvl="1" eaLnBrk="1" hangingPunct="1">
              <a:defRPr/>
            </a:pPr>
            <a:r>
              <a:rPr lang="en-US" dirty="0" smtClean="0"/>
              <a:t>If you want to create your layout fast, you can use a framework, like </a:t>
            </a:r>
            <a:r>
              <a:rPr lang="en-US" dirty="0" smtClean="0">
                <a:hlinkClick r:id="rId4"/>
              </a:rPr>
              <a:t>W3.CSS</a:t>
            </a:r>
            <a:r>
              <a:rPr lang="en-US" dirty="0" smtClean="0"/>
              <a:t> or </a:t>
            </a:r>
            <a:r>
              <a:rPr lang="en-US" dirty="0" smtClean="0">
                <a:hlinkClick r:id="rId5"/>
              </a:rPr>
              <a:t>Bootstrap</a:t>
            </a:r>
            <a:r>
              <a:rPr lang="en-US" dirty="0" smtClean="0"/>
              <a:t>.</a:t>
            </a:r>
            <a:endParaRPr lang="en-GB" dirty="0" smtClean="0">
              <a:solidFill>
                <a:schemeClr val="tx1"/>
              </a:solidFill>
            </a:endParaRPr>
          </a:p>
        </p:txBody>
      </p:sp>
    </p:spTree>
    <p:extLst>
      <p:ext uri="{BB962C8B-B14F-4D97-AF65-F5344CB8AC3E}">
        <p14:creationId xmlns:p14="http://schemas.microsoft.com/office/powerpoint/2010/main" val="39262274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047853" y="224819"/>
            <a:ext cx="10058400" cy="1450757"/>
          </a:xfrm>
        </p:spPr>
        <p:txBody>
          <a:bodyPr/>
          <a:lstStyle/>
          <a:p>
            <a:pPr eaLnBrk="1" hangingPunct="1"/>
            <a:r>
              <a:rPr lang="en-US" altLang="en-US" smtClean="0"/>
              <a:t>Layout - HTML5</a:t>
            </a:r>
            <a:endParaRPr lang="en-GB" altLang="en-US" smtClean="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32662467"/>
              </p:ext>
            </p:extLst>
          </p:nvPr>
        </p:nvGraphicFramePr>
        <p:xfrm>
          <a:off x="3523479" y="2347784"/>
          <a:ext cx="8300379" cy="3738913"/>
        </p:xfrm>
        <a:graphic>
          <a:graphicData uri="http://schemas.openxmlformats.org/drawingml/2006/table">
            <a:tbl>
              <a:tblPr/>
              <a:tblGrid>
                <a:gridCol w="196842"/>
                <a:gridCol w="8103537"/>
              </a:tblGrid>
              <a:tr h="3738913">
                <a:tc>
                  <a:txBody>
                    <a:bodyPr/>
                    <a:lstStyle/>
                    <a:p>
                      <a:pPr fontAlgn="t"/>
                      <a:endParaRPr lang="en-US" sz="2300" dirty="0">
                        <a:effectLst/>
                      </a:endParaRPr>
                    </a:p>
                  </a:txBody>
                  <a:tcPr marL="85721" marR="85721" marT="32147" marB="32147">
                    <a:lnL>
                      <a:noFill/>
                    </a:lnL>
                    <a:lnR>
                      <a:noFill/>
                    </a:lnR>
                    <a:lnT>
                      <a:noFill/>
                    </a:lnT>
                    <a:lnB>
                      <a:noFill/>
                    </a:lnB>
                  </a:tcPr>
                </a:tc>
                <a:tc>
                  <a:txBody>
                    <a:bodyPr/>
                    <a:lstStyle/>
                    <a:p>
                      <a:pPr fontAlgn="t">
                        <a:buFont typeface="Arial"/>
                        <a:buChar char="•"/>
                      </a:pPr>
                      <a:r>
                        <a:rPr lang="en-US" sz="2300" dirty="0">
                          <a:effectLst/>
                        </a:rPr>
                        <a:t>&lt;</a:t>
                      </a:r>
                      <a:r>
                        <a:rPr lang="en-US" sz="2300" b="1" dirty="0">
                          <a:effectLst/>
                        </a:rPr>
                        <a:t>header</a:t>
                      </a:r>
                      <a:r>
                        <a:rPr lang="en-US" sz="2300" dirty="0">
                          <a:effectLst/>
                        </a:rPr>
                        <a:t>&gt; - Defines a header for a document or a section</a:t>
                      </a:r>
                    </a:p>
                    <a:p>
                      <a:pPr fontAlgn="t">
                        <a:buFont typeface="Arial"/>
                        <a:buChar char="•"/>
                      </a:pPr>
                      <a:r>
                        <a:rPr lang="en-US" sz="2300" dirty="0">
                          <a:effectLst/>
                        </a:rPr>
                        <a:t>&lt;</a:t>
                      </a:r>
                      <a:r>
                        <a:rPr lang="en-US" sz="2300" b="1" dirty="0" err="1">
                          <a:effectLst/>
                        </a:rPr>
                        <a:t>nav</a:t>
                      </a:r>
                      <a:r>
                        <a:rPr lang="en-US" sz="2300" dirty="0">
                          <a:effectLst/>
                        </a:rPr>
                        <a:t>&gt; - Defines a container for navigation links</a:t>
                      </a:r>
                    </a:p>
                    <a:p>
                      <a:pPr fontAlgn="t">
                        <a:buFont typeface="Arial"/>
                        <a:buChar char="•"/>
                      </a:pPr>
                      <a:r>
                        <a:rPr lang="en-US" sz="2300" dirty="0">
                          <a:effectLst/>
                        </a:rPr>
                        <a:t>&lt;</a:t>
                      </a:r>
                      <a:r>
                        <a:rPr lang="en-US" sz="2300" b="1" dirty="0">
                          <a:effectLst/>
                        </a:rPr>
                        <a:t>section</a:t>
                      </a:r>
                      <a:r>
                        <a:rPr lang="en-US" sz="2300" dirty="0">
                          <a:effectLst/>
                        </a:rPr>
                        <a:t>&gt; - Defines a section in a document</a:t>
                      </a:r>
                    </a:p>
                    <a:p>
                      <a:pPr fontAlgn="t">
                        <a:buFont typeface="Arial"/>
                        <a:buChar char="•"/>
                      </a:pPr>
                      <a:r>
                        <a:rPr lang="en-US" sz="2300" dirty="0">
                          <a:effectLst/>
                        </a:rPr>
                        <a:t>&lt;</a:t>
                      </a:r>
                      <a:r>
                        <a:rPr lang="en-US" sz="2300" b="1" dirty="0">
                          <a:effectLst/>
                        </a:rPr>
                        <a:t>article</a:t>
                      </a:r>
                      <a:r>
                        <a:rPr lang="en-US" sz="2300" dirty="0">
                          <a:effectLst/>
                        </a:rPr>
                        <a:t>&gt; - Defines an independent self-contained article</a:t>
                      </a:r>
                    </a:p>
                    <a:p>
                      <a:pPr fontAlgn="t">
                        <a:buFont typeface="Arial"/>
                        <a:buChar char="•"/>
                      </a:pPr>
                      <a:r>
                        <a:rPr lang="en-US" sz="2300" dirty="0">
                          <a:effectLst/>
                        </a:rPr>
                        <a:t>&lt;</a:t>
                      </a:r>
                      <a:r>
                        <a:rPr lang="en-US" sz="2300" b="1" dirty="0">
                          <a:effectLst/>
                        </a:rPr>
                        <a:t>aside</a:t>
                      </a:r>
                      <a:r>
                        <a:rPr lang="en-US" sz="2300" dirty="0">
                          <a:effectLst/>
                        </a:rPr>
                        <a:t>&gt; - Defines content aside from the content (like a sidebar)</a:t>
                      </a:r>
                    </a:p>
                    <a:p>
                      <a:pPr fontAlgn="t">
                        <a:buFont typeface="Arial"/>
                        <a:buChar char="•"/>
                      </a:pPr>
                      <a:r>
                        <a:rPr lang="en-US" sz="2300" dirty="0">
                          <a:effectLst/>
                        </a:rPr>
                        <a:t>&lt;</a:t>
                      </a:r>
                      <a:r>
                        <a:rPr lang="en-US" sz="2300" b="1" dirty="0">
                          <a:effectLst/>
                        </a:rPr>
                        <a:t>footer</a:t>
                      </a:r>
                      <a:r>
                        <a:rPr lang="en-US" sz="2300" dirty="0">
                          <a:effectLst/>
                        </a:rPr>
                        <a:t>&gt; - Defines a footer for a document or a section</a:t>
                      </a:r>
                    </a:p>
                    <a:p>
                      <a:pPr fontAlgn="t">
                        <a:buFont typeface="Arial"/>
                        <a:buChar char="•"/>
                      </a:pPr>
                      <a:r>
                        <a:rPr lang="en-US" sz="2300" dirty="0">
                          <a:effectLst/>
                        </a:rPr>
                        <a:t>&lt;</a:t>
                      </a:r>
                      <a:r>
                        <a:rPr lang="en-US" sz="2300" b="1" dirty="0">
                          <a:effectLst/>
                        </a:rPr>
                        <a:t>details</a:t>
                      </a:r>
                      <a:r>
                        <a:rPr lang="en-US" sz="2300" dirty="0">
                          <a:effectLst/>
                        </a:rPr>
                        <a:t>&gt; - Defines additional details</a:t>
                      </a:r>
                    </a:p>
                    <a:p>
                      <a:pPr fontAlgn="t">
                        <a:buFont typeface="Arial"/>
                        <a:buChar char="•"/>
                      </a:pPr>
                      <a:r>
                        <a:rPr lang="en-US" sz="2300" dirty="0">
                          <a:effectLst/>
                        </a:rPr>
                        <a:t>&lt;</a:t>
                      </a:r>
                      <a:r>
                        <a:rPr lang="en-US" sz="2300" b="1" dirty="0">
                          <a:effectLst/>
                        </a:rPr>
                        <a:t>summary</a:t>
                      </a:r>
                      <a:r>
                        <a:rPr lang="en-US" sz="2300" dirty="0">
                          <a:effectLst/>
                        </a:rPr>
                        <a:t>&gt; - Defines a heading for the &lt;details&gt; element</a:t>
                      </a:r>
                    </a:p>
                  </a:txBody>
                  <a:tcPr marL="85721" marR="85721" marT="32147" marB="32147">
                    <a:lnL>
                      <a:noFill/>
                    </a:lnL>
                    <a:lnR>
                      <a:noFill/>
                    </a:lnR>
                    <a:lnT>
                      <a:noFill/>
                    </a:lnT>
                    <a:lnB>
                      <a:noFill/>
                    </a:lnB>
                  </a:tcPr>
                </a:tc>
              </a:tr>
            </a:tbl>
          </a:graphicData>
        </a:graphic>
      </p:graphicFrame>
      <p:sp>
        <p:nvSpPr>
          <p:cNvPr id="11270" name="Rectangle 1"/>
          <p:cNvSpPr>
            <a:spLocks/>
          </p:cNvSpPr>
          <p:nvPr/>
        </p:nvSpPr>
        <p:spPr bwMode="auto">
          <a:xfrm>
            <a:off x="1282352" y="1821657"/>
            <a:ext cx="9777777" cy="385060"/>
          </a:xfrm>
          <a:prstGeom prst="rect">
            <a:avLst/>
          </a:prstGeom>
          <a:noFill/>
          <a:ln>
            <a:noFill/>
          </a:ln>
          <a:effectLst/>
          <a:extLst>
            <a:ext uri="{909E8E84-426E-40DD-AFC4-6F175D3DCCD1}">
              <a14:hiddenFill xmlns:a14="http://schemas.microsoft.com/office/drawing/2010/main">
                <a:solidFill>
                  <a:srgbClr val="BFBFB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6535" tIns="38268" rIns="76535" bIns="38268" anchor="ctr">
            <a:spAutoFit/>
          </a:bodyPr>
          <a:lstStyle>
            <a:lvl1pPr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1pPr>
            <a:lvl2pPr marL="742950" indent="-28575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2pPr>
            <a:lvl3pPr marL="1143000" indent="-2286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3pPr>
            <a:lvl4pPr marL="1600200" indent="-2286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4pPr>
            <a:lvl5pPr marL="2057400" indent="-2286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5pPr>
            <a:lvl6pPr marL="2514600" indent="-2286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6pPr>
            <a:lvl7pPr marL="2971800" indent="-2286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7pPr>
            <a:lvl8pPr marL="3429000" indent="-2286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8pPr>
            <a:lvl9pPr marL="3886200" indent="-2286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9pPr>
          </a:lstStyle>
          <a:p>
            <a:pPr eaLnBrk="1" hangingPunct="1">
              <a:spcBef>
                <a:spcPct val="0"/>
              </a:spcBef>
              <a:buClrTx/>
              <a:buSzTx/>
              <a:buFontTx/>
              <a:buNone/>
            </a:pPr>
            <a:r>
              <a:rPr lang="en-US" altLang="en-US" sz="2000" dirty="0">
                <a:solidFill>
                  <a:schemeClr val="tx1"/>
                </a:solidFill>
                <a:latin typeface="Helvetica Neue Light" charset="0"/>
                <a:sym typeface="Helvetica Neue Light" charset="0"/>
              </a:rPr>
              <a:t>HTML5 offers </a:t>
            </a:r>
            <a:r>
              <a:rPr lang="en-US" altLang="en-US" sz="2000" b="1" dirty="0">
                <a:solidFill>
                  <a:schemeClr val="tx1"/>
                </a:solidFill>
                <a:latin typeface="Helvetica Neue Light" charset="0"/>
                <a:sym typeface="Helvetica Neue Light" charset="0"/>
              </a:rPr>
              <a:t>new semantic elements </a:t>
            </a:r>
            <a:r>
              <a:rPr lang="en-US" altLang="en-US" sz="2000" dirty="0">
                <a:solidFill>
                  <a:schemeClr val="tx1"/>
                </a:solidFill>
                <a:latin typeface="Helvetica Neue Light" charset="0"/>
                <a:sym typeface="Helvetica Neue Light" charset="0"/>
              </a:rPr>
              <a:t>that define the different parts of a web page: </a:t>
            </a:r>
          </a:p>
        </p:txBody>
      </p:sp>
      <p:pic>
        <p:nvPicPr>
          <p:cNvPr id="11271" name="Picture 2" descr="HTML5 Semantic Eleme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405" y="2419124"/>
            <a:ext cx="1955602" cy="241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67147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
          <p:cNvSpPr>
            <a:spLocks noGrp="1" noChangeArrowheads="1"/>
          </p:cNvSpPr>
          <p:nvPr>
            <p:ph type="title"/>
          </p:nvPr>
        </p:nvSpPr>
        <p:spPr/>
        <p:txBody>
          <a:bodyPr/>
          <a:lstStyle/>
          <a:p>
            <a:pPr eaLnBrk="1" hangingPunct="1"/>
            <a:r>
              <a:rPr lang="en-US" altLang="en-US" smtClean="0"/>
              <a:t>Layout - HTML5</a:t>
            </a:r>
          </a:p>
        </p:txBody>
      </p:sp>
      <p:sp>
        <p:nvSpPr>
          <p:cNvPr id="2" name="Content Placeholder 1"/>
          <p:cNvSpPr>
            <a:spLocks noGrp="1"/>
          </p:cNvSpPr>
          <p:nvPr>
            <p:ph idx="1"/>
          </p:nvPr>
        </p:nvSpPr>
        <p:spPr>
          <a:xfrm>
            <a:off x="1359243" y="1830586"/>
            <a:ext cx="10294724" cy="4616648"/>
          </a:xfrm>
        </p:spPr>
        <p:txBody>
          <a:bodyPr>
            <a:normAutofit lnSpcReduction="10000"/>
          </a:bodyPr>
          <a:lstStyle/>
          <a:p>
            <a:pPr marL="0" indent="0">
              <a:spcBef>
                <a:spcPts val="0"/>
              </a:spcBef>
              <a:buNone/>
              <a:defRPr/>
            </a:pPr>
            <a:r>
              <a:rPr lang="en-GB" sz="3000" dirty="0">
                <a:solidFill>
                  <a:schemeClr val="tx1"/>
                </a:solidFill>
              </a:rPr>
              <a:t>&lt;body&gt;		</a:t>
            </a:r>
          </a:p>
          <a:p>
            <a:pPr marL="0" indent="0">
              <a:spcBef>
                <a:spcPts val="0"/>
              </a:spcBef>
              <a:buNone/>
              <a:defRPr/>
            </a:pPr>
            <a:r>
              <a:rPr lang="en-GB" sz="3000" dirty="0">
                <a:solidFill>
                  <a:schemeClr val="tx1"/>
                </a:solidFill>
              </a:rPr>
              <a:t>&lt;header&gt;			</a:t>
            </a:r>
          </a:p>
          <a:p>
            <a:pPr marL="0" indent="0">
              <a:spcBef>
                <a:spcPts val="0"/>
              </a:spcBef>
              <a:buNone/>
              <a:defRPr/>
            </a:pPr>
            <a:r>
              <a:rPr lang="en-GB" sz="3000" dirty="0">
                <a:solidFill>
                  <a:schemeClr val="tx1"/>
                </a:solidFill>
              </a:rPr>
              <a:t>&lt;h1&gt;HTML 5&lt;/h1&gt;		</a:t>
            </a:r>
          </a:p>
          <a:p>
            <a:pPr marL="0" indent="0">
              <a:spcBef>
                <a:spcPts val="0"/>
              </a:spcBef>
              <a:buNone/>
              <a:defRPr/>
            </a:pPr>
            <a:r>
              <a:rPr lang="en-GB" sz="3000" dirty="0">
                <a:solidFill>
                  <a:schemeClr val="tx1"/>
                </a:solidFill>
              </a:rPr>
              <a:t>&lt;/header&gt;		</a:t>
            </a:r>
          </a:p>
          <a:p>
            <a:pPr marL="0" indent="0">
              <a:spcBef>
                <a:spcPts val="0"/>
              </a:spcBef>
              <a:buNone/>
              <a:defRPr/>
            </a:pPr>
            <a:r>
              <a:rPr lang="en-GB" sz="3000" dirty="0">
                <a:solidFill>
                  <a:schemeClr val="tx1"/>
                </a:solidFill>
              </a:rPr>
              <a:t>&lt;</a:t>
            </a:r>
            <a:r>
              <a:rPr lang="en-GB" sz="3000" dirty="0" err="1">
                <a:solidFill>
                  <a:schemeClr val="tx1"/>
                </a:solidFill>
              </a:rPr>
              <a:t>nav</a:t>
            </a:r>
            <a:r>
              <a:rPr lang="en-GB" sz="3000" dirty="0">
                <a:solidFill>
                  <a:schemeClr val="tx1"/>
                </a:solidFill>
              </a:rPr>
              <a:t>&gt;  &lt;</a:t>
            </a:r>
            <a:r>
              <a:rPr lang="en-GB" sz="3000" dirty="0" err="1">
                <a:solidFill>
                  <a:schemeClr val="tx1"/>
                </a:solidFill>
              </a:rPr>
              <a:t>ul</a:t>
            </a:r>
            <a:r>
              <a:rPr lang="en-GB" sz="3000" dirty="0">
                <a:solidFill>
                  <a:schemeClr val="tx1"/>
                </a:solidFill>
              </a:rPr>
              <a:t>&gt;&lt;/</a:t>
            </a:r>
            <a:r>
              <a:rPr lang="en-GB" sz="3000" dirty="0" err="1">
                <a:solidFill>
                  <a:schemeClr val="tx1"/>
                </a:solidFill>
              </a:rPr>
              <a:t>ul</a:t>
            </a:r>
            <a:r>
              <a:rPr lang="en-GB" sz="3000" dirty="0">
                <a:solidFill>
                  <a:schemeClr val="tx1"/>
                </a:solidFill>
              </a:rPr>
              <a:t>&gt;		&lt;/</a:t>
            </a:r>
            <a:r>
              <a:rPr lang="en-GB" sz="3000" dirty="0" err="1">
                <a:solidFill>
                  <a:schemeClr val="tx1"/>
                </a:solidFill>
              </a:rPr>
              <a:t>nav</a:t>
            </a:r>
            <a:r>
              <a:rPr lang="en-GB" sz="3000" dirty="0">
                <a:solidFill>
                  <a:schemeClr val="tx1"/>
                </a:solidFill>
              </a:rPr>
              <a:t>&gt;		</a:t>
            </a:r>
          </a:p>
          <a:p>
            <a:pPr marL="0" indent="0">
              <a:spcBef>
                <a:spcPts val="0"/>
              </a:spcBef>
              <a:buNone/>
              <a:defRPr/>
            </a:pPr>
            <a:r>
              <a:rPr lang="en-GB" sz="3000" dirty="0">
                <a:solidFill>
                  <a:schemeClr val="tx1"/>
                </a:solidFill>
              </a:rPr>
              <a:t>&lt;section&gt;			</a:t>
            </a:r>
          </a:p>
          <a:p>
            <a:pPr marL="329527" lvl="1" indent="0">
              <a:spcBef>
                <a:spcPts val="0"/>
              </a:spcBef>
              <a:buNone/>
              <a:defRPr/>
            </a:pPr>
            <a:r>
              <a:rPr lang="en-GB" sz="3000" dirty="0">
                <a:solidFill>
                  <a:schemeClr val="tx1"/>
                </a:solidFill>
              </a:rPr>
              <a:t>&lt;article&gt;	&lt;p&gt;&lt;/p&gt;	&lt;/article&gt;			</a:t>
            </a:r>
          </a:p>
          <a:p>
            <a:pPr marL="329527" lvl="1" indent="0">
              <a:spcBef>
                <a:spcPts val="0"/>
              </a:spcBef>
              <a:buNone/>
              <a:defRPr/>
            </a:pPr>
            <a:r>
              <a:rPr lang="en-GB" sz="3000" dirty="0">
                <a:solidFill>
                  <a:schemeClr val="tx1"/>
                </a:solidFill>
              </a:rPr>
              <a:t>&lt;aside&gt;	&lt;p&gt;&lt;/p&gt;	&lt;/aside&gt;		</a:t>
            </a:r>
          </a:p>
          <a:p>
            <a:pPr marL="0" indent="0">
              <a:spcBef>
                <a:spcPts val="0"/>
              </a:spcBef>
              <a:buNone/>
              <a:defRPr/>
            </a:pPr>
            <a:r>
              <a:rPr lang="en-GB" sz="3000" dirty="0">
                <a:solidFill>
                  <a:schemeClr val="tx1"/>
                </a:solidFill>
              </a:rPr>
              <a:t>&lt;/section&gt;		</a:t>
            </a:r>
          </a:p>
          <a:p>
            <a:pPr marL="0" indent="0">
              <a:spcBef>
                <a:spcPts val="0"/>
              </a:spcBef>
              <a:buNone/>
              <a:defRPr/>
            </a:pPr>
            <a:r>
              <a:rPr lang="en-GB" sz="3000" dirty="0">
                <a:solidFill>
                  <a:schemeClr val="tx1"/>
                </a:solidFill>
              </a:rPr>
              <a:t>&lt;footer&gt;	&lt;p&gt;&lt;/p&gt;	&lt;/footer&gt;</a:t>
            </a:r>
          </a:p>
          <a:p>
            <a:pPr marL="0" indent="0">
              <a:spcBef>
                <a:spcPts val="0"/>
              </a:spcBef>
              <a:buNone/>
              <a:defRPr/>
            </a:pPr>
            <a:r>
              <a:rPr lang="en-GB" sz="3000" dirty="0">
                <a:solidFill>
                  <a:schemeClr val="tx1"/>
                </a:solidFill>
              </a:rPr>
              <a:t>&lt;/body&gt;</a:t>
            </a:r>
          </a:p>
          <a:p>
            <a:pPr>
              <a:spcBef>
                <a:spcPts val="0"/>
              </a:spcBef>
              <a:defRPr/>
            </a:pPr>
            <a:endParaRPr lang="en-GB" sz="3000" dirty="0">
              <a:solidFill>
                <a:schemeClr val="tx1"/>
              </a:solidFill>
            </a:endParaRPr>
          </a:p>
        </p:txBody>
      </p:sp>
      <p:sp>
        <p:nvSpPr>
          <p:cNvPr id="13316" name="Rectangle 2"/>
          <p:cNvSpPr>
            <a:spLocks/>
          </p:cNvSpPr>
          <p:nvPr/>
        </p:nvSpPr>
        <p:spPr bwMode="auto">
          <a:xfrm>
            <a:off x="2500313" y="1446609"/>
            <a:ext cx="6238875"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b"/>
          <a:lstStyle>
            <a:lvl1pPr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1pPr>
            <a:lvl2pPr marL="6858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2pPr>
            <a:lvl3pPr marL="11049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3pPr>
            <a:lvl4pPr marL="15494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4pPr>
            <a:lvl5pPr marL="19939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5pPr>
            <a:lvl6pPr marL="24511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6pPr>
            <a:lvl7pPr marL="29083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7pPr>
            <a:lvl8pPr marL="33655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8pPr>
            <a:lvl9pPr marL="38227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9pPr>
          </a:lstStyle>
          <a:p>
            <a:pPr eaLnBrk="1" hangingPunct="1">
              <a:spcBef>
                <a:spcPct val="0"/>
              </a:spcBef>
              <a:buClrTx/>
              <a:buSzTx/>
              <a:buFontTx/>
              <a:buNone/>
            </a:pPr>
            <a:r>
              <a:rPr lang="en-US" altLang="en-US" sz="2000">
                <a:solidFill>
                  <a:schemeClr val="tx1"/>
                </a:solidFill>
                <a:latin typeface="Helvetica Neue Light" charset="0"/>
                <a:ea typeface="Helvetica Neue Light" charset="0"/>
                <a:cs typeface="Helvetica Neue Light" charset="0"/>
                <a:sym typeface="Helvetica Neue Light" charset="0"/>
              </a:rPr>
              <a:t>	</a:t>
            </a:r>
          </a:p>
        </p:txBody>
      </p:sp>
    </p:spTree>
    <p:extLst>
      <p:ext uri="{BB962C8B-B14F-4D97-AF65-F5344CB8AC3E}">
        <p14:creationId xmlns:p14="http://schemas.microsoft.com/office/powerpoint/2010/main" val="11337593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ChangeArrowheads="1"/>
          </p:cNvSpPr>
          <p:nvPr>
            <p:ph type="title"/>
          </p:nvPr>
        </p:nvSpPr>
        <p:spPr/>
        <p:txBody>
          <a:bodyPr/>
          <a:lstStyle/>
          <a:p>
            <a:pPr eaLnBrk="1" hangingPunct="1"/>
            <a:r>
              <a:rPr lang="en-US" altLang="en-US" dirty="0" smtClean="0"/>
              <a:t>Layout - HTML5 </a:t>
            </a:r>
            <a:r>
              <a:rPr lang="en-US" altLang="en-US" dirty="0"/>
              <a:t>F</a:t>
            </a:r>
            <a:r>
              <a:rPr lang="en-US" altLang="en-US" dirty="0" smtClean="0"/>
              <a:t>loat Example 1</a:t>
            </a:r>
          </a:p>
        </p:txBody>
      </p:sp>
      <p:sp>
        <p:nvSpPr>
          <p:cNvPr id="12291" name="AutoShape 2"/>
          <p:cNvSpPr>
            <a:spLocks/>
          </p:cNvSpPr>
          <p:nvPr/>
        </p:nvSpPr>
        <p:spPr bwMode="auto">
          <a:xfrm>
            <a:off x="762000" y="1518047"/>
            <a:ext cx="10775156" cy="544711"/>
          </a:xfrm>
          <a:prstGeom prst="roundRect">
            <a:avLst>
              <a:gd name="adj" fmla="val 24588"/>
            </a:avLst>
          </a:prstGeom>
          <a:solidFill>
            <a:srgbClr val="CDCDCD"/>
          </a:solidFill>
          <a:ln>
            <a:noFill/>
          </a:ln>
          <a:extLst>
            <a:ext uri="{91240B29-F687-4F45-9708-019B960494DF}">
              <a14:hiddenLine xmlns:a14="http://schemas.microsoft.com/office/drawing/2010/main" w="25400">
                <a:solidFill>
                  <a:schemeClr val="tx1"/>
                </a:solidFill>
                <a:miter lim="800000"/>
                <a:headEnd/>
                <a:tailEnd/>
              </a14:hiddenLine>
            </a:ext>
          </a:extLst>
        </p:spPr>
        <p:txBody>
          <a:bodyPr lIns="0" tIns="0" rIns="0" bIns="0" anchor="ctr"/>
          <a:lstStyle>
            <a:lvl1pPr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1pPr>
            <a:lvl2pPr marL="6604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2pPr>
            <a:lvl3pPr marL="11049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3pPr>
            <a:lvl4pPr marL="15494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4pPr>
            <a:lvl5pPr marL="19939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5pPr>
            <a:lvl6pPr marL="24511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6pPr>
            <a:lvl7pPr marL="29083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7pPr>
            <a:lvl8pPr marL="33655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8pPr>
            <a:lvl9pPr marL="38227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9pPr>
          </a:lstStyle>
          <a:p>
            <a:pPr algn="ctr" eaLnBrk="1" hangingPunct="1">
              <a:spcBef>
                <a:spcPct val="0"/>
              </a:spcBef>
              <a:buClrTx/>
              <a:buSzTx/>
              <a:buFontTx/>
              <a:buNone/>
            </a:pPr>
            <a:r>
              <a:rPr lang="en-US" altLang="en-US" sz="3000">
                <a:solidFill>
                  <a:schemeClr val="tx1"/>
                </a:solidFill>
                <a:latin typeface="Helvetica Neue Light" charset="0"/>
                <a:ea typeface="Helvetica Neue Light" charset="0"/>
                <a:cs typeface="Helvetica Neue Light" charset="0"/>
                <a:sym typeface="Helvetica Neue Light" charset="0"/>
              </a:rPr>
              <a:t>&lt;header&gt;</a:t>
            </a:r>
          </a:p>
        </p:txBody>
      </p:sp>
      <p:sp>
        <p:nvSpPr>
          <p:cNvPr id="12292" name="AutoShape 3"/>
          <p:cNvSpPr>
            <a:spLocks/>
          </p:cNvSpPr>
          <p:nvPr/>
        </p:nvSpPr>
        <p:spPr bwMode="auto">
          <a:xfrm>
            <a:off x="762000" y="2143125"/>
            <a:ext cx="10775156" cy="544711"/>
          </a:xfrm>
          <a:prstGeom prst="roundRect">
            <a:avLst>
              <a:gd name="adj" fmla="val 24588"/>
            </a:avLst>
          </a:prstGeom>
          <a:solidFill>
            <a:srgbClr val="4D4D4D"/>
          </a:solidFill>
          <a:ln>
            <a:noFill/>
          </a:ln>
          <a:extLst>
            <a:ext uri="{91240B29-F687-4F45-9708-019B960494DF}">
              <a14:hiddenLine xmlns:a14="http://schemas.microsoft.com/office/drawing/2010/main" w="25400">
                <a:solidFill>
                  <a:schemeClr val="tx1"/>
                </a:solidFill>
                <a:miter lim="800000"/>
                <a:headEnd/>
                <a:tailEnd/>
              </a14:hiddenLine>
            </a:ext>
          </a:extLst>
        </p:spPr>
        <p:txBody>
          <a:bodyPr lIns="0" tIns="0" rIns="0" bIns="0" anchor="ctr"/>
          <a:lstStyle>
            <a:lvl1pPr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1pPr>
            <a:lvl2pPr marL="6604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2pPr>
            <a:lvl3pPr marL="11049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3pPr>
            <a:lvl4pPr marL="15494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4pPr>
            <a:lvl5pPr marL="19939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5pPr>
            <a:lvl6pPr marL="24511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6pPr>
            <a:lvl7pPr marL="29083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7pPr>
            <a:lvl8pPr marL="33655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8pPr>
            <a:lvl9pPr marL="38227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9pPr>
          </a:lstStyle>
          <a:p>
            <a:pPr algn="ctr" eaLnBrk="1" hangingPunct="1">
              <a:spcBef>
                <a:spcPct val="0"/>
              </a:spcBef>
              <a:buClrTx/>
              <a:buSzTx/>
              <a:buFontTx/>
              <a:buNone/>
            </a:pPr>
            <a:r>
              <a:rPr lang="en-US" altLang="en-US" sz="3000">
                <a:solidFill>
                  <a:srgbClr val="FDFDFD"/>
                </a:solidFill>
                <a:latin typeface="Helvetica Neue Light" charset="0"/>
                <a:ea typeface="Helvetica Neue Light" charset="0"/>
                <a:cs typeface="Helvetica Neue Light" charset="0"/>
                <a:sym typeface="Helvetica Neue Light" charset="0"/>
              </a:rPr>
              <a:t>&lt;nav&gt;</a:t>
            </a:r>
          </a:p>
        </p:txBody>
      </p:sp>
      <p:sp>
        <p:nvSpPr>
          <p:cNvPr id="12293" name="AutoShape 4"/>
          <p:cNvSpPr>
            <a:spLocks/>
          </p:cNvSpPr>
          <p:nvPr/>
        </p:nvSpPr>
        <p:spPr bwMode="auto">
          <a:xfrm>
            <a:off x="762000" y="2768203"/>
            <a:ext cx="10775156" cy="2500313"/>
          </a:xfrm>
          <a:prstGeom prst="roundRect">
            <a:avLst>
              <a:gd name="adj" fmla="val 5356"/>
            </a:avLst>
          </a:prstGeom>
          <a:solidFill>
            <a:schemeClr val="accent1"/>
          </a:solidFill>
          <a:ln>
            <a:noFill/>
          </a:ln>
          <a:extLst>
            <a:ext uri="{91240B29-F687-4F45-9708-019B960494DF}">
              <a14:hiddenLine xmlns:a14="http://schemas.microsoft.com/office/drawing/2010/main" w="25400">
                <a:solidFill>
                  <a:schemeClr val="tx1"/>
                </a:solidFill>
                <a:miter lim="800000"/>
                <a:headEnd/>
                <a:tailEnd/>
              </a14:hiddenLine>
            </a:ext>
          </a:extLst>
        </p:spPr>
        <p:txBody>
          <a:bodyPr lIns="0" tIns="0" rIns="0" bIns="0" anchor="ctr"/>
          <a:lstStyle>
            <a:lvl1pPr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1pPr>
            <a:lvl2pPr marL="6604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2pPr>
            <a:lvl3pPr marL="11049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3pPr>
            <a:lvl4pPr marL="15494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4pPr>
            <a:lvl5pPr marL="19939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5pPr>
            <a:lvl6pPr marL="24511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6pPr>
            <a:lvl7pPr marL="29083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7pPr>
            <a:lvl8pPr marL="33655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8pPr>
            <a:lvl9pPr marL="38227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9pPr>
          </a:lstStyle>
          <a:p>
            <a:pPr algn="ctr" eaLnBrk="1" hangingPunct="1">
              <a:spcBef>
                <a:spcPct val="0"/>
              </a:spcBef>
              <a:buClrTx/>
              <a:buSzTx/>
              <a:buFontTx/>
              <a:buNone/>
            </a:pPr>
            <a:r>
              <a:rPr lang="en-US" altLang="en-US" sz="3000">
                <a:solidFill>
                  <a:schemeClr val="tx1"/>
                </a:solidFill>
                <a:latin typeface="Helvetica Neue Light" charset="0"/>
                <a:ea typeface="Helvetica Neue Light" charset="0"/>
                <a:cs typeface="Helvetica Neue Light" charset="0"/>
                <a:sym typeface="Helvetica Neue Light" charset="0"/>
              </a:rPr>
              <a:t>di</a:t>
            </a:r>
          </a:p>
        </p:txBody>
      </p:sp>
      <p:sp>
        <p:nvSpPr>
          <p:cNvPr id="12294" name="AutoShape 5"/>
          <p:cNvSpPr>
            <a:spLocks/>
          </p:cNvSpPr>
          <p:nvPr/>
        </p:nvSpPr>
        <p:spPr bwMode="auto">
          <a:xfrm>
            <a:off x="762000" y="5357812"/>
            <a:ext cx="10775156" cy="544711"/>
          </a:xfrm>
          <a:prstGeom prst="roundRect">
            <a:avLst>
              <a:gd name="adj" fmla="val 24588"/>
            </a:avLst>
          </a:prstGeom>
          <a:solidFill>
            <a:schemeClr val="accent1"/>
          </a:solidFill>
          <a:ln>
            <a:noFill/>
          </a:ln>
          <a:extLst>
            <a:ext uri="{91240B29-F687-4F45-9708-019B960494DF}">
              <a14:hiddenLine xmlns:a14="http://schemas.microsoft.com/office/drawing/2010/main" w="25400">
                <a:solidFill>
                  <a:schemeClr val="tx1"/>
                </a:solidFill>
                <a:miter lim="800000"/>
                <a:headEnd/>
                <a:tailEnd/>
              </a14:hiddenLine>
            </a:ext>
          </a:extLst>
        </p:spPr>
        <p:txBody>
          <a:bodyPr lIns="0" tIns="0" rIns="0" bIns="0" anchor="ctr"/>
          <a:lstStyle>
            <a:lvl1pPr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1pPr>
            <a:lvl2pPr marL="6604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2pPr>
            <a:lvl3pPr marL="11049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3pPr>
            <a:lvl4pPr marL="15494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4pPr>
            <a:lvl5pPr marL="19939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5pPr>
            <a:lvl6pPr marL="24511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6pPr>
            <a:lvl7pPr marL="29083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7pPr>
            <a:lvl8pPr marL="33655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8pPr>
            <a:lvl9pPr marL="38227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9pPr>
          </a:lstStyle>
          <a:p>
            <a:pPr algn="ctr" eaLnBrk="1" hangingPunct="1">
              <a:spcBef>
                <a:spcPct val="0"/>
              </a:spcBef>
              <a:buClrTx/>
              <a:buSzTx/>
              <a:buFontTx/>
              <a:buNone/>
            </a:pPr>
            <a:r>
              <a:rPr lang="en-US" altLang="en-US" sz="3000">
                <a:solidFill>
                  <a:schemeClr val="tx1"/>
                </a:solidFill>
                <a:latin typeface="Helvetica Neue Light" charset="0"/>
                <a:ea typeface="Helvetica Neue Light" charset="0"/>
                <a:cs typeface="Helvetica Neue Light" charset="0"/>
                <a:sym typeface="Helvetica Neue Light" charset="0"/>
              </a:rPr>
              <a:t>&lt;footer&gt;</a:t>
            </a:r>
          </a:p>
        </p:txBody>
      </p:sp>
      <p:sp>
        <p:nvSpPr>
          <p:cNvPr id="12295" name="AutoShape 6"/>
          <p:cNvSpPr>
            <a:spLocks/>
          </p:cNvSpPr>
          <p:nvPr/>
        </p:nvSpPr>
        <p:spPr bwMode="auto">
          <a:xfrm>
            <a:off x="1071562" y="3393281"/>
            <a:ext cx="6274594" cy="1651992"/>
          </a:xfrm>
          <a:prstGeom prst="roundRect">
            <a:avLst>
              <a:gd name="adj" fmla="val 8106"/>
            </a:avLst>
          </a:prstGeom>
          <a:solidFill>
            <a:srgbClr val="4D4D4D"/>
          </a:solidFill>
          <a:ln>
            <a:noFill/>
          </a:ln>
          <a:extLst>
            <a:ext uri="{91240B29-F687-4F45-9708-019B960494DF}">
              <a14:hiddenLine xmlns:a14="http://schemas.microsoft.com/office/drawing/2010/main" w="25400">
                <a:solidFill>
                  <a:schemeClr val="tx1"/>
                </a:solidFill>
                <a:miter lim="800000"/>
                <a:headEnd/>
                <a:tailEnd/>
              </a14:hiddenLine>
            </a:ext>
          </a:extLst>
        </p:spPr>
        <p:txBody>
          <a:bodyPr lIns="0" tIns="0" rIns="0" bIns="0" anchor="ctr"/>
          <a:lstStyle>
            <a:lvl1pPr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1pPr>
            <a:lvl2pPr marL="6604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2pPr>
            <a:lvl3pPr marL="11049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3pPr>
            <a:lvl4pPr marL="15494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4pPr>
            <a:lvl5pPr marL="19939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5pPr>
            <a:lvl6pPr marL="24511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6pPr>
            <a:lvl7pPr marL="29083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7pPr>
            <a:lvl8pPr marL="33655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8pPr>
            <a:lvl9pPr marL="38227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9pPr>
          </a:lstStyle>
          <a:p>
            <a:pPr algn="ctr" eaLnBrk="1" hangingPunct="1">
              <a:spcBef>
                <a:spcPct val="0"/>
              </a:spcBef>
              <a:buClrTx/>
              <a:buSzTx/>
              <a:buFontTx/>
              <a:buNone/>
            </a:pPr>
            <a:r>
              <a:rPr lang="en-US" altLang="en-US" sz="3000">
                <a:solidFill>
                  <a:schemeClr val="tx1"/>
                </a:solidFill>
                <a:latin typeface="Helvetica Neue Light" charset="0"/>
                <a:ea typeface="Helvetica Neue Light" charset="0"/>
                <a:cs typeface="Helvetica Neue Light" charset="0"/>
                <a:sym typeface="Helvetica Neue Light" charset="0"/>
              </a:rPr>
              <a:t>&lt;article&gt;</a:t>
            </a:r>
          </a:p>
        </p:txBody>
      </p:sp>
      <p:sp>
        <p:nvSpPr>
          <p:cNvPr id="12296" name="AutoShape 7"/>
          <p:cNvSpPr>
            <a:spLocks/>
          </p:cNvSpPr>
          <p:nvPr/>
        </p:nvSpPr>
        <p:spPr bwMode="auto">
          <a:xfrm>
            <a:off x="7893844" y="3393281"/>
            <a:ext cx="3464719" cy="1651992"/>
          </a:xfrm>
          <a:prstGeom prst="roundRect">
            <a:avLst>
              <a:gd name="adj" fmla="val 8106"/>
            </a:avLst>
          </a:prstGeom>
          <a:solidFill>
            <a:srgbClr val="676767"/>
          </a:solidFill>
          <a:ln>
            <a:noFill/>
          </a:ln>
          <a:extLst>
            <a:ext uri="{91240B29-F687-4F45-9708-019B960494DF}">
              <a14:hiddenLine xmlns:a14="http://schemas.microsoft.com/office/drawing/2010/main" w="25400">
                <a:solidFill>
                  <a:schemeClr val="tx1"/>
                </a:solidFill>
                <a:miter lim="800000"/>
                <a:headEnd/>
                <a:tailEnd/>
              </a14:hiddenLine>
            </a:ext>
          </a:extLst>
        </p:spPr>
        <p:txBody>
          <a:bodyPr lIns="0" tIns="0" rIns="0" bIns="0" anchor="ctr"/>
          <a:lstStyle>
            <a:lvl1pPr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1pPr>
            <a:lvl2pPr marL="6604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2pPr>
            <a:lvl3pPr marL="11049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3pPr>
            <a:lvl4pPr marL="15494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4pPr>
            <a:lvl5pPr marL="19939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5pPr>
            <a:lvl6pPr marL="24511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6pPr>
            <a:lvl7pPr marL="29083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7pPr>
            <a:lvl8pPr marL="33655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8pPr>
            <a:lvl9pPr marL="38227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9pPr>
          </a:lstStyle>
          <a:p>
            <a:pPr algn="ctr" eaLnBrk="1" hangingPunct="1">
              <a:spcBef>
                <a:spcPct val="0"/>
              </a:spcBef>
              <a:buClrTx/>
              <a:buSzTx/>
              <a:buFontTx/>
              <a:buNone/>
            </a:pPr>
            <a:r>
              <a:rPr lang="en-US" altLang="en-US" sz="3000">
                <a:solidFill>
                  <a:schemeClr val="tx1"/>
                </a:solidFill>
                <a:latin typeface="Helvetica Neue Light" charset="0"/>
                <a:ea typeface="Helvetica Neue Light" charset="0"/>
                <a:cs typeface="Helvetica Neue Light" charset="0"/>
                <a:sym typeface="Helvetica Neue Light" charset="0"/>
              </a:rPr>
              <a:t>&lt;aside&gt;</a:t>
            </a:r>
          </a:p>
        </p:txBody>
      </p:sp>
      <p:sp>
        <p:nvSpPr>
          <p:cNvPr id="12297" name="AutoShape 8"/>
          <p:cNvSpPr>
            <a:spLocks/>
          </p:cNvSpPr>
          <p:nvPr/>
        </p:nvSpPr>
        <p:spPr bwMode="auto">
          <a:xfrm>
            <a:off x="3536156" y="2786062"/>
            <a:ext cx="5107781" cy="526852"/>
          </a:xfrm>
          <a:prstGeom prst="roundRect">
            <a:avLst>
              <a:gd name="adj" fmla="val 25421"/>
            </a:avLst>
          </a:prstGeom>
          <a:solidFill>
            <a:schemeClr val="accent1"/>
          </a:solidFill>
          <a:ln>
            <a:noFill/>
          </a:ln>
          <a:extLst>
            <a:ext uri="{91240B29-F687-4F45-9708-019B960494DF}">
              <a14:hiddenLine xmlns:a14="http://schemas.microsoft.com/office/drawing/2010/main" w="25400">
                <a:solidFill>
                  <a:schemeClr val="tx1"/>
                </a:solidFill>
                <a:miter lim="800000"/>
                <a:headEnd/>
                <a:tailEnd/>
              </a14:hiddenLine>
            </a:ext>
          </a:extLst>
        </p:spPr>
        <p:txBody>
          <a:bodyPr lIns="0" tIns="0" rIns="0" bIns="0" anchor="ctr"/>
          <a:lstStyle>
            <a:lvl1pPr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1pPr>
            <a:lvl2pPr marL="6604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2pPr>
            <a:lvl3pPr marL="11049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3pPr>
            <a:lvl4pPr marL="15494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4pPr>
            <a:lvl5pPr marL="1993900" indent="-266700" algn="l" eaLnBrk="0" hangingPunct="0">
              <a:spcBef>
                <a:spcPts val="4800"/>
              </a:spcBef>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5pPr>
            <a:lvl6pPr marL="24511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6pPr>
            <a:lvl7pPr marL="29083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7pPr>
            <a:lvl8pPr marL="33655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8pPr>
            <a:lvl9pPr marL="3822700" indent="-266700" eaLnBrk="0" fontAlgn="base" hangingPunct="0">
              <a:spcBef>
                <a:spcPts val="4800"/>
              </a:spcBef>
              <a:spcAft>
                <a:spcPct val="0"/>
              </a:spcAft>
              <a:buClr>
                <a:srgbClr val="747474"/>
              </a:buClr>
              <a:buSzPct val="100000"/>
              <a:buFont typeface="Helvetica Neue" charset="0"/>
              <a:buChar char="•"/>
              <a:defRPr sz="2600">
                <a:solidFill>
                  <a:srgbClr val="747474"/>
                </a:solidFill>
                <a:latin typeface="Helvetica Neue" charset="0"/>
                <a:ea typeface="ヒラギノ角ゴ Pro W3" charset="0"/>
                <a:cs typeface="ヒラギノ角ゴ Pro W3" charset="0"/>
                <a:sym typeface="Helvetica Neue" charset="0"/>
              </a:defRPr>
            </a:lvl9pPr>
          </a:lstStyle>
          <a:p>
            <a:pPr algn="ctr" eaLnBrk="1" hangingPunct="1">
              <a:spcBef>
                <a:spcPct val="0"/>
              </a:spcBef>
              <a:buClrTx/>
              <a:buSzTx/>
              <a:buFontTx/>
              <a:buNone/>
            </a:pPr>
            <a:r>
              <a:rPr lang="en-US" altLang="en-US" sz="3000">
                <a:solidFill>
                  <a:schemeClr val="tx1"/>
                </a:solidFill>
                <a:latin typeface="Helvetica Neue Light" charset="0"/>
                <a:ea typeface="Helvetica Neue Light" charset="0"/>
                <a:cs typeface="Helvetica Neue Light" charset="0"/>
                <a:sym typeface="Helvetica Neue Light" charset="0"/>
              </a:rPr>
              <a:t>&lt;section&gt;</a:t>
            </a:r>
          </a:p>
        </p:txBody>
      </p:sp>
    </p:spTree>
    <p:extLst>
      <p:ext uri="{BB962C8B-B14F-4D97-AF65-F5344CB8AC3E}">
        <p14:creationId xmlns:p14="http://schemas.microsoft.com/office/powerpoint/2010/main" val="34236621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ltLang="en-US" dirty="0"/>
              <a:t>Layout - HTML5 Float Example </a:t>
            </a:r>
            <a:r>
              <a:rPr lang="en-US" altLang="en-US" dirty="0" smtClean="0"/>
              <a:t>2</a:t>
            </a:r>
            <a:endParaRPr lang="en-GB" altLang="en-US" dirty="0" smtClean="0"/>
          </a:p>
        </p:txBody>
      </p:sp>
      <p:sp>
        <p:nvSpPr>
          <p:cNvPr id="14339" name="Content Placeholder 2"/>
          <p:cNvSpPr>
            <a:spLocks noGrp="1"/>
          </p:cNvSpPr>
          <p:nvPr>
            <p:ph idx="1"/>
          </p:nvPr>
        </p:nvSpPr>
        <p:spPr/>
        <p:txBody>
          <a:bodyPr/>
          <a:lstStyle/>
          <a:p>
            <a:pPr eaLnBrk="1" hangingPunct="1"/>
            <a:endParaRPr lang="en-GB" altLang="en-US" smtClean="0"/>
          </a:p>
        </p:txBody>
      </p:sp>
      <p:pic>
        <p:nvPicPr>
          <p:cNvPr id="14340" name="Picture 3" descr="html5pagelayou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062" y="1660922"/>
            <a:ext cx="9215438"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47798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altLang="en-US" smtClean="0"/>
              <a:t>HTML</a:t>
            </a:r>
          </a:p>
        </p:txBody>
      </p:sp>
      <p:sp>
        <p:nvSpPr>
          <p:cNvPr id="4" name="Rectangle 3"/>
          <p:cNvSpPr/>
          <p:nvPr/>
        </p:nvSpPr>
        <p:spPr>
          <a:xfrm>
            <a:off x="609600" y="1600200"/>
            <a:ext cx="5384800" cy="48768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6197600" y="1600200"/>
            <a:ext cx="5384800" cy="48768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ounded Rectangle 7"/>
          <p:cNvSpPr/>
          <p:nvPr/>
        </p:nvSpPr>
        <p:spPr>
          <a:xfrm>
            <a:off x="812800" y="1752600"/>
            <a:ext cx="4876800"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Header</a:t>
            </a:r>
          </a:p>
        </p:txBody>
      </p:sp>
      <p:sp>
        <p:nvSpPr>
          <p:cNvPr id="9" name="Rounded Rectangle 8"/>
          <p:cNvSpPr/>
          <p:nvPr/>
        </p:nvSpPr>
        <p:spPr>
          <a:xfrm>
            <a:off x="812800" y="2286000"/>
            <a:ext cx="4876800" cy="304800"/>
          </a:xfrm>
          <a:prstGeom prst="round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Navigation</a:t>
            </a:r>
          </a:p>
        </p:txBody>
      </p:sp>
      <p:sp>
        <p:nvSpPr>
          <p:cNvPr id="10" name="Rounded Rectangle 9"/>
          <p:cNvSpPr/>
          <p:nvPr/>
        </p:nvSpPr>
        <p:spPr>
          <a:xfrm>
            <a:off x="812800" y="2667000"/>
            <a:ext cx="1117600" cy="3352800"/>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Aside</a:t>
            </a:r>
          </a:p>
        </p:txBody>
      </p:sp>
      <p:sp>
        <p:nvSpPr>
          <p:cNvPr id="11" name="Rounded Rectangle 10"/>
          <p:cNvSpPr/>
          <p:nvPr/>
        </p:nvSpPr>
        <p:spPr>
          <a:xfrm>
            <a:off x="812800" y="6096000"/>
            <a:ext cx="4876800" cy="304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Footer</a:t>
            </a:r>
          </a:p>
        </p:txBody>
      </p:sp>
      <p:sp>
        <p:nvSpPr>
          <p:cNvPr id="12" name="Rounded Rectangle 11"/>
          <p:cNvSpPr/>
          <p:nvPr/>
        </p:nvSpPr>
        <p:spPr>
          <a:xfrm>
            <a:off x="2032000" y="2667000"/>
            <a:ext cx="3657600" cy="3352800"/>
          </a:xfrm>
          <a:prstGeom prst="roundRect">
            <a:avLst>
              <a:gd name="adj" fmla="val 5987"/>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Section</a:t>
            </a:r>
          </a:p>
          <a:p>
            <a:pPr algn="ctr">
              <a:defRPr/>
            </a:pPr>
            <a:endParaRPr lang="en-US" dirty="0"/>
          </a:p>
          <a:p>
            <a:pPr algn="ctr">
              <a:defRPr/>
            </a:pPr>
            <a:endParaRPr lang="en-US" dirty="0"/>
          </a:p>
          <a:p>
            <a:pPr algn="ctr">
              <a:defRPr/>
            </a:pPr>
            <a:endParaRPr lang="en-US" dirty="0"/>
          </a:p>
          <a:p>
            <a:pPr algn="ctr">
              <a:defRPr/>
            </a:pPr>
            <a:endParaRPr lang="en-US" dirty="0"/>
          </a:p>
          <a:p>
            <a:pPr algn="ctr">
              <a:defRPr/>
            </a:pPr>
            <a:endParaRPr lang="en-US" dirty="0"/>
          </a:p>
          <a:p>
            <a:pPr algn="ctr">
              <a:defRPr/>
            </a:pPr>
            <a:endParaRPr lang="en-US" dirty="0"/>
          </a:p>
          <a:p>
            <a:pPr algn="ctr">
              <a:defRPr/>
            </a:pPr>
            <a:endParaRPr lang="en-US" dirty="0"/>
          </a:p>
          <a:p>
            <a:pPr algn="ctr">
              <a:defRPr/>
            </a:pPr>
            <a:endParaRPr lang="en-US" dirty="0"/>
          </a:p>
          <a:p>
            <a:pPr algn="ctr">
              <a:defRPr/>
            </a:pPr>
            <a:endParaRPr lang="en-US" dirty="0"/>
          </a:p>
          <a:p>
            <a:pPr algn="ctr">
              <a:defRPr/>
            </a:pPr>
            <a:endParaRPr lang="en-US" dirty="0"/>
          </a:p>
          <a:p>
            <a:pPr algn="ctr">
              <a:defRPr/>
            </a:pPr>
            <a:endParaRPr lang="en-US" dirty="0"/>
          </a:p>
        </p:txBody>
      </p:sp>
      <p:sp>
        <p:nvSpPr>
          <p:cNvPr id="13" name="Rounded Rectangle 12"/>
          <p:cNvSpPr/>
          <p:nvPr/>
        </p:nvSpPr>
        <p:spPr>
          <a:xfrm>
            <a:off x="2133600" y="2971800"/>
            <a:ext cx="3454400" cy="76200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Article</a:t>
            </a:r>
          </a:p>
          <a:p>
            <a:pPr algn="ctr">
              <a:defRPr/>
            </a:pPr>
            <a:endParaRPr lang="en-US" dirty="0"/>
          </a:p>
        </p:txBody>
      </p:sp>
      <p:sp>
        <p:nvSpPr>
          <p:cNvPr id="14" name="Rounded Rectangle 13"/>
          <p:cNvSpPr/>
          <p:nvPr/>
        </p:nvSpPr>
        <p:spPr>
          <a:xfrm>
            <a:off x="2235200" y="3505200"/>
            <a:ext cx="3244851" cy="152400"/>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100" dirty="0"/>
              <a:t>Footer</a:t>
            </a:r>
          </a:p>
        </p:txBody>
      </p:sp>
      <p:sp>
        <p:nvSpPr>
          <p:cNvPr id="15" name="Rounded Rectangle 14"/>
          <p:cNvSpPr/>
          <p:nvPr/>
        </p:nvSpPr>
        <p:spPr>
          <a:xfrm>
            <a:off x="2133600" y="3810000"/>
            <a:ext cx="3454400" cy="76200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Article</a:t>
            </a:r>
          </a:p>
          <a:p>
            <a:pPr algn="ctr">
              <a:defRPr/>
            </a:pPr>
            <a:endParaRPr lang="en-US" dirty="0"/>
          </a:p>
        </p:txBody>
      </p:sp>
      <p:sp>
        <p:nvSpPr>
          <p:cNvPr id="16" name="Rounded Rectangle 15"/>
          <p:cNvSpPr/>
          <p:nvPr/>
        </p:nvSpPr>
        <p:spPr>
          <a:xfrm>
            <a:off x="2235200" y="4343400"/>
            <a:ext cx="3244851" cy="152400"/>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100" dirty="0"/>
              <a:t>Footer</a:t>
            </a:r>
          </a:p>
        </p:txBody>
      </p:sp>
      <p:sp>
        <p:nvSpPr>
          <p:cNvPr id="17" name="Rounded Rectangle 16"/>
          <p:cNvSpPr/>
          <p:nvPr/>
        </p:nvSpPr>
        <p:spPr>
          <a:xfrm>
            <a:off x="2133600" y="4648200"/>
            <a:ext cx="3454400" cy="76200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Article</a:t>
            </a:r>
          </a:p>
          <a:p>
            <a:pPr algn="ctr">
              <a:defRPr/>
            </a:pPr>
            <a:endParaRPr lang="en-US" dirty="0"/>
          </a:p>
        </p:txBody>
      </p:sp>
      <p:sp>
        <p:nvSpPr>
          <p:cNvPr id="18" name="Rounded Rectangle 17"/>
          <p:cNvSpPr/>
          <p:nvPr/>
        </p:nvSpPr>
        <p:spPr>
          <a:xfrm>
            <a:off x="2235200" y="5181600"/>
            <a:ext cx="3244851" cy="152400"/>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100" dirty="0"/>
              <a:t>Footer</a:t>
            </a:r>
          </a:p>
        </p:txBody>
      </p:sp>
      <p:sp>
        <p:nvSpPr>
          <p:cNvPr id="19" name="Rounded Rectangle 18"/>
          <p:cNvSpPr/>
          <p:nvPr/>
        </p:nvSpPr>
        <p:spPr>
          <a:xfrm>
            <a:off x="6400800" y="1752600"/>
            <a:ext cx="4978400" cy="4572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Figure</a:t>
            </a:r>
          </a:p>
          <a:p>
            <a:pPr algn="ctr">
              <a:defRPr/>
            </a:pPr>
            <a:endParaRPr lang="en-US" dirty="0"/>
          </a:p>
          <a:p>
            <a:pPr algn="ctr">
              <a:defRPr/>
            </a:pPr>
            <a:endParaRPr lang="en-US" dirty="0"/>
          </a:p>
          <a:p>
            <a:pPr algn="ctr">
              <a:defRPr/>
            </a:pPr>
            <a:endParaRPr lang="en-US" dirty="0"/>
          </a:p>
          <a:p>
            <a:pPr algn="ctr">
              <a:defRPr/>
            </a:pPr>
            <a:endParaRPr lang="en-US" dirty="0"/>
          </a:p>
          <a:p>
            <a:pPr algn="ctr">
              <a:defRPr/>
            </a:pPr>
            <a:endParaRPr lang="en-US" dirty="0"/>
          </a:p>
          <a:p>
            <a:pPr algn="ctr">
              <a:defRPr/>
            </a:pPr>
            <a:endParaRPr lang="en-US" dirty="0"/>
          </a:p>
          <a:p>
            <a:pPr algn="ctr">
              <a:defRPr/>
            </a:pPr>
            <a:endParaRPr lang="en-US" dirty="0"/>
          </a:p>
          <a:p>
            <a:pPr algn="ctr">
              <a:defRPr/>
            </a:pPr>
            <a:endParaRPr lang="en-US" dirty="0"/>
          </a:p>
          <a:p>
            <a:pPr algn="ctr">
              <a:defRPr/>
            </a:pPr>
            <a:endParaRPr lang="en-US" dirty="0"/>
          </a:p>
          <a:p>
            <a:pPr algn="ctr">
              <a:defRPr/>
            </a:pPr>
            <a:endParaRPr lang="en-US" dirty="0"/>
          </a:p>
          <a:p>
            <a:pPr algn="ctr">
              <a:defRPr/>
            </a:pPr>
            <a:endParaRPr lang="en-US" dirty="0"/>
          </a:p>
          <a:p>
            <a:pPr algn="ctr">
              <a:defRPr/>
            </a:pPr>
            <a:endParaRPr lang="en-US" dirty="0"/>
          </a:p>
          <a:p>
            <a:pPr algn="ctr">
              <a:defRPr/>
            </a:pPr>
            <a:endParaRPr lang="en-US" dirty="0"/>
          </a:p>
          <a:p>
            <a:pPr algn="ctr">
              <a:defRPr/>
            </a:pPr>
            <a:endParaRPr lang="en-US" dirty="0"/>
          </a:p>
          <a:p>
            <a:pPr algn="ctr">
              <a:defRPr/>
            </a:pPr>
            <a:endParaRPr lang="en-US" dirty="0"/>
          </a:p>
        </p:txBody>
      </p:sp>
      <p:sp>
        <p:nvSpPr>
          <p:cNvPr id="20" name="Rectangle 19"/>
          <p:cNvSpPr/>
          <p:nvPr/>
        </p:nvSpPr>
        <p:spPr>
          <a:xfrm>
            <a:off x="6807200" y="2590800"/>
            <a:ext cx="4165600" cy="2667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Image, Video, Quote, Table, etc…</a:t>
            </a:r>
          </a:p>
        </p:txBody>
      </p:sp>
      <p:sp>
        <p:nvSpPr>
          <p:cNvPr id="21" name="Rounded Rectangle 20"/>
          <p:cNvSpPr/>
          <p:nvPr/>
        </p:nvSpPr>
        <p:spPr>
          <a:xfrm>
            <a:off x="6807200" y="5638800"/>
            <a:ext cx="4165600"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Legend</a:t>
            </a:r>
          </a:p>
        </p:txBody>
      </p:sp>
    </p:spTree>
    <p:extLst>
      <p:ext uri="{BB962C8B-B14F-4D97-AF65-F5344CB8AC3E}">
        <p14:creationId xmlns:p14="http://schemas.microsoft.com/office/powerpoint/2010/main" val="1165795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US" altLang="en-US" smtClean="0"/>
              <a:t>Canvas</a:t>
            </a:r>
          </a:p>
        </p:txBody>
      </p:sp>
      <p:sp>
        <p:nvSpPr>
          <p:cNvPr id="4" name="Content Placeholder 3"/>
          <p:cNvSpPr>
            <a:spLocks noGrp="1"/>
          </p:cNvSpPr>
          <p:nvPr>
            <p:ph idx="1"/>
          </p:nvPr>
        </p:nvSpPr>
        <p:spPr/>
        <p:txBody>
          <a:bodyPr rtlCol="0">
            <a:normAutofit fontScale="62500" lnSpcReduction="20000"/>
          </a:bodyPr>
          <a:lstStyle/>
          <a:p>
            <a:pPr eaLnBrk="1" fontAlgn="auto" hangingPunct="1">
              <a:spcAft>
                <a:spcPts val="0"/>
              </a:spcAft>
              <a:buFont typeface="Arial" pitchFamily="34" charset="0"/>
              <a:buNone/>
              <a:defRPr/>
            </a:pPr>
            <a:r>
              <a:rPr lang="en-US" sz="2000" dirty="0" smtClean="0">
                <a:latin typeface="Courier New" pitchFamily="49" charset="0"/>
                <a:cs typeface="Courier New" pitchFamily="49" charset="0"/>
              </a:rPr>
              <a:t>&lt;canvas id=“canvas” width=“150” height=“150”&gt;</a:t>
            </a:r>
          </a:p>
          <a:p>
            <a:pPr eaLnBrk="1" fontAlgn="auto" hangingPunct="1">
              <a:spcAft>
                <a:spcPts val="0"/>
              </a:spcAft>
              <a:buFont typeface="Arial" pitchFamily="34" charset="0"/>
              <a:buNone/>
              <a:defRPr/>
            </a:pPr>
            <a:r>
              <a:rPr lang="en-US" sz="2000" dirty="0" smtClean="0">
                <a:latin typeface="Courier New" pitchFamily="49" charset="0"/>
                <a:cs typeface="Courier New" pitchFamily="49" charset="0"/>
              </a:rPr>
              <a:t>&lt;/canvas&gt;</a:t>
            </a:r>
          </a:p>
          <a:p>
            <a:pPr eaLnBrk="1" fontAlgn="auto" hangingPunct="1">
              <a:spcAft>
                <a:spcPts val="0"/>
              </a:spcAft>
              <a:buFont typeface="Arial" pitchFamily="34" charset="0"/>
              <a:buNone/>
              <a:defRPr/>
            </a:pPr>
            <a:endParaRPr lang="en-US" sz="2000" dirty="0" smtClean="0">
              <a:latin typeface="Courier New" pitchFamily="49" charset="0"/>
              <a:cs typeface="Courier New" pitchFamily="49" charset="0"/>
            </a:endParaRPr>
          </a:p>
          <a:p>
            <a:pPr eaLnBrk="1" fontAlgn="auto" hangingPunct="1">
              <a:spcAft>
                <a:spcPts val="0"/>
              </a:spcAft>
              <a:buFont typeface="Arial" pitchFamily="34" charset="0"/>
              <a:buNone/>
              <a:defRPr/>
            </a:pPr>
            <a:r>
              <a:rPr lang="en-US" sz="2000" dirty="0" smtClean="0">
                <a:latin typeface="Courier New" pitchFamily="49" charset="0"/>
                <a:cs typeface="Courier New" pitchFamily="49" charset="0"/>
              </a:rPr>
              <a:t>function draw() {</a:t>
            </a:r>
          </a:p>
          <a:p>
            <a:pPr eaLnBrk="1" fontAlgn="auto" hangingPunct="1">
              <a:spcAft>
                <a:spcPts val="0"/>
              </a:spcAft>
              <a:buFont typeface="Arial" pitchFamily="34" charset="0"/>
              <a:buNone/>
              <a:defRPr/>
            </a:pPr>
            <a:r>
              <a:rPr lang="en-US" sz="2000" dirty="0" smtClean="0">
                <a:latin typeface="Courier New" pitchFamily="49" charset="0"/>
                <a:cs typeface="Courier New" pitchFamily="49" charset="0"/>
              </a:rPr>
              <a:t>	</a:t>
            </a:r>
            <a:r>
              <a:rPr lang="en-US" sz="2000" dirty="0" err="1" smtClean="0">
                <a:latin typeface="Courier New" pitchFamily="49" charset="0"/>
                <a:cs typeface="Courier New" pitchFamily="49" charset="0"/>
              </a:rPr>
              <a:t>var</a:t>
            </a:r>
            <a:r>
              <a:rPr lang="en-US" sz="2000" dirty="0" smtClean="0">
                <a:latin typeface="Courier New" pitchFamily="49" charset="0"/>
                <a:cs typeface="Courier New" pitchFamily="49" charset="0"/>
              </a:rPr>
              <a:t> canvas = </a:t>
            </a:r>
            <a:r>
              <a:rPr lang="en-US" sz="2000" dirty="0" err="1" smtClean="0">
                <a:latin typeface="Courier New" pitchFamily="49" charset="0"/>
                <a:cs typeface="Courier New" pitchFamily="49" charset="0"/>
              </a:rPr>
              <a:t>document.getElementById</a:t>
            </a:r>
            <a:r>
              <a:rPr lang="en-US" sz="2000" dirty="0" smtClean="0">
                <a:latin typeface="Courier New" pitchFamily="49" charset="0"/>
                <a:cs typeface="Courier New" pitchFamily="49" charset="0"/>
              </a:rPr>
              <a:t>(“canvas”);</a:t>
            </a:r>
          </a:p>
          <a:p>
            <a:pPr eaLnBrk="1" fontAlgn="auto" hangingPunct="1">
              <a:spcAft>
                <a:spcPts val="0"/>
              </a:spcAft>
              <a:buFont typeface="Arial" pitchFamily="34" charset="0"/>
              <a:buNone/>
              <a:defRPr/>
            </a:pPr>
            <a:r>
              <a:rPr lang="en-US" sz="2000" dirty="0" smtClean="0">
                <a:latin typeface="Courier New" pitchFamily="49" charset="0"/>
                <a:cs typeface="Courier New" pitchFamily="49" charset="0"/>
              </a:rPr>
              <a:t>	if (</a:t>
            </a:r>
            <a:r>
              <a:rPr lang="en-US" sz="2000" dirty="0" err="1" smtClean="0">
                <a:latin typeface="Courier New" pitchFamily="49" charset="0"/>
                <a:cs typeface="Courier New" pitchFamily="49" charset="0"/>
              </a:rPr>
              <a:t>canvas.getContext</a:t>
            </a:r>
            <a:r>
              <a:rPr lang="en-US" sz="2000" dirty="0" smtClean="0">
                <a:latin typeface="Courier New" pitchFamily="49" charset="0"/>
                <a:cs typeface="Courier New" pitchFamily="49" charset="0"/>
              </a:rPr>
              <a:t>) {</a:t>
            </a:r>
          </a:p>
          <a:p>
            <a:pPr eaLnBrk="1" fontAlgn="auto" hangingPunct="1">
              <a:spcAft>
                <a:spcPts val="0"/>
              </a:spcAft>
              <a:buFont typeface="Arial" pitchFamily="34" charset="0"/>
              <a:buNone/>
              <a:defRPr/>
            </a:pPr>
            <a:r>
              <a:rPr lang="en-US" sz="2000" dirty="0" smtClean="0">
                <a:latin typeface="Courier New" pitchFamily="49" charset="0"/>
                <a:cs typeface="Courier New" pitchFamily="49" charset="0"/>
              </a:rPr>
              <a:t>		</a:t>
            </a:r>
            <a:r>
              <a:rPr lang="en-US" sz="2000" dirty="0" err="1" smtClean="0">
                <a:latin typeface="Courier New" pitchFamily="49" charset="0"/>
                <a:cs typeface="Courier New" pitchFamily="49" charset="0"/>
              </a:rPr>
              <a:t>var</a:t>
            </a:r>
            <a:r>
              <a:rPr lang="en-US" sz="2000" dirty="0" smtClean="0">
                <a:latin typeface="Courier New" pitchFamily="49" charset="0"/>
                <a:cs typeface="Courier New" pitchFamily="49" charset="0"/>
              </a:rPr>
              <a:t> </a:t>
            </a:r>
            <a:r>
              <a:rPr lang="en-US" sz="2000" dirty="0" err="1" smtClean="0">
                <a:latin typeface="Courier New" pitchFamily="49" charset="0"/>
                <a:cs typeface="Courier New" pitchFamily="49" charset="0"/>
              </a:rPr>
              <a:t>ctx</a:t>
            </a:r>
            <a:r>
              <a:rPr lang="en-US" sz="2000" dirty="0" smtClean="0">
                <a:latin typeface="Courier New" pitchFamily="49" charset="0"/>
                <a:cs typeface="Courier New" pitchFamily="49" charset="0"/>
              </a:rPr>
              <a:t> = </a:t>
            </a:r>
            <a:r>
              <a:rPr lang="en-US" sz="2000" dirty="0" err="1" smtClean="0">
                <a:latin typeface="Courier New" pitchFamily="49" charset="0"/>
                <a:cs typeface="Courier New" pitchFamily="49" charset="0"/>
              </a:rPr>
              <a:t>canvas.getContext</a:t>
            </a:r>
            <a:r>
              <a:rPr lang="en-US" sz="2000" dirty="0" smtClean="0">
                <a:latin typeface="Courier New" pitchFamily="49" charset="0"/>
                <a:cs typeface="Courier New" pitchFamily="49" charset="0"/>
              </a:rPr>
              <a:t>(“2d”);</a:t>
            </a:r>
          </a:p>
          <a:p>
            <a:pPr eaLnBrk="1" fontAlgn="auto" hangingPunct="1">
              <a:spcAft>
                <a:spcPts val="0"/>
              </a:spcAft>
              <a:buFont typeface="Arial" pitchFamily="34" charset="0"/>
              <a:buNone/>
              <a:defRPr/>
            </a:pPr>
            <a:r>
              <a:rPr lang="en-US" sz="2000" dirty="0" smtClean="0">
                <a:latin typeface="Courier New" pitchFamily="49" charset="0"/>
                <a:cs typeface="Courier New" pitchFamily="49" charset="0"/>
              </a:rPr>
              <a:t>		</a:t>
            </a:r>
            <a:r>
              <a:rPr lang="en-US" sz="2000" dirty="0" err="1" smtClean="0">
                <a:latin typeface="Courier New" pitchFamily="49" charset="0"/>
                <a:cs typeface="Courier New" pitchFamily="49" charset="0"/>
              </a:rPr>
              <a:t>ctx.fillStyle</a:t>
            </a:r>
            <a:r>
              <a:rPr lang="en-US" sz="2000" dirty="0" smtClean="0">
                <a:latin typeface="Courier New" pitchFamily="49" charset="0"/>
                <a:cs typeface="Courier New" pitchFamily="49" charset="0"/>
              </a:rPr>
              <a:t> = “</a:t>
            </a:r>
            <a:r>
              <a:rPr lang="en-US" sz="2000" dirty="0" err="1" smtClean="0">
                <a:latin typeface="Courier New" pitchFamily="49" charset="0"/>
                <a:cs typeface="Courier New" pitchFamily="49" charset="0"/>
              </a:rPr>
              <a:t>rgb</a:t>
            </a:r>
            <a:r>
              <a:rPr lang="en-US" sz="2000" dirty="0" smtClean="0">
                <a:latin typeface="Courier New" pitchFamily="49" charset="0"/>
                <a:cs typeface="Courier New" pitchFamily="49" charset="0"/>
              </a:rPr>
              <a:t>(200,0,0)”;</a:t>
            </a:r>
          </a:p>
          <a:p>
            <a:pPr eaLnBrk="1" fontAlgn="auto" hangingPunct="1">
              <a:spcAft>
                <a:spcPts val="0"/>
              </a:spcAft>
              <a:buFont typeface="Arial" pitchFamily="34" charset="0"/>
              <a:buNone/>
              <a:defRPr/>
            </a:pPr>
            <a:r>
              <a:rPr lang="en-US" sz="2000" dirty="0" smtClean="0">
                <a:latin typeface="Courier New" pitchFamily="49" charset="0"/>
                <a:cs typeface="Courier New" pitchFamily="49" charset="0"/>
              </a:rPr>
              <a:t>		</a:t>
            </a:r>
            <a:r>
              <a:rPr lang="en-US" sz="2000" dirty="0" err="1" smtClean="0">
                <a:latin typeface="Courier New" pitchFamily="49" charset="0"/>
                <a:cs typeface="Courier New" pitchFamily="49" charset="0"/>
              </a:rPr>
              <a:t>ctx.fillRect</a:t>
            </a:r>
            <a:r>
              <a:rPr lang="en-US" sz="2000" dirty="0" smtClean="0">
                <a:latin typeface="Courier New" pitchFamily="49" charset="0"/>
                <a:cs typeface="Courier New" pitchFamily="49" charset="0"/>
              </a:rPr>
              <a:t> (10,10,55,50);</a:t>
            </a:r>
          </a:p>
          <a:p>
            <a:pPr eaLnBrk="1" fontAlgn="auto" hangingPunct="1">
              <a:spcAft>
                <a:spcPts val="0"/>
              </a:spcAft>
              <a:buFont typeface="Arial" pitchFamily="34" charset="0"/>
              <a:buNone/>
              <a:defRPr/>
            </a:pPr>
            <a:endParaRPr lang="en-US" sz="2000" dirty="0" smtClean="0">
              <a:latin typeface="Courier New" pitchFamily="49" charset="0"/>
              <a:cs typeface="Courier New" pitchFamily="49" charset="0"/>
            </a:endParaRPr>
          </a:p>
          <a:p>
            <a:pPr eaLnBrk="1" fontAlgn="auto" hangingPunct="1">
              <a:spcAft>
                <a:spcPts val="0"/>
              </a:spcAft>
              <a:buFont typeface="Arial" pitchFamily="34" charset="0"/>
              <a:buNone/>
              <a:defRPr/>
            </a:pPr>
            <a:r>
              <a:rPr lang="en-US" sz="2000" dirty="0" smtClean="0">
                <a:latin typeface="Courier New" pitchFamily="49" charset="0"/>
                <a:cs typeface="Courier New" pitchFamily="49" charset="0"/>
              </a:rPr>
              <a:t>		</a:t>
            </a:r>
            <a:r>
              <a:rPr lang="en-US" sz="2000" dirty="0" err="1" smtClean="0">
                <a:latin typeface="Courier New" pitchFamily="49" charset="0"/>
                <a:cs typeface="Courier New" pitchFamily="49" charset="0"/>
              </a:rPr>
              <a:t>ctx.fillStyle</a:t>
            </a:r>
            <a:r>
              <a:rPr lang="en-US" sz="2000" dirty="0" smtClean="0">
                <a:latin typeface="Courier New" pitchFamily="49" charset="0"/>
                <a:cs typeface="Courier New" pitchFamily="49" charset="0"/>
              </a:rPr>
              <a:t> = “</a:t>
            </a:r>
            <a:r>
              <a:rPr lang="en-US" sz="2000" dirty="0" err="1" smtClean="0">
                <a:latin typeface="Courier New" pitchFamily="49" charset="0"/>
                <a:cs typeface="Courier New" pitchFamily="49" charset="0"/>
              </a:rPr>
              <a:t>rgb</a:t>
            </a:r>
            <a:r>
              <a:rPr lang="en-US" sz="2000" dirty="0" smtClean="0">
                <a:latin typeface="Courier New" pitchFamily="49" charset="0"/>
                <a:cs typeface="Courier New" pitchFamily="49" charset="0"/>
              </a:rPr>
              <a:t>(0,0,200)”;</a:t>
            </a:r>
          </a:p>
          <a:p>
            <a:pPr eaLnBrk="1" fontAlgn="auto" hangingPunct="1">
              <a:spcAft>
                <a:spcPts val="0"/>
              </a:spcAft>
              <a:buFont typeface="Arial" pitchFamily="34" charset="0"/>
              <a:buNone/>
              <a:defRPr/>
            </a:pPr>
            <a:r>
              <a:rPr lang="en-US" sz="2000" dirty="0" smtClean="0">
                <a:latin typeface="Courier New" pitchFamily="49" charset="0"/>
                <a:cs typeface="Courier New" pitchFamily="49" charset="0"/>
              </a:rPr>
              <a:t>		</a:t>
            </a:r>
            <a:r>
              <a:rPr lang="en-US" sz="2000" dirty="0" err="1" smtClean="0">
                <a:latin typeface="Courier New" pitchFamily="49" charset="0"/>
                <a:cs typeface="Courier New" pitchFamily="49" charset="0"/>
              </a:rPr>
              <a:t>ctx.fillRect</a:t>
            </a:r>
            <a:r>
              <a:rPr lang="en-US" sz="2000" dirty="0" smtClean="0">
                <a:latin typeface="Courier New" pitchFamily="49" charset="0"/>
                <a:cs typeface="Courier New" pitchFamily="49" charset="0"/>
              </a:rPr>
              <a:t> (30,30,55,50);</a:t>
            </a:r>
          </a:p>
          <a:p>
            <a:pPr eaLnBrk="1" fontAlgn="auto" hangingPunct="1">
              <a:spcAft>
                <a:spcPts val="0"/>
              </a:spcAft>
              <a:buFont typeface="Arial" pitchFamily="34" charset="0"/>
              <a:buNone/>
              <a:defRPr/>
            </a:pPr>
            <a:r>
              <a:rPr lang="en-US" sz="2000" dirty="0" smtClean="0">
                <a:latin typeface="Courier New" pitchFamily="49" charset="0"/>
                <a:cs typeface="Courier New" pitchFamily="49" charset="0"/>
              </a:rPr>
              <a:t>	}</a:t>
            </a:r>
          </a:p>
          <a:p>
            <a:pPr eaLnBrk="1" fontAlgn="auto" hangingPunct="1">
              <a:spcAft>
                <a:spcPts val="0"/>
              </a:spcAft>
              <a:buFont typeface="Arial" pitchFamily="34" charset="0"/>
              <a:buNone/>
              <a:defRPr/>
            </a:pPr>
            <a:r>
              <a:rPr lang="en-US" sz="2000" dirty="0" smtClean="0">
                <a:latin typeface="Courier New" pitchFamily="49" charset="0"/>
                <a:cs typeface="Courier New" pitchFamily="49" charset="0"/>
              </a:rPr>
              <a:t>}</a:t>
            </a:r>
          </a:p>
        </p:txBody>
      </p:sp>
      <p:sp>
        <p:nvSpPr>
          <p:cNvPr id="5" name="Rectangle 4"/>
          <p:cNvSpPr/>
          <p:nvPr/>
        </p:nvSpPr>
        <p:spPr>
          <a:xfrm>
            <a:off x="2946400" y="533400"/>
            <a:ext cx="711200" cy="5334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3657600" y="1066800"/>
            <a:ext cx="711200" cy="5334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400169848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altLang="en-US" smtClean="0"/>
              <a:t>Form Enhancements</a:t>
            </a:r>
          </a:p>
        </p:txBody>
      </p:sp>
      <p:sp>
        <p:nvSpPr>
          <p:cNvPr id="13315" name="Content Placeholder 2"/>
          <p:cNvSpPr>
            <a:spLocks noGrp="1"/>
          </p:cNvSpPr>
          <p:nvPr>
            <p:ph idx="1"/>
          </p:nvPr>
        </p:nvSpPr>
        <p:spPr/>
        <p:txBody>
          <a:bodyPr/>
          <a:lstStyle/>
          <a:p>
            <a:pPr eaLnBrk="1" hangingPunct="1"/>
            <a:r>
              <a:rPr lang="en-US" altLang="en-US" smtClean="0"/>
              <a:t>Placeholder text</a:t>
            </a:r>
          </a:p>
          <a:p>
            <a:pPr eaLnBrk="1" hangingPunct="1"/>
            <a:r>
              <a:rPr lang="en-US" altLang="en-US" smtClean="0"/>
              <a:t>Specific text input: email, URL, number, search</a:t>
            </a:r>
          </a:p>
          <a:p>
            <a:pPr eaLnBrk="1" hangingPunct="1"/>
            <a:r>
              <a:rPr lang="en-US" altLang="en-US" smtClean="0"/>
              <a:t>Slider</a:t>
            </a:r>
          </a:p>
          <a:p>
            <a:pPr eaLnBrk="1" hangingPunct="1"/>
            <a:r>
              <a:rPr lang="en-US" altLang="en-US" smtClean="0"/>
              <a:t>Date picker</a:t>
            </a:r>
          </a:p>
          <a:p>
            <a:pPr eaLnBrk="1" hangingPunct="1"/>
            <a:r>
              <a:rPr lang="en-US" altLang="en-US" smtClean="0"/>
              <a:t>User Agent validation</a:t>
            </a:r>
          </a:p>
        </p:txBody>
      </p:sp>
      <p:pic>
        <p:nvPicPr>
          <p:cNvPr id="13316" name="Picture 5" descr="iPhone rendering input type=number fiel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45600" y="2743200"/>
            <a:ext cx="24384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Picture 7" descr="Opera's type=month pick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429001"/>
            <a:ext cx="26670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8" name="Picture 9" descr="location bar with placeholder tex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32800" y="1752600"/>
            <a:ext cx="34036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9" name="Picture 11" descr="Chrome rendering of input type=range field as slider contro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1" y="2971801"/>
            <a:ext cx="22225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30844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
          <p:cNvSpPr>
            <a:spLocks noGrp="1" noChangeArrowheads="1"/>
          </p:cNvSpPr>
          <p:nvPr>
            <p:ph type="title"/>
          </p:nvPr>
        </p:nvSpPr>
        <p:spPr>
          <a:xfrm>
            <a:off x="608641" y="313954"/>
            <a:ext cx="10972799" cy="1064272"/>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Video</a:t>
            </a:r>
          </a:p>
        </p:txBody>
      </p:sp>
      <p:sp>
        <p:nvSpPr>
          <p:cNvPr id="31746" name="Rectangle 2"/>
          <p:cNvSpPr>
            <a:spLocks noGrp="1" noChangeArrowheads="1"/>
          </p:cNvSpPr>
          <p:nvPr>
            <p:ph type="subTitle" idx="4294967295"/>
          </p:nvPr>
        </p:nvSpPr>
        <p:spPr bwMode="auto">
          <a:xfrm>
            <a:off x="446926" y="1705602"/>
            <a:ext cx="6040371" cy="4432785"/>
          </a:xfrm>
          <a:prstGeom prst="rect">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ormAutofit fontScale="85000" lnSpcReduction="20000"/>
          </a:bodyPr>
          <a:lstStyle/>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&lt;!DOCTYPE HTML&gt;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&lt;html&gt;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&lt;body&gt;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solidFill>
                  <a:schemeClr val="accent2"/>
                </a:solidFill>
              </a:rPr>
              <a:t>&lt;video width="320" height="240" controls&gt;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solidFill>
                  <a:schemeClr val="accent2"/>
                </a:solidFill>
              </a:rPr>
              <a:t>  &lt;source </a:t>
            </a:r>
            <a:r>
              <a:rPr lang="en-GB" altLang="en-US" sz="2800" dirty="0" err="1">
                <a:solidFill>
                  <a:schemeClr val="accent2"/>
                </a:solidFill>
              </a:rPr>
              <a:t>src</a:t>
            </a:r>
            <a:r>
              <a:rPr lang="en-GB" altLang="en-US" sz="2800" dirty="0">
                <a:solidFill>
                  <a:schemeClr val="accent2"/>
                </a:solidFill>
              </a:rPr>
              <a:t>="movie.mp4" type="video/mp4"&gt;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solidFill>
                  <a:schemeClr val="accent2"/>
                </a:solidFill>
              </a:rPr>
              <a:t>  &lt;source </a:t>
            </a:r>
            <a:r>
              <a:rPr lang="en-GB" altLang="en-US" sz="2800" dirty="0" err="1">
                <a:solidFill>
                  <a:schemeClr val="accent2"/>
                </a:solidFill>
              </a:rPr>
              <a:t>src</a:t>
            </a:r>
            <a:r>
              <a:rPr lang="en-GB" altLang="en-US" sz="2800" dirty="0">
                <a:solidFill>
                  <a:schemeClr val="accent2"/>
                </a:solidFill>
              </a:rPr>
              <a:t>="movie.ogg" type="video/</a:t>
            </a:r>
            <a:r>
              <a:rPr lang="en-GB" altLang="en-US" sz="2800" dirty="0" err="1">
                <a:solidFill>
                  <a:schemeClr val="accent2"/>
                </a:solidFill>
              </a:rPr>
              <a:t>ogg</a:t>
            </a:r>
            <a:r>
              <a:rPr lang="en-GB" altLang="en-US" sz="2800" dirty="0">
                <a:solidFill>
                  <a:schemeClr val="accent2"/>
                </a:solidFill>
              </a:rPr>
              <a:t>"&gt;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solidFill>
                  <a:schemeClr val="accent2"/>
                </a:solidFill>
              </a:rPr>
              <a:t>Your browser does not support the video tag.</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solidFill>
                  <a:schemeClr val="accent2"/>
                </a:solidFill>
              </a:rPr>
              <a:t>&lt;/video&gt;</a:t>
            </a:r>
            <a:endParaRPr lang="en-GB" altLang="en-US" sz="2800" dirty="0" smtClean="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smtClean="0"/>
              <a:t>&lt;/</a:t>
            </a:r>
            <a:r>
              <a:rPr lang="en-GB" altLang="en-US" sz="2800" dirty="0"/>
              <a:t>body&gt;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&lt;/html&gt;</a:t>
            </a:r>
          </a:p>
        </p:txBody>
      </p:sp>
      <p:sp>
        <p:nvSpPr>
          <p:cNvPr id="2" name="Rectangle 1"/>
          <p:cNvSpPr/>
          <p:nvPr/>
        </p:nvSpPr>
        <p:spPr>
          <a:xfrm>
            <a:off x="7607643" y="2517341"/>
            <a:ext cx="6096000" cy="1477328"/>
          </a:xfrm>
          <a:prstGeom prst="rect">
            <a:avLst/>
          </a:prstGeom>
          <a:ln>
            <a:solidFill>
              <a:schemeClr val="tx2"/>
            </a:solidFill>
          </a:ln>
        </p:spPr>
        <p:txBody>
          <a:bodyPr>
            <a:spAutoFit/>
          </a:bodyPr>
          <a:lstStyle/>
          <a:p>
            <a:r>
              <a:rPr lang="en-GB" dirty="0">
                <a:solidFill>
                  <a:schemeClr val="accent2"/>
                </a:solidFill>
              </a:rPr>
              <a:t>&lt;video width="320" height="240" </a:t>
            </a:r>
            <a:r>
              <a:rPr lang="en-GB" dirty="0" err="1">
                <a:solidFill>
                  <a:schemeClr val="accent2"/>
                </a:solidFill>
              </a:rPr>
              <a:t>autoplay</a:t>
            </a:r>
            <a:r>
              <a:rPr lang="en-GB" dirty="0">
                <a:solidFill>
                  <a:schemeClr val="accent2"/>
                </a:solidFill>
              </a:rPr>
              <a:t>&gt;</a:t>
            </a:r>
          </a:p>
          <a:p>
            <a:r>
              <a:rPr lang="en-GB" dirty="0">
                <a:solidFill>
                  <a:schemeClr val="accent2"/>
                </a:solidFill>
              </a:rPr>
              <a:t>  &lt;source </a:t>
            </a:r>
            <a:r>
              <a:rPr lang="en-GB" dirty="0" err="1">
                <a:solidFill>
                  <a:schemeClr val="accent2"/>
                </a:solidFill>
              </a:rPr>
              <a:t>src</a:t>
            </a:r>
            <a:r>
              <a:rPr lang="en-GB" dirty="0">
                <a:solidFill>
                  <a:schemeClr val="accent2"/>
                </a:solidFill>
              </a:rPr>
              <a:t>="movie.mp4" type="video/mp4"&gt;</a:t>
            </a:r>
          </a:p>
          <a:p>
            <a:r>
              <a:rPr lang="en-GB" dirty="0">
                <a:solidFill>
                  <a:schemeClr val="accent2"/>
                </a:solidFill>
              </a:rPr>
              <a:t>  &lt;source </a:t>
            </a:r>
            <a:r>
              <a:rPr lang="en-GB" dirty="0" err="1">
                <a:solidFill>
                  <a:schemeClr val="accent2"/>
                </a:solidFill>
              </a:rPr>
              <a:t>src</a:t>
            </a:r>
            <a:r>
              <a:rPr lang="en-GB" dirty="0">
                <a:solidFill>
                  <a:schemeClr val="accent2"/>
                </a:solidFill>
              </a:rPr>
              <a:t>="movie.ogg" type="video/</a:t>
            </a:r>
            <a:r>
              <a:rPr lang="en-GB" dirty="0" err="1">
                <a:solidFill>
                  <a:schemeClr val="accent2"/>
                </a:solidFill>
              </a:rPr>
              <a:t>ogg</a:t>
            </a:r>
            <a:r>
              <a:rPr lang="en-GB" dirty="0">
                <a:solidFill>
                  <a:schemeClr val="accent2"/>
                </a:solidFill>
              </a:rPr>
              <a:t>"&gt;</a:t>
            </a:r>
          </a:p>
          <a:p>
            <a:r>
              <a:rPr lang="en-GB" dirty="0">
                <a:solidFill>
                  <a:schemeClr val="accent2"/>
                </a:solidFill>
              </a:rPr>
              <a:t>Your browser does not support the video tag.</a:t>
            </a:r>
          </a:p>
          <a:p>
            <a:r>
              <a:rPr lang="en-GB" dirty="0">
                <a:solidFill>
                  <a:schemeClr val="accent2"/>
                </a:solidFill>
              </a:rPr>
              <a:t>&lt;/video&gt;</a:t>
            </a:r>
          </a:p>
        </p:txBody>
      </p:sp>
    </p:spTree>
    <p:extLst>
      <p:ext uri="{BB962C8B-B14F-4D97-AF65-F5344CB8AC3E}">
        <p14:creationId xmlns:p14="http://schemas.microsoft.com/office/powerpoint/2010/main" val="316456723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1"/>
          <p:cNvSpPr>
            <a:spLocks noGrp="1" noChangeArrowheads="1"/>
          </p:cNvSpPr>
          <p:nvPr>
            <p:ph type="title"/>
          </p:nvPr>
        </p:nvSpPr>
        <p:spPr>
          <a:xfrm>
            <a:off x="608641" y="313954"/>
            <a:ext cx="10972799" cy="1064272"/>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Video</a:t>
            </a:r>
          </a:p>
        </p:txBody>
      </p:sp>
      <p:sp>
        <p:nvSpPr>
          <p:cNvPr id="30722" name="Rectangle 2"/>
          <p:cNvSpPr>
            <a:spLocks noGrp="1" noChangeArrowheads="1"/>
          </p:cNvSpPr>
          <p:nvPr>
            <p:ph type="subTitle" idx="4294967295"/>
          </p:nvPr>
        </p:nvSpPr>
        <p:spPr bwMode="auto">
          <a:xfrm>
            <a:off x="1096321" y="1657615"/>
            <a:ext cx="10053120" cy="443278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dirty="0"/>
              <a:t>HTML5 specifies a standard way to include video with the video element</a:t>
            </a:r>
            <a:r>
              <a:rPr lang="en-GB" altLang="en-US" dirty="0" smtClean="0"/>
              <a:t>.</a:t>
            </a:r>
          </a:p>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dirty="0" smtClean="0"/>
              <a:t>Currently</a:t>
            </a:r>
            <a:r>
              <a:rPr lang="en-GB" altLang="en-US" dirty="0"/>
              <a:t>, there are 3 supported video formats for the video element: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p:txBody>
      </p:sp>
      <p:pic>
        <p:nvPicPr>
          <p:cNvPr id="307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6560" y="2880302"/>
            <a:ext cx="9889921" cy="1152121"/>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83564715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1"/>
          <p:cNvSpPr>
            <a:spLocks noGrp="1" noChangeArrowheads="1"/>
          </p:cNvSpPr>
          <p:nvPr>
            <p:ph type="title"/>
          </p:nvPr>
        </p:nvSpPr>
        <p:spPr>
          <a:xfrm>
            <a:off x="608641" y="313954"/>
            <a:ext cx="10972799" cy="1064272"/>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Video</a:t>
            </a:r>
          </a:p>
        </p:txBody>
      </p:sp>
      <p:sp>
        <p:nvSpPr>
          <p:cNvPr id="32770" name="Rectangle 2"/>
          <p:cNvSpPr>
            <a:spLocks noGrp="1" noChangeArrowheads="1"/>
          </p:cNvSpPr>
          <p:nvPr>
            <p:ph type="subTitle" idx="4294967295"/>
          </p:nvPr>
        </p:nvSpPr>
        <p:spPr bwMode="auto">
          <a:xfrm>
            <a:off x="1096321" y="1657615"/>
            <a:ext cx="10053120" cy="443278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The last example uses an </a:t>
            </a:r>
            <a:r>
              <a:rPr lang="en-GB" altLang="en-US" sz="2800" dirty="0" err="1"/>
              <a:t>Ogg</a:t>
            </a:r>
            <a:r>
              <a:rPr lang="en-GB" altLang="en-US" sz="2800" dirty="0"/>
              <a:t> file, and will work in Firefox, Opera and Chrome.</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To make the video work in Safari and future versions of Chrome, we must add an </a:t>
            </a:r>
            <a:r>
              <a:rPr lang="en-GB" altLang="en-US" sz="2800" b="1" dirty="0"/>
              <a:t>MPEG4 and </a:t>
            </a:r>
            <a:r>
              <a:rPr lang="en-GB" altLang="en-US" sz="2800" b="1" dirty="0" err="1"/>
              <a:t>WebM</a:t>
            </a:r>
            <a:r>
              <a:rPr lang="en-GB" altLang="en-US" sz="2800" b="1" dirty="0"/>
              <a:t> file</a:t>
            </a:r>
            <a:r>
              <a:rPr lang="en-GB" altLang="en-US" sz="2800" dirty="0"/>
              <a: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dirty="0"/>
          </a:p>
        </p:txBody>
      </p:sp>
    </p:spTree>
    <p:extLst>
      <p:ext uri="{BB962C8B-B14F-4D97-AF65-F5344CB8AC3E}">
        <p14:creationId xmlns:p14="http://schemas.microsoft.com/office/powerpoint/2010/main" val="108409915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1"/>
          <p:cNvSpPr>
            <a:spLocks noGrp="1" noChangeArrowheads="1"/>
          </p:cNvSpPr>
          <p:nvPr>
            <p:ph type="title"/>
          </p:nvPr>
        </p:nvSpPr>
        <p:spPr>
          <a:xfrm>
            <a:off x="608641" y="313954"/>
            <a:ext cx="10972799" cy="1064272"/>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dirty="0"/>
              <a:t>HTML5: Video</a:t>
            </a:r>
          </a:p>
        </p:txBody>
      </p:sp>
      <p:sp>
        <p:nvSpPr>
          <p:cNvPr id="33794" name="Rectangle 2"/>
          <p:cNvSpPr>
            <a:spLocks noGrp="1" noChangeArrowheads="1"/>
          </p:cNvSpPr>
          <p:nvPr>
            <p:ph type="subTitle" idx="4294967295"/>
          </p:nvPr>
        </p:nvSpPr>
        <p:spPr bwMode="auto">
          <a:xfrm>
            <a:off x="1096321" y="1657615"/>
            <a:ext cx="10053120" cy="443278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ormAutofit fontScale="92500" lnSpcReduction="10000"/>
          </a:bodyPr>
          <a:lstStyle/>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2800" dirty="0">
                <a:solidFill>
                  <a:schemeClr val="tx1"/>
                </a:solidFill>
              </a:rPr>
              <a:t>The video element </a:t>
            </a:r>
            <a:r>
              <a:rPr lang="en-US" altLang="en-US" sz="2800" b="1" dirty="0">
                <a:solidFill>
                  <a:schemeClr val="tx1"/>
                </a:solidFill>
              </a:rPr>
              <a:t>allows multiple source elements</a:t>
            </a:r>
            <a:r>
              <a:rPr lang="en-US" altLang="en-US" sz="2800" dirty="0">
                <a:solidFill>
                  <a:schemeClr val="tx1"/>
                </a:solidFill>
              </a:rPr>
              <a:t>. Source elements can link to different video files. The browser will use the first recognized format: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dirty="0" smtClean="0">
              <a:solidFill>
                <a:schemeClr val="accent2"/>
              </a:solidFill>
            </a:endParaRP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smtClean="0">
                <a:solidFill>
                  <a:schemeClr val="accent2"/>
                </a:solidFill>
              </a:rPr>
              <a:t>&lt;video </a:t>
            </a:r>
            <a:r>
              <a:rPr lang="en-GB" altLang="en-US" sz="2800" dirty="0">
                <a:solidFill>
                  <a:schemeClr val="accent2"/>
                </a:solidFill>
              </a:rPr>
              <a:t>width="320" height="240" controls="controls"&gt;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solidFill>
                  <a:schemeClr val="accent2"/>
                </a:solidFill>
              </a:rPr>
              <a:t>  &lt;source </a:t>
            </a:r>
            <a:r>
              <a:rPr lang="en-GB" altLang="en-US" sz="2800" dirty="0" err="1">
                <a:solidFill>
                  <a:schemeClr val="accent2"/>
                </a:solidFill>
              </a:rPr>
              <a:t>src</a:t>
            </a:r>
            <a:r>
              <a:rPr lang="en-GB" altLang="en-US" sz="2800" dirty="0">
                <a:solidFill>
                  <a:schemeClr val="accent2"/>
                </a:solidFill>
              </a:rPr>
              <a:t>="movie.ogg" type="video/</a:t>
            </a:r>
            <a:r>
              <a:rPr lang="en-GB" altLang="en-US" sz="2800" dirty="0" err="1">
                <a:solidFill>
                  <a:schemeClr val="accent2"/>
                </a:solidFill>
              </a:rPr>
              <a:t>ogg</a:t>
            </a:r>
            <a:r>
              <a:rPr lang="en-GB" altLang="en-US" sz="2800" dirty="0">
                <a:solidFill>
                  <a:schemeClr val="accent2"/>
                </a:solidFill>
              </a:rPr>
              <a:t>" /&gt;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solidFill>
                  <a:schemeClr val="accent2"/>
                </a:solidFill>
              </a:rPr>
              <a:t>  &lt;source </a:t>
            </a:r>
            <a:r>
              <a:rPr lang="en-GB" altLang="en-US" sz="2800" dirty="0" err="1">
                <a:solidFill>
                  <a:schemeClr val="accent2"/>
                </a:solidFill>
              </a:rPr>
              <a:t>src</a:t>
            </a:r>
            <a:r>
              <a:rPr lang="en-GB" altLang="en-US" sz="2800" dirty="0">
                <a:solidFill>
                  <a:schemeClr val="accent2"/>
                </a:solidFill>
              </a:rPr>
              <a:t>="movie.mp4" type="video/mp4" /&gt;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solidFill>
                  <a:schemeClr val="accent2"/>
                </a:solidFill>
              </a:rPr>
              <a:t>  &lt;source </a:t>
            </a:r>
            <a:r>
              <a:rPr lang="en-GB" altLang="en-US" sz="2800" dirty="0" err="1">
                <a:solidFill>
                  <a:schemeClr val="accent2"/>
                </a:solidFill>
              </a:rPr>
              <a:t>src</a:t>
            </a:r>
            <a:r>
              <a:rPr lang="en-GB" altLang="en-US" sz="2800" dirty="0">
                <a:solidFill>
                  <a:schemeClr val="accent2"/>
                </a:solidFill>
              </a:rPr>
              <a:t>="</a:t>
            </a:r>
            <a:r>
              <a:rPr lang="en-GB" altLang="en-US" sz="2800" dirty="0" err="1">
                <a:solidFill>
                  <a:schemeClr val="accent2"/>
                </a:solidFill>
              </a:rPr>
              <a:t>movie.webm</a:t>
            </a:r>
            <a:r>
              <a:rPr lang="en-GB" altLang="en-US" sz="2800" dirty="0">
                <a:solidFill>
                  <a:schemeClr val="accent2"/>
                </a:solidFill>
              </a:rPr>
              <a:t>" type="video/</a:t>
            </a:r>
            <a:r>
              <a:rPr lang="en-GB" altLang="en-US" sz="2800" dirty="0" err="1">
                <a:solidFill>
                  <a:schemeClr val="accent2"/>
                </a:solidFill>
              </a:rPr>
              <a:t>webm</a:t>
            </a:r>
            <a:r>
              <a:rPr lang="en-GB" altLang="en-US" sz="2800" dirty="0">
                <a:solidFill>
                  <a:schemeClr val="accent2"/>
                </a:solidFill>
              </a:rPr>
              <a:t>" /&gt;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solidFill>
                  <a:schemeClr val="tx1"/>
                </a:solidFill>
              </a:rPr>
              <a:t>Your browser does not support the video tag.</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solidFill>
                  <a:schemeClr val="accent2"/>
                </a:solidFill>
              </a:rPr>
              <a:t>&lt;/video&gt; </a:t>
            </a:r>
          </a:p>
        </p:txBody>
      </p:sp>
    </p:spTree>
    <p:extLst>
      <p:ext uri="{BB962C8B-B14F-4D97-AF65-F5344CB8AC3E}">
        <p14:creationId xmlns:p14="http://schemas.microsoft.com/office/powerpoint/2010/main" val="183377586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1"/>
          <p:cNvSpPr>
            <a:spLocks noGrp="1" noChangeArrowheads="1"/>
          </p:cNvSpPr>
          <p:nvPr>
            <p:ph type="title"/>
          </p:nvPr>
        </p:nvSpPr>
        <p:spPr>
          <a:xfrm>
            <a:off x="608641" y="273629"/>
            <a:ext cx="10972799" cy="1146360"/>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Video</a:t>
            </a:r>
          </a:p>
        </p:txBody>
      </p:sp>
      <p:pic>
        <p:nvPicPr>
          <p:cNvPr id="358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7360" y="1973007"/>
            <a:ext cx="9889921" cy="3721351"/>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05287326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1"/>
          <p:cNvSpPr>
            <a:spLocks noGrp="1" noChangeArrowheads="1"/>
          </p:cNvSpPr>
          <p:nvPr>
            <p:ph type="title"/>
          </p:nvPr>
        </p:nvSpPr>
        <p:spPr>
          <a:xfrm>
            <a:off x="608641" y="313954"/>
            <a:ext cx="10972799" cy="1064272"/>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Audio</a:t>
            </a:r>
          </a:p>
        </p:txBody>
      </p:sp>
      <p:sp>
        <p:nvSpPr>
          <p:cNvPr id="37890" name="Rectangle 2"/>
          <p:cNvSpPr>
            <a:spLocks noGrp="1" noChangeArrowheads="1"/>
          </p:cNvSpPr>
          <p:nvPr>
            <p:ph type="subTitle" idx="4294967295"/>
          </p:nvPr>
        </p:nvSpPr>
        <p:spPr bwMode="auto">
          <a:xfrm>
            <a:off x="741405" y="1657615"/>
            <a:ext cx="10371555" cy="443278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altLang="en-US" dirty="0" smtClean="0"/>
          </a:p>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altLang="en-US" dirty="0"/>
          </a:p>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dirty="0" smtClean="0"/>
              <a:t>Until </a:t>
            </a:r>
            <a:r>
              <a:rPr lang="en-US" altLang="en-US" dirty="0"/>
              <a:t>now, there has never been a standard for playing audio on a web page</a:t>
            </a:r>
            <a:r>
              <a:rPr lang="en-US" altLang="en-US" dirty="0" smtClean="0"/>
              <a:t>.</a:t>
            </a:r>
            <a:endParaRPr lang="en-US" altLang="en-US" dirty="0"/>
          </a:p>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dirty="0"/>
              <a:t>Today, most audio is played through a plugin (like Flash). However, not all browsers have the same plugins.</a:t>
            </a:r>
          </a:p>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dirty="0" smtClean="0"/>
              <a:t>HTML5 </a:t>
            </a:r>
            <a:r>
              <a:rPr lang="en-US" altLang="en-US" dirty="0"/>
              <a:t>specifies a standard way to include audio, with the audio element. The audio element can play sound files, or an audio stream.</a:t>
            </a:r>
          </a:p>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b="1" dirty="0" smtClean="0"/>
              <a:t>Currently</a:t>
            </a:r>
            <a:r>
              <a:rPr lang="en-GB" altLang="en-US" b="1" dirty="0"/>
              <a:t>, there are 3 supported formats for the audio element</a:t>
            </a:r>
            <a:r>
              <a:rPr lang="en-GB" altLang="en-US" b="1" dirty="0" smtClean="0"/>
              <a:t>: </a:t>
            </a:r>
            <a:r>
              <a:rPr lang="en-GB" altLang="en-US" b="1" dirty="0" err="1" smtClean="0"/>
              <a:t>Ogg</a:t>
            </a:r>
            <a:r>
              <a:rPr lang="en-GB" altLang="en-US" b="1" dirty="0" smtClean="0"/>
              <a:t>, MP3 and Wav.</a:t>
            </a:r>
            <a:endParaRPr lang="en-GB" altLang="en-US" b="1" dirty="0"/>
          </a:p>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p:txBody>
      </p:sp>
      <p:graphicFrame>
        <p:nvGraphicFramePr>
          <p:cNvPr id="2" name="Table 1"/>
          <p:cNvGraphicFramePr>
            <a:graphicFrameLocks noGrp="1"/>
          </p:cNvGraphicFramePr>
          <p:nvPr>
            <p:extLst>
              <p:ext uri="{D42A27DB-BD31-4B8C-83A1-F6EECF244321}">
                <p14:modId xmlns:p14="http://schemas.microsoft.com/office/powerpoint/2010/main" val="2054947965"/>
              </p:ext>
            </p:extLst>
          </p:nvPr>
        </p:nvGraphicFramePr>
        <p:xfrm>
          <a:off x="1310117" y="4960672"/>
          <a:ext cx="9773892" cy="1127760"/>
        </p:xfrm>
        <a:graphic>
          <a:graphicData uri="http://schemas.openxmlformats.org/drawingml/2006/table">
            <a:tbl>
              <a:tblPr/>
              <a:tblGrid>
                <a:gridCol w="1628982"/>
                <a:gridCol w="1628982"/>
                <a:gridCol w="1628982"/>
                <a:gridCol w="1628982"/>
                <a:gridCol w="1628982"/>
                <a:gridCol w="1628982"/>
              </a:tblGrid>
              <a:tr h="0">
                <a:tc>
                  <a:txBody>
                    <a:bodyPr/>
                    <a:lstStyle/>
                    <a:p>
                      <a:pPr algn="l" fontAlgn="t"/>
                      <a:r>
                        <a:rPr lang="en-US" dirty="0">
                          <a:effectLst/>
                        </a:rPr>
                        <a:t>Feature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a:effectLst/>
                        </a:rPr>
                        <a:t>Chrome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a:effectLst/>
                        </a:rPr>
                        <a:t>Firefox (Gecko)</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a:effectLst/>
                        </a:rPr>
                        <a:t>Internet Explorer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a:effectLst/>
                        </a:rPr>
                        <a:t>Opera</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a:effectLst/>
                        </a:rPr>
                        <a:t>Safari</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US" dirty="0">
                          <a:effectLst/>
                        </a:rPr>
                        <a:t>Basic support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a:effectLst/>
                        </a:rPr>
                        <a:t>12.0.742.122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a:effectLst/>
                        </a:rPr>
                        <a:t>5.0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a:effectLst/>
                        </a:rPr>
                        <a:t>8.0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a:effectLst/>
                        </a:rPr>
                        <a:t>11.50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dirty="0">
                          <a:effectLst/>
                        </a:rPr>
                        <a:t>4.0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
        <p:nvSpPr>
          <p:cNvPr id="3" name="Rectangle 1"/>
          <p:cNvSpPr>
            <a:spLocks noChangeArrowheads="1"/>
          </p:cNvSpPr>
          <p:nvPr/>
        </p:nvSpPr>
        <p:spPr bwMode="auto">
          <a:xfrm>
            <a:off x="1507523" y="4170327"/>
            <a:ext cx="6619403" cy="62794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14245" rIns="0" bIns="133308" numCol="1" anchor="ctr"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Roboto"/>
                <a:cs typeface="Arial" pitchFamily="34" charset="0"/>
              </a:rPr>
              <a:t>Browser Compatibility</a:t>
            </a:r>
          </a:p>
        </p:txBody>
      </p:sp>
    </p:spTree>
    <p:extLst>
      <p:ext uri="{BB962C8B-B14F-4D97-AF65-F5344CB8AC3E}">
        <p14:creationId xmlns:p14="http://schemas.microsoft.com/office/powerpoint/2010/main" val="34641401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1"/>
          <p:cNvSpPr>
            <a:spLocks noGrp="1" noChangeArrowheads="1"/>
          </p:cNvSpPr>
          <p:nvPr>
            <p:ph type="title"/>
          </p:nvPr>
        </p:nvSpPr>
        <p:spPr>
          <a:xfrm>
            <a:off x="608641" y="313954"/>
            <a:ext cx="10972799" cy="1064272"/>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Audio</a:t>
            </a:r>
          </a:p>
        </p:txBody>
      </p:sp>
      <p:sp>
        <p:nvSpPr>
          <p:cNvPr id="38914" name="Rectangle 2"/>
          <p:cNvSpPr>
            <a:spLocks noGrp="1" noChangeArrowheads="1"/>
          </p:cNvSpPr>
          <p:nvPr>
            <p:ph type="subTitle" idx="4294967295"/>
          </p:nvPr>
        </p:nvSpPr>
        <p:spPr bwMode="auto">
          <a:xfrm>
            <a:off x="1096321" y="1656175"/>
            <a:ext cx="10053120" cy="443278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ormAutofit fontScale="62500" lnSpcReduction="20000"/>
          </a:bodyPr>
          <a:lstStyle/>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&lt;!DOCTYPE HTML&gt;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&lt;html </a:t>
            </a:r>
            <a:r>
              <a:rPr lang="en-GB" altLang="en-US" sz="2800" dirty="0" err="1"/>
              <a:t>lang</a:t>
            </a:r>
            <a:r>
              <a:rPr lang="en-GB" altLang="en-US" sz="2800" dirty="0"/>
              <a:t>="</a:t>
            </a:r>
            <a:r>
              <a:rPr lang="en-GB" altLang="en-US" sz="2800" dirty="0" err="1"/>
              <a:t>en</a:t>
            </a:r>
            <a:r>
              <a:rPr lang="en-GB" altLang="en-US" sz="2800" dirty="0"/>
              <a:t>"&gt;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&lt;head&gt;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&lt;meta charset=utf-8&gt;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&lt;title&gt;HTML5 audio example&lt;/title&gt;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&lt;/head&gt;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&lt;body&gt;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&lt;audio controls="controls" </a:t>
            </a:r>
            <a:r>
              <a:rPr lang="en-GB" altLang="en-US" sz="2800" dirty="0" err="1"/>
              <a:t>autoplay</a:t>
            </a:r>
            <a:r>
              <a:rPr lang="en-GB" altLang="en-US" sz="2800" dirty="0"/>
              <a:t>="</a:t>
            </a:r>
            <a:r>
              <a:rPr lang="en-GB" altLang="en-US" sz="2800" dirty="0" err="1"/>
              <a:t>autoplay</a:t>
            </a:r>
            <a:r>
              <a:rPr lang="en-GB" altLang="en-US" sz="2800" dirty="0"/>
              <a:t>"&gt;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&lt;source </a:t>
            </a:r>
            <a:r>
              <a:rPr lang="en-GB" altLang="en-US" sz="2800" dirty="0" err="1"/>
              <a:t>src</a:t>
            </a:r>
            <a:r>
              <a:rPr lang="en-GB" altLang="en-US" sz="2800" dirty="0"/>
              <a:t>="example.mp3" type="audio/mpeg" /&gt;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Your browser does not support the audio element.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&lt;/audio&gt;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&lt;/body&gt;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&lt;/html&gt;</a:t>
            </a:r>
          </a:p>
        </p:txBody>
      </p:sp>
    </p:spTree>
    <p:extLst>
      <p:ext uri="{BB962C8B-B14F-4D97-AF65-F5344CB8AC3E}">
        <p14:creationId xmlns:p14="http://schemas.microsoft.com/office/powerpoint/2010/main" val="268810388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1"/>
          <p:cNvSpPr>
            <a:spLocks noGrp="1" noChangeArrowheads="1"/>
          </p:cNvSpPr>
          <p:nvPr>
            <p:ph type="title"/>
          </p:nvPr>
        </p:nvSpPr>
        <p:spPr>
          <a:xfrm>
            <a:off x="608641" y="313954"/>
            <a:ext cx="10972799" cy="1064272"/>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Audio</a:t>
            </a:r>
          </a:p>
        </p:txBody>
      </p:sp>
      <p:sp>
        <p:nvSpPr>
          <p:cNvPr id="39938" name="Rectangle 2"/>
          <p:cNvSpPr>
            <a:spLocks noGrp="1" noChangeArrowheads="1"/>
          </p:cNvSpPr>
          <p:nvPr>
            <p:ph type="subTitle" idx="4294967295"/>
          </p:nvPr>
        </p:nvSpPr>
        <p:spPr bwMode="auto">
          <a:xfrm>
            <a:off x="1158105" y="1816443"/>
            <a:ext cx="10053120" cy="392796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dirty="0"/>
              <a:t>The </a:t>
            </a:r>
            <a:r>
              <a:rPr lang="en-GB" altLang="en-US" b="1" dirty="0" err="1" smtClean="0"/>
              <a:t>Ogg</a:t>
            </a:r>
            <a:r>
              <a:rPr lang="en-GB" altLang="en-US" dirty="0" smtClean="0"/>
              <a:t> </a:t>
            </a:r>
            <a:r>
              <a:rPr lang="en-GB" altLang="en-US" dirty="0"/>
              <a:t>file, and will work in </a:t>
            </a:r>
            <a:r>
              <a:rPr lang="en-GB" altLang="en-US" b="1" dirty="0"/>
              <a:t>Firefox</a:t>
            </a:r>
            <a:r>
              <a:rPr lang="en-GB" altLang="en-US" dirty="0"/>
              <a:t>, </a:t>
            </a:r>
            <a:r>
              <a:rPr lang="en-GB" altLang="en-US" b="1" dirty="0"/>
              <a:t>Opera</a:t>
            </a:r>
            <a:r>
              <a:rPr lang="en-GB" altLang="en-US" dirty="0"/>
              <a:t> and </a:t>
            </a:r>
            <a:r>
              <a:rPr lang="en-GB" altLang="en-US" b="1" dirty="0"/>
              <a:t>Chrome</a:t>
            </a:r>
            <a:r>
              <a:rPr lang="en-GB" altLang="en-US" dirty="0"/>
              <a:t>.</a:t>
            </a:r>
          </a:p>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dirty="0"/>
              <a:t>To make the audio work in Safari, the audio file must be of type </a:t>
            </a:r>
            <a:r>
              <a:rPr lang="en-GB" altLang="en-US" b="1" dirty="0"/>
              <a:t>MP3 or Wav</a:t>
            </a:r>
            <a:r>
              <a:rPr lang="en-GB" altLang="en-US" dirty="0"/>
              <a:t>.</a:t>
            </a:r>
          </a:p>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dirty="0"/>
              <a:t>The audio element </a:t>
            </a:r>
            <a:r>
              <a:rPr lang="en-GB" altLang="en-US" b="1" dirty="0"/>
              <a:t>allows multiple source elements</a:t>
            </a:r>
            <a:r>
              <a:rPr lang="en-GB" altLang="en-US" dirty="0"/>
              <a:t>. Source elements can link to different audio files. The browser will use the first recognized format.</a:t>
            </a:r>
          </a:p>
        </p:txBody>
      </p:sp>
    </p:spTree>
    <p:extLst>
      <p:ext uri="{BB962C8B-B14F-4D97-AF65-F5344CB8AC3E}">
        <p14:creationId xmlns:p14="http://schemas.microsoft.com/office/powerpoint/2010/main" val="409766890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1"/>
          <p:cNvSpPr>
            <a:spLocks noGrp="1" noChangeArrowheads="1"/>
          </p:cNvSpPr>
          <p:nvPr>
            <p:ph type="title"/>
          </p:nvPr>
        </p:nvSpPr>
        <p:spPr>
          <a:xfrm>
            <a:off x="608641" y="313954"/>
            <a:ext cx="10972799" cy="1064272"/>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Audio</a:t>
            </a:r>
          </a:p>
        </p:txBody>
      </p:sp>
      <p:sp>
        <p:nvSpPr>
          <p:cNvPr id="40962" name="Rectangle 2"/>
          <p:cNvSpPr>
            <a:spLocks noGrp="1" noChangeArrowheads="1"/>
          </p:cNvSpPr>
          <p:nvPr>
            <p:ph type="subTitle" idx="4294967295"/>
          </p:nvPr>
        </p:nvSpPr>
        <p:spPr bwMode="auto">
          <a:xfrm>
            <a:off x="1096321" y="1657615"/>
            <a:ext cx="10053120" cy="443278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solidFill>
                  <a:schemeClr val="tx2">
                    <a:lumMod val="60000"/>
                    <a:lumOff val="40000"/>
                  </a:schemeClr>
                </a:solidFill>
              </a:rPr>
              <a:t>&lt;audio controls="controls"&gt;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solidFill>
                  <a:schemeClr val="tx2">
                    <a:lumMod val="60000"/>
                    <a:lumOff val="40000"/>
                  </a:schemeClr>
                </a:solidFill>
              </a:rPr>
              <a:t>  &lt;source </a:t>
            </a:r>
            <a:r>
              <a:rPr lang="en-GB" altLang="en-US" sz="2800" dirty="0" err="1">
                <a:solidFill>
                  <a:schemeClr val="tx2">
                    <a:lumMod val="60000"/>
                    <a:lumOff val="40000"/>
                  </a:schemeClr>
                </a:solidFill>
              </a:rPr>
              <a:t>src</a:t>
            </a:r>
            <a:r>
              <a:rPr lang="en-GB" altLang="en-US" sz="2800" dirty="0">
                <a:solidFill>
                  <a:schemeClr val="tx2">
                    <a:lumMod val="60000"/>
                    <a:lumOff val="40000"/>
                  </a:schemeClr>
                </a:solidFill>
              </a:rPr>
              <a:t>="song.ogg" type="audio/</a:t>
            </a:r>
            <a:r>
              <a:rPr lang="en-GB" altLang="en-US" sz="2800" dirty="0" err="1">
                <a:solidFill>
                  <a:schemeClr val="tx2">
                    <a:lumMod val="60000"/>
                    <a:lumOff val="40000"/>
                  </a:schemeClr>
                </a:solidFill>
              </a:rPr>
              <a:t>ogg</a:t>
            </a:r>
            <a:r>
              <a:rPr lang="en-GB" altLang="en-US" sz="2800" dirty="0">
                <a:solidFill>
                  <a:schemeClr val="tx2">
                    <a:lumMod val="60000"/>
                    <a:lumOff val="40000"/>
                  </a:schemeClr>
                </a:solidFill>
              </a:rPr>
              <a:t>" /&gt;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solidFill>
                  <a:schemeClr val="tx2">
                    <a:lumMod val="60000"/>
                    <a:lumOff val="40000"/>
                  </a:schemeClr>
                </a:solidFill>
              </a:rPr>
              <a:t>  &lt;source </a:t>
            </a:r>
            <a:r>
              <a:rPr lang="en-GB" altLang="en-US" sz="2800" dirty="0" err="1">
                <a:solidFill>
                  <a:schemeClr val="tx2">
                    <a:lumMod val="60000"/>
                    <a:lumOff val="40000"/>
                  </a:schemeClr>
                </a:solidFill>
              </a:rPr>
              <a:t>src</a:t>
            </a:r>
            <a:r>
              <a:rPr lang="en-GB" altLang="en-US" sz="2800" dirty="0">
                <a:solidFill>
                  <a:schemeClr val="tx2">
                    <a:lumMod val="60000"/>
                    <a:lumOff val="40000"/>
                  </a:schemeClr>
                </a:solidFill>
              </a:rPr>
              <a:t>="song.mp3" type="audio/mpeg" /&gt;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Your browser does not support the audio element.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solidFill>
                  <a:schemeClr val="tx2">
                    <a:lumMod val="60000"/>
                    <a:lumOff val="40000"/>
                  </a:schemeClr>
                </a:solidFill>
              </a:rPr>
              <a:t>&lt;/audio&gt; </a:t>
            </a:r>
          </a:p>
        </p:txBody>
      </p:sp>
    </p:spTree>
    <p:extLst>
      <p:ext uri="{BB962C8B-B14F-4D97-AF65-F5344CB8AC3E}">
        <p14:creationId xmlns:p14="http://schemas.microsoft.com/office/powerpoint/2010/main" val="400654004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1"/>
          <p:cNvSpPr>
            <a:spLocks noGrp="1" noChangeArrowheads="1"/>
          </p:cNvSpPr>
          <p:nvPr>
            <p:ph type="title"/>
          </p:nvPr>
        </p:nvSpPr>
        <p:spPr>
          <a:xfrm>
            <a:off x="608641" y="313954"/>
            <a:ext cx="10972799" cy="1064272"/>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Audio</a:t>
            </a:r>
          </a:p>
        </p:txBody>
      </p:sp>
      <p:sp>
        <p:nvSpPr>
          <p:cNvPr id="41986" name="Rectangle 2"/>
          <p:cNvSpPr>
            <a:spLocks noGrp="1" noChangeArrowheads="1"/>
          </p:cNvSpPr>
          <p:nvPr>
            <p:ph type="subTitle" idx="4294967295"/>
          </p:nvPr>
        </p:nvSpPr>
        <p:spPr bwMode="auto">
          <a:xfrm>
            <a:off x="1096321" y="1657615"/>
            <a:ext cx="10053120" cy="443278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a:solidFill>
                  <a:srgbClr val="CCCCFF"/>
                </a:solidFill>
              </a:rPr>
              <a:t>Another fact:</a:t>
            </a:r>
            <a:r>
              <a:rPr lang="en-GB" altLang="en-US"/>
              <a:t> Internet Explorer 8 does not support the audio element. In IE 9, there will be support for audio element.</a:t>
            </a:r>
          </a:p>
        </p:txBody>
      </p:sp>
    </p:spTree>
    <p:extLst>
      <p:ext uri="{BB962C8B-B14F-4D97-AF65-F5344CB8AC3E}">
        <p14:creationId xmlns:p14="http://schemas.microsoft.com/office/powerpoint/2010/main" val="345963712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1"/>
          <p:cNvSpPr>
            <a:spLocks noGrp="1" noChangeArrowheads="1"/>
          </p:cNvSpPr>
          <p:nvPr>
            <p:ph type="title"/>
          </p:nvPr>
        </p:nvSpPr>
        <p:spPr>
          <a:xfrm>
            <a:off x="608641" y="273629"/>
            <a:ext cx="10972799" cy="1146360"/>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Audio</a:t>
            </a:r>
          </a:p>
        </p:txBody>
      </p:sp>
      <p:pic>
        <p:nvPicPr>
          <p:cNvPr id="430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4320" y="2482821"/>
            <a:ext cx="9936001" cy="247706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5339834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1"/>
          <p:cNvSpPr>
            <a:spLocks noGrp="1" noChangeArrowheads="1"/>
          </p:cNvSpPr>
          <p:nvPr>
            <p:ph type="title"/>
          </p:nvPr>
        </p:nvSpPr>
        <p:spPr>
          <a:xfrm>
            <a:off x="608641" y="273629"/>
            <a:ext cx="10972799" cy="1146360"/>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Canvas</a:t>
            </a:r>
          </a:p>
        </p:txBody>
      </p:sp>
      <p:sp>
        <p:nvSpPr>
          <p:cNvPr id="44034" name="Rectangle 2"/>
          <p:cNvSpPr>
            <a:spLocks noGrp="1" noChangeArrowheads="1"/>
          </p:cNvSpPr>
          <p:nvPr>
            <p:ph type="subTitle" idx="4294967295"/>
          </p:nvPr>
        </p:nvSpPr>
        <p:spPr bwMode="auto">
          <a:xfrm>
            <a:off x="1096321" y="1657615"/>
            <a:ext cx="10053120" cy="443278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dirty="0"/>
              <a:t>The HTML5 canvas element </a:t>
            </a:r>
            <a:r>
              <a:rPr lang="en-GB" altLang="en-US" b="1" dirty="0"/>
              <a:t>uses JavaScript </a:t>
            </a:r>
            <a:r>
              <a:rPr lang="en-GB" altLang="en-US" dirty="0"/>
              <a:t>to draw graphics on a web page.</a:t>
            </a:r>
          </a:p>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dirty="0"/>
              <a:t>A canvas is a rectangular area, and you control every pixel of it.</a:t>
            </a:r>
          </a:p>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a:p>
            <a:pPr>
              <a:spcAft>
                <a:spcPct val="0"/>
              </a:spcAft>
              <a:buFont typeface="Wingdings" panose="05000000000000000000" pitchFamily="2" charset="2"/>
              <a:buChar char="q"/>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dirty="0"/>
              <a:t>The canvas element has several methods for drawing paths, boxes, circles, characters, and adding images.</a:t>
            </a:r>
          </a:p>
        </p:txBody>
      </p:sp>
    </p:spTree>
    <p:extLst>
      <p:ext uri="{BB962C8B-B14F-4D97-AF65-F5344CB8AC3E}">
        <p14:creationId xmlns:p14="http://schemas.microsoft.com/office/powerpoint/2010/main" val="194515022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1"/>
          <p:cNvSpPr>
            <a:spLocks noGrp="1" noChangeArrowheads="1"/>
          </p:cNvSpPr>
          <p:nvPr>
            <p:ph type="title"/>
          </p:nvPr>
        </p:nvSpPr>
        <p:spPr>
          <a:xfrm>
            <a:off x="608641" y="313954"/>
            <a:ext cx="10972799" cy="1064272"/>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Canvas</a:t>
            </a:r>
          </a:p>
        </p:txBody>
      </p:sp>
      <p:sp>
        <p:nvSpPr>
          <p:cNvPr id="45058" name="Rectangle 2"/>
          <p:cNvSpPr>
            <a:spLocks noGrp="1" noChangeArrowheads="1"/>
          </p:cNvSpPr>
          <p:nvPr>
            <p:ph type="subTitle" idx="4294967295"/>
          </p:nvPr>
        </p:nvSpPr>
        <p:spPr bwMode="auto">
          <a:xfrm>
            <a:off x="1096321" y="1657615"/>
            <a:ext cx="10053120" cy="443278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dirty="0"/>
              <a:t>Adding a canvas element to the HTML5 page.</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dirty="0"/>
              <a:t>Specify the id, width, height of the element</a:t>
            </a:r>
            <a:r>
              <a:rPr lang="en-GB" altLang="en-US" dirty="0" smtClean="0"/>
              <a: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smtClean="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b="1" dirty="0" smtClean="0"/>
              <a:t>Syntax:</a:t>
            </a:r>
            <a:endParaRPr lang="en-GB" altLang="en-US" sz="2800" b="1"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a:p>
            <a:pPr marL="292608" lvl="1"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b="1" dirty="0">
                <a:solidFill>
                  <a:schemeClr val="tx2">
                    <a:lumMod val="60000"/>
                    <a:lumOff val="40000"/>
                  </a:schemeClr>
                </a:solidFill>
              </a:rPr>
              <a:t>&lt;canvas id="</a:t>
            </a:r>
            <a:r>
              <a:rPr lang="en-GB" altLang="en-US" sz="2800" b="1" dirty="0" err="1">
                <a:solidFill>
                  <a:schemeClr val="tx2">
                    <a:lumMod val="60000"/>
                    <a:lumOff val="40000"/>
                  </a:schemeClr>
                </a:solidFill>
              </a:rPr>
              <a:t>myCanvas</a:t>
            </a:r>
            <a:r>
              <a:rPr lang="en-GB" altLang="en-US" sz="2800" b="1" dirty="0">
                <a:solidFill>
                  <a:schemeClr val="tx2">
                    <a:lumMod val="60000"/>
                    <a:lumOff val="40000"/>
                  </a:schemeClr>
                </a:solidFill>
              </a:rPr>
              <a:t>" width="200" height="100"&gt;&lt;/canvas&gt; </a:t>
            </a:r>
          </a:p>
        </p:txBody>
      </p:sp>
    </p:spTree>
    <p:extLst>
      <p:ext uri="{BB962C8B-B14F-4D97-AF65-F5344CB8AC3E}">
        <p14:creationId xmlns:p14="http://schemas.microsoft.com/office/powerpoint/2010/main" val="114196894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1"/>
          <p:cNvSpPr>
            <a:spLocks noGrp="1" noChangeArrowheads="1"/>
          </p:cNvSpPr>
          <p:nvPr>
            <p:ph type="title"/>
          </p:nvPr>
        </p:nvSpPr>
        <p:spPr>
          <a:xfrm>
            <a:off x="608641" y="313954"/>
            <a:ext cx="10972799" cy="1064272"/>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Canvas</a:t>
            </a:r>
          </a:p>
        </p:txBody>
      </p:sp>
      <p:sp>
        <p:nvSpPr>
          <p:cNvPr id="46082" name="Rectangle 2"/>
          <p:cNvSpPr>
            <a:spLocks noGrp="1" noChangeArrowheads="1"/>
          </p:cNvSpPr>
          <p:nvPr>
            <p:ph type="subTitle" idx="4294967295"/>
          </p:nvPr>
        </p:nvSpPr>
        <p:spPr bwMode="auto">
          <a:xfrm>
            <a:off x="1096321" y="1657615"/>
            <a:ext cx="10053120" cy="443278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ormAutofit lnSpcReduction="10000"/>
          </a:bodyPr>
          <a:lstStyle/>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The canvas element has no drawing abilities of its own. All drawing must be done inside a JavaScript: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&lt;script type="text/</a:t>
            </a:r>
            <a:r>
              <a:rPr lang="en-GB" altLang="en-US" sz="2800" dirty="0" err="1"/>
              <a:t>javascript</a:t>
            </a:r>
            <a:r>
              <a:rPr lang="en-GB" altLang="en-US" sz="2800" dirty="0"/>
              <a:t>"&gt;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err="1"/>
              <a:t>var</a:t>
            </a:r>
            <a:r>
              <a:rPr lang="en-GB" altLang="en-US" sz="2800" dirty="0"/>
              <a:t> c=</a:t>
            </a:r>
            <a:r>
              <a:rPr lang="en-GB" altLang="en-US" sz="2800" dirty="0" err="1"/>
              <a:t>document.getElementById</a:t>
            </a:r>
            <a:r>
              <a:rPr lang="en-GB" altLang="en-US" sz="2800" dirty="0"/>
              <a:t>("</a:t>
            </a:r>
            <a:r>
              <a:rPr lang="en-GB" altLang="en-US" sz="2800" dirty="0" err="1"/>
              <a:t>myCanvas</a:t>
            </a:r>
            <a:r>
              <a:rPr lang="en-GB" altLang="en-US" sz="2800" dirty="0"/>
              <a: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err="1"/>
              <a:t>var</a:t>
            </a:r>
            <a:r>
              <a:rPr lang="en-GB" altLang="en-US" sz="2800" dirty="0"/>
              <a:t> </a:t>
            </a:r>
            <a:r>
              <a:rPr lang="en-GB" altLang="en-US" sz="2800" dirty="0" err="1"/>
              <a:t>cxt</a:t>
            </a:r>
            <a:r>
              <a:rPr lang="en-GB" altLang="en-US" sz="2800" dirty="0"/>
              <a:t>=</a:t>
            </a:r>
            <a:r>
              <a:rPr lang="en-GB" altLang="en-US" sz="2800" dirty="0" err="1"/>
              <a:t>c.getContext</a:t>
            </a:r>
            <a:r>
              <a:rPr lang="en-GB" altLang="en-US" sz="2800" dirty="0"/>
              <a:t>("2d");</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err="1"/>
              <a:t>cxt.fillStyle</a:t>
            </a:r>
            <a:r>
              <a:rPr lang="en-GB" altLang="en-US" sz="2800" dirty="0"/>
              <a:t>="#FF0000";</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err="1"/>
              <a:t>cxt.fillRect</a:t>
            </a:r>
            <a:r>
              <a:rPr lang="en-GB" altLang="en-US" sz="2800" dirty="0"/>
              <a:t>(0,0,150,75);</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&lt;/script</a:t>
            </a:r>
            <a:r>
              <a:rPr lang="en-GB" altLang="en-US" sz="2800" dirty="0" smtClean="0"/>
              <a:t>&gt;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dirty="0"/>
          </a:p>
        </p:txBody>
      </p:sp>
    </p:spTree>
    <p:extLst>
      <p:ext uri="{BB962C8B-B14F-4D97-AF65-F5344CB8AC3E}">
        <p14:creationId xmlns:p14="http://schemas.microsoft.com/office/powerpoint/2010/main" val="249452931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1"/>
          <p:cNvSpPr>
            <a:spLocks noGrp="1" noChangeArrowheads="1"/>
          </p:cNvSpPr>
          <p:nvPr>
            <p:ph type="title"/>
          </p:nvPr>
        </p:nvSpPr>
        <p:spPr>
          <a:xfrm>
            <a:off x="608641" y="313954"/>
            <a:ext cx="10972799" cy="1064272"/>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Canvas</a:t>
            </a:r>
          </a:p>
        </p:txBody>
      </p:sp>
      <p:sp>
        <p:nvSpPr>
          <p:cNvPr id="46082" name="Rectangle 2"/>
          <p:cNvSpPr>
            <a:spLocks noGrp="1" noChangeArrowheads="1"/>
          </p:cNvSpPr>
          <p:nvPr>
            <p:ph type="subTitle" idx="4294967295"/>
          </p:nvPr>
        </p:nvSpPr>
        <p:spPr bwMode="auto">
          <a:xfrm>
            <a:off x="1096321" y="1657615"/>
            <a:ext cx="10053120" cy="468140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ormAutofit/>
          </a:bodyPr>
          <a:lstStyle/>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dirty="0"/>
          </a:p>
        </p:txBody>
      </p:sp>
      <p:sp>
        <p:nvSpPr>
          <p:cNvPr id="2" name="Rectangle 1"/>
          <p:cNvSpPr/>
          <p:nvPr/>
        </p:nvSpPr>
        <p:spPr>
          <a:xfrm>
            <a:off x="1194485" y="1764599"/>
            <a:ext cx="9469395" cy="5078313"/>
          </a:xfrm>
          <a:prstGeom prst="rect">
            <a:avLst/>
          </a:prstGeom>
        </p:spPr>
        <p:txBody>
          <a:bodyPr wrap="square">
            <a:spAutoFit/>
          </a:bodyPr>
          <a:lstStyle/>
          <a:p>
            <a:r>
              <a:rPr lang="en-GB" dirty="0"/>
              <a:t>&lt;!DOCTYPE html&gt;</a:t>
            </a:r>
          </a:p>
          <a:p>
            <a:r>
              <a:rPr lang="en-GB" dirty="0"/>
              <a:t>&lt;head&gt;</a:t>
            </a:r>
          </a:p>
          <a:p>
            <a:r>
              <a:rPr lang="en-GB" dirty="0"/>
              <a:t>&lt;title&gt;Canvas tutorial example&lt;/title&gt;</a:t>
            </a:r>
          </a:p>
          <a:p>
            <a:r>
              <a:rPr lang="en-GB" dirty="0"/>
              <a:t>&lt;script type=”text/</a:t>
            </a:r>
            <a:r>
              <a:rPr lang="en-GB" dirty="0" err="1"/>
              <a:t>javascript</a:t>
            </a:r>
            <a:r>
              <a:rPr lang="en-GB" dirty="0"/>
              <a:t>”&gt;</a:t>
            </a:r>
          </a:p>
          <a:p>
            <a:r>
              <a:rPr lang="en-GB" dirty="0"/>
              <a:t>function draw(){</a:t>
            </a:r>
          </a:p>
          <a:p>
            <a:r>
              <a:rPr lang="en-GB" dirty="0" err="1"/>
              <a:t>var</a:t>
            </a:r>
            <a:r>
              <a:rPr lang="en-GB" dirty="0"/>
              <a:t> canvas = </a:t>
            </a:r>
            <a:r>
              <a:rPr lang="en-GB" dirty="0" err="1"/>
              <a:t>document.getElementById</a:t>
            </a:r>
            <a:r>
              <a:rPr lang="en-GB" dirty="0"/>
              <a:t>('example');</a:t>
            </a:r>
          </a:p>
          <a:p>
            <a:r>
              <a:rPr lang="en-GB" dirty="0"/>
              <a:t>if (</a:t>
            </a:r>
            <a:r>
              <a:rPr lang="en-GB" dirty="0" err="1"/>
              <a:t>canvas.getContext</a:t>
            </a:r>
            <a:r>
              <a:rPr lang="en-GB" dirty="0"/>
              <a:t>){</a:t>
            </a:r>
          </a:p>
          <a:p>
            <a:r>
              <a:rPr lang="en-GB" dirty="0" err="1"/>
              <a:t>var</a:t>
            </a:r>
            <a:r>
              <a:rPr lang="en-GB" dirty="0"/>
              <a:t> </a:t>
            </a:r>
            <a:r>
              <a:rPr lang="en-GB" dirty="0" err="1"/>
              <a:t>ctx</a:t>
            </a:r>
            <a:r>
              <a:rPr lang="en-GB" dirty="0"/>
              <a:t> = </a:t>
            </a:r>
            <a:r>
              <a:rPr lang="en-GB" dirty="0" err="1"/>
              <a:t>canvas.getContext</a:t>
            </a:r>
            <a:r>
              <a:rPr lang="en-GB" dirty="0"/>
              <a:t>('2d');</a:t>
            </a:r>
          </a:p>
          <a:p>
            <a:r>
              <a:rPr lang="en-GB" dirty="0" smtClean="0"/>
              <a:t>} }</a:t>
            </a:r>
            <a:endParaRPr lang="en-GB" dirty="0"/>
          </a:p>
          <a:p>
            <a:r>
              <a:rPr lang="en-GB" dirty="0"/>
              <a:t>&lt;/script&gt;</a:t>
            </a:r>
          </a:p>
          <a:p>
            <a:r>
              <a:rPr lang="en-GB" dirty="0"/>
              <a:t>&lt;style type="text/</a:t>
            </a:r>
            <a:r>
              <a:rPr lang="en-GB" dirty="0" err="1"/>
              <a:t>css</a:t>
            </a:r>
            <a:r>
              <a:rPr lang="en-GB" dirty="0"/>
              <a:t>"&gt;</a:t>
            </a:r>
          </a:p>
          <a:p>
            <a:r>
              <a:rPr lang="en-GB" dirty="0"/>
              <a:t>canvas { border: 2px solid red; }</a:t>
            </a:r>
          </a:p>
          <a:p>
            <a:r>
              <a:rPr lang="en-GB" dirty="0"/>
              <a:t>&lt;/style&gt;</a:t>
            </a:r>
          </a:p>
          <a:p>
            <a:r>
              <a:rPr lang="en-GB" dirty="0"/>
              <a:t>&lt;/head&gt;</a:t>
            </a:r>
          </a:p>
          <a:p>
            <a:r>
              <a:rPr lang="en-GB" dirty="0"/>
              <a:t>&lt;body </a:t>
            </a:r>
            <a:r>
              <a:rPr lang="en-GB" dirty="0" err="1"/>
              <a:t>onload</a:t>
            </a:r>
            <a:r>
              <a:rPr lang="en-GB" dirty="0"/>
              <a:t>="draw();"&gt;</a:t>
            </a:r>
          </a:p>
          <a:p>
            <a:r>
              <a:rPr lang="en-GB" dirty="0"/>
              <a:t>&lt;canvas id=”example” width=”250" height=”250"&gt;&lt;/canvas&gt;</a:t>
            </a:r>
          </a:p>
          <a:p>
            <a:r>
              <a:rPr lang="en-GB" dirty="0"/>
              <a:t>&lt;/body&gt;</a:t>
            </a:r>
          </a:p>
          <a:p>
            <a:r>
              <a:rPr lang="en-GB" dirty="0"/>
              <a:t>&lt;/html&gt;</a:t>
            </a:r>
          </a:p>
        </p:txBody>
      </p:sp>
    </p:spTree>
    <p:extLst>
      <p:ext uri="{BB962C8B-B14F-4D97-AF65-F5344CB8AC3E}">
        <p14:creationId xmlns:p14="http://schemas.microsoft.com/office/powerpoint/2010/main" val="346312705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Embed Element</a:t>
            </a:r>
            <a:br>
              <a:rPr lang="en-US" dirty="0"/>
            </a:br>
            <a:endParaRPr lang="en-GB" dirty="0"/>
          </a:p>
        </p:txBody>
      </p:sp>
      <p:sp>
        <p:nvSpPr>
          <p:cNvPr id="3" name="Content Placeholder 2"/>
          <p:cNvSpPr>
            <a:spLocks noGrp="1"/>
          </p:cNvSpPr>
          <p:nvPr>
            <p:ph idx="1"/>
          </p:nvPr>
        </p:nvSpPr>
        <p:spPr>
          <a:xfrm>
            <a:off x="1097280" y="1845733"/>
            <a:ext cx="10058400" cy="4480925"/>
          </a:xfrm>
        </p:spPr>
        <p:txBody>
          <a:bodyPr>
            <a:noAutofit/>
          </a:bodyPr>
          <a:lstStyle/>
          <a:p>
            <a:r>
              <a:rPr lang="en-US" sz="1200" dirty="0"/>
              <a:t>HTML5 embed element represents external non-HTML application or interactive content. A good example is when embed element is used to represent a flash movie(SWF file</a:t>
            </a:r>
            <a:r>
              <a:rPr lang="en-US" sz="1200" dirty="0" smtClean="0"/>
              <a:t>).</a:t>
            </a:r>
          </a:p>
          <a:p>
            <a:r>
              <a:rPr lang="en-GB" sz="1200" dirty="0"/>
              <a:t>&lt;!DOCTYPE HTML&gt;</a:t>
            </a:r>
          </a:p>
          <a:p>
            <a:r>
              <a:rPr lang="en-GB" sz="1200" dirty="0"/>
              <a:t>&lt;html </a:t>
            </a:r>
            <a:r>
              <a:rPr lang="en-GB" sz="1200" dirty="0" err="1"/>
              <a:t>lang</a:t>
            </a:r>
            <a:r>
              <a:rPr lang="en-GB" sz="1200" dirty="0"/>
              <a:t>="</a:t>
            </a:r>
            <a:r>
              <a:rPr lang="en-GB" sz="1200" dirty="0" err="1"/>
              <a:t>en</a:t>
            </a:r>
            <a:r>
              <a:rPr lang="en-GB" sz="1200" dirty="0"/>
              <a:t>"&gt;</a:t>
            </a:r>
          </a:p>
          <a:p>
            <a:r>
              <a:rPr lang="en-GB" sz="1200" dirty="0"/>
              <a:t>&lt;head&gt;</a:t>
            </a:r>
          </a:p>
          <a:p>
            <a:r>
              <a:rPr lang="en-GB" sz="1200" dirty="0"/>
              <a:t>&lt;meta charset=utf-8&gt;</a:t>
            </a:r>
          </a:p>
          <a:p>
            <a:r>
              <a:rPr lang="en-GB" sz="1200" dirty="0"/>
              <a:t>&lt;title&gt;HTML5 embed element example&lt;/title&gt;</a:t>
            </a:r>
          </a:p>
          <a:p>
            <a:r>
              <a:rPr lang="en-GB" sz="1200" dirty="0"/>
              <a:t>&lt;/head&gt;</a:t>
            </a:r>
          </a:p>
          <a:p>
            <a:r>
              <a:rPr lang="en-GB" sz="1200" dirty="0"/>
              <a:t>&lt;body&gt;</a:t>
            </a:r>
          </a:p>
          <a:p>
            <a:r>
              <a:rPr lang="en-GB" sz="1200" dirty="0"/>
              <a:t>&lt;article&gt;</a:t>
            </a:r>
          </a:p>
          <a:p>
            <a:r>
              <a:rPr lang="en-GB" sz="1200" dirty="0"/>
              <a:t>&lt;embed </a:t>
            </a:r>
            <a:r>
              <a:rPr lang="en-GB" sz="1200" dirty="0" err="1"/>
              <a:t>src</a:t>
            </a:r>
            <a:r>
              <a:rPr lang="en-GB" sz="1200" dirty="0"/>
              <a:t>="demo.swf"  height="300px" width="500px" /&gt;</a:t>
            </a:r>
          </a:p>
          <a:p>
            <a:r>
              <a:rPr lang="en-GB" sz="1200" dirty="0"/>
              <a:t>&lt;/article&gt;</a:t>
            </a:r>
          </a:p>
          <a:p>
            <a:r>
              <a:rPr lang="en-GB" sz="1200" dirty="0"/>
              <a:t>&lt;/body&gt;</a:t>
            </a:r>
          </a:p>
          <a:p>
            <a:r>
              <a:rPr lang="en-GB" sz="1200" dirty="0"/>
              <a:t>&lt;/html&gt;</a:t>
            </a:r>
          </a:p>
        </p:txBody>
      </p:sp>
    </p:spTree>
    <p:extLst>
      <p:ext uri="{BB962C8B-B14F-4D97-AF65-F5344CB8AC3E}">
        <p14:creationId xmlns:p14="http://schemas.microsoft.com/office/powerpoint/2010/main" val="19298948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Datalist</a:t>
            </a:r>
            <a:r>
              <a:rPr lang="en-US" dirty="0"/>
              <a:t> Element</a:t>
            </a:r>
            <a:br>
              <a:rPr lang="en-US" dirty="0"/>
            </a:br>
            <a:endParaRPr lang="en-GB" dirty="0"/>
          </a:p>
        </p:txBody>
      </p:sp>
      <p:sp>
        <p:nvSpPr>
          <p:cNvPr id="3" name="Content Placeholder 2"/>
          <p:cNvSpPr>
            <a:spLocks noGrp="1"/>
          </p:cNvSpPr>
          <p:nvPr>
            <p:ph idx="1"/>
          </p:nvPr>
        </p:nvSpPr>
        <p:spPr>
          <a:xfrm>
            <a:off x="1097280" y="1845733"/>
            <a:ext cx="10058400" cy="5098763"/>
          </a:xfrm>
        </p:spPr>
        <p:txBody>
          <a:bodyPr>
            <a:noAutofit/>
          </a:bodyPr>
          <a:lstStyle/>
          <a:p>
            <a:pPr>
              <a:lnSpc>
                <a:spcPct val="100000"/>
              </a:lnSpc>
            </a:pPr>
            <a:r>
              <a:rPr lang="en-US" sz="1400" dirty="0"/>
              <a:t>The HTML </a:t>
            </a:r>
            <a:r>
              <a:rPr lang="en-US" sz="1400" dirty="0" err="1"/>
              <a:t>Datalist</a:t>
            </a:r>
            <a:r>
              <a:rPr lang="en-US" sz="1400" dirty="0"/>
              <a:t> Element (&lt;</a:t>
            </a:r>
            <a:r>
              <a:rPr lang="en-US" sz="1400" dirty="0" err="1"/>
              <a:t>datalist</a:t>
            </a:r>
            <a:r>
              <a:rPr lang="en-US" sz="1400" dirty="0"/>
              <a:t>&gt;) contains a set of &lt;option&gt; elements that represent the possible options for the value of other controls.</a:t>
            </a:r>
            <a:endParaRPr lang="en-GB" sz="1400" dirty="0" smtClean="0"/>
          </a:p>
          <a:p>
            <a:pPr>
              <a:lnSpc>
                <a:spcPct val="100000"/>
              </a:lnSpc>
              <a:spcBef>
                <a:spcPts val="0"/>
              </a:spcBef>
              <a:spcAft>
                <a:spcPts val="0"/>
              </a:spcAft>
            </a:pPr>
            <a:r>
              <a:rPr lang="en-GB" sz="1600" b="1" dirty="0" smtClean="0">
                <a:solidFill>
                  <a:schemeClr val="accent2"/>
                </a:solidFill>
              </a:rPr>
              <a:t>&lt;!</a:t>
            </a:r>
            <a:r>
              <a:rPr lang="en-GB" sz="1600" b="1" dirty="0" err="1">
                <a:solidFill>
                  <a:schemeClr val="accent2"/>
                </a:solidFill>
              </a:rPr>
              <a:t>doctype</a:t>
            </a:r>
            <a:r>
              <a:rPr lang="en-GB" sz="1600" b="1" dirty="0">
                <a:solidFill>
                  <a:schemeClr val="accent2"/>
                </a:solidFill>
              </a:rPr>
              <a:t> html&gt;</a:t>
            </a:r>
          </a:p>
          <a:p>
            <a:pPr>
              <a:lnSpc>
                <a:spcPct val="100000"/>
              </a:lnSpc>
              <a:spcBef>
                <a:spcPts val="0"/>
              </a:spcBef>
              <a:spcAft>
                <a:spcPts val="0"/>
              </a:spcAft>
            </a:pPr>
            <a:r>
              <a:rPr lang="en-GB" sz="1600" b="1" dirty="0">
                <a:solidFill>
                  <a:schemeClr val="accent2"/>
                </a:solidFill>
              </a:rPr>
              <a:t>&lt;html&gt;</a:t>
            </a:r>
          </a:p>
          <a:p>
            <a:pPr>
              <a:lnSpc>
                <a:spcPct val="100000"/>
              </a:lnSpc>
              <a:spcBef>
                <a:spcPts val="0"/>
              </a:spcBef>
              <a:spcAft>
                <a:spcPts val="0"/>
              </a:spcAft>
            </a:pPr>
            <a:r>
              <a:rPr lang="en-GB" sz="1600" b="1" dirty="0">
                <a:solidFill>
                  <a:schemeClr val="accent2"/>
                </a:solidFill>
              </a:rPr>
              <a:t>&lt;head&gt;</a:t>
            </a:r>
          </a:p>
          <a:p>
            <a:pPr>
              <a:lnSpc>
                <a:spcPct val="100000"/>
              </a:lnSpc>
              <a:spcBef>
                <a:spcPts val="0"/>
              </a:spcBef>
              <a:spcAft>
                <a:spcPts val="0"/>
              </a:spcAft>
            </a:pPr>
            <a:r>
              <a:rPr lang="en-GB" sz="1600" b="1" dirty="0">
                <a:solidFill>
                  <a:schemeClr val="accent2"/>
                </a:solidFill>
              </a:rPr>
              <a:t>&lt;title&gt;HTML5 </a:t>
            </a:r>
            <a:r>
              <a:rPr lang="en-GB" sz="1600" b="1" dirty="0" err="1">
                <a:solidFill>
                  <a:schemeClr val="accent2"/>
                </a:solidFill>
              </a:rPr>
              <a:t>datalist</a:t>
            </a:r>
            <a:r>
              <a:rPr lang="en-GB" sz="1600" b="1" dirty="0">
                <a:solidFill>
                  <a:schemeClr val="accent2"/>
                </a:solidFill>
              </a:rPr>
              <a:t> example&lt;/title&gt;</a:t>
            </a:r>
          </a:p>
          <a:p>
            <a:pPr>
              <a:lnSpc>
                <a:spcPct val="100000"/>
              </a:lnSpc>
              <a:spcBef>
                <a:spcPts val="0"/>
              </a:spcBef>
              <a:spcAft>
                <a:spcPts val="0"/>
              </a:spcAft>
            </a:pPr>
            <a:r>
              <a:rPr lang="en-GB" sz="1600" b="1" dirty="0">
                <a:solidFill>
                  <a:schemeClr val="accent2"/>
                </a:solidFill>
              </a:rPr>
              <a:t>&lt;/head&gt;</a:t>
            </a:r>
          </a:p>
          <a:p>
            <a:pPr>
              <a:lnSpc>
                <a:spcPct val="100000"/>
              </a:lnSpc>
              <a:spcBef>
                <a:spcPts val="0"/>
              </a:spcBef>
              <a:spcAft>
                <a:spcPts val="0"/>
              </a:spcAft>
            </a:pPr>
            <a:r>
              <a:rPr lang="en-GB" sz="1600" b="1" dirty="0">
                <a:solidFill>
                  <a:schemeClr val="accent2"/>
                </a:solidFill>
              </a:rPr>
              <a:t>&lt;body&gt;</a:t>
            </a:r>
          </a:p>
          <a:p>
            <a:pPr>
              <a:lnSpc>
                <a:spcPct val="100000"/>
              </a:lnSpc>
              <a:spcBef>
                <a:spcPts val="0"/>
              </a:spcBef>
              <a:spcAft>
                <a:spcPts val="0"/>
              </a:spcAft>
            </a:pPr>
            <a:r>
              <a:rPr lang="en-GB" sz="1600" b="1" dirty="0">
                <a:solidFill>
                  <a:schemeClr val="accent2"/>
                </a:solidFill>
              </a:rPr>
              <a:t>&lt;input list="Languages" /&gt;</a:t>
            </a:r>
          </a:p>
          <a:p>
            <a:pPr>
              <a:lnSpc>
                <a:spcPct val="100000"/>
              </a:lnSpc>
              <a:spcBef>
                <a:spcPts val="0"/>
              </a:spcBef>
              <a:spcAft>
                <a:spcPts val="0"/>
              </a:spcAft>
            </a:pPr>
            <a:r>
              <a:rPr lang="en-GB" sz="1600" b="1" dirty="0">
                <a:solidFill>
                  <a:schemeClr val="accent2"/>
                </a:solidFill>
              </a:rPr>
              <a:t>&lt;</a:t>
            </a:r>
            <a:r>
              <a:rPr lang="en-GB" sz="1600" b="1" dirty="0" err="1">
                <a:solidFill>
                  <a:schemeClr val="accent2"/>
                </a:solidFill>
              </a:rPr>
              <a:t>datalist</a:t>
            </a:r>
            <a:r>
              <a:rPr lang="en-GB" sz="1600" b="1" dirty="0">
                <a:solidFill>
                  <a:schemeClr val="accent2"/>
                </a:solidFill>
              </a:rPr>
              <a:t> id="Languages"&gt;</a:t>
            </a:r>
          </a:p>
          <a:p>
            <a:pPr>
              <a:lnSpc>
                <a:spcPct val="100000"/>
              </a:lnSpc>
              <a:spcBef>
                <a:spcPts val="0"/>
              </a:spcBef>
              <a:spcAft>
                <a:spcPts val="0"/>
              </a:spcAft>
            </a:pPr>
            <a:r>
              <a:rPr lang="en-GB" sz="1600" b="1" dirty="0">
                <a:solidFill>
                  <a:schemeClr val="accent2"/>
                </a:solidFill>
              </a:rPr>
              <a:t>&lt;option value="PHP"&gt;</a:t>
            </a:r>
          </a:p>
          <a:p>
            <a:pPr>
              <a:lnSpc>
                <a:spcPct val="100000"/>
              </a:lnSpc>
              <a:spcBef>
                <a:spcPts val="0"/>
              </a:spcBef>
              <a:spcAft>
                <a:spcPts val="0"/>
              </a:spcAft>
            </a:pPr>
            <a:r>
              <a:rPr lang="en-GB" sz="1600" b="1" dirty="0">
                <a:solidFill>
                  <a:schemeClr val="accent2"/>
                </a:solidFill>
              </a:rPr>
              <a:t>&lt;option value="ASP"&gt;</a:t>
            </a:r>
          </a:p>
          <a:p>
            <a:pPr>
              <a:lnSpc>
                <a:spcPct val="100000"/>
              </a:lnSpc>
              <a:spcBef>
                <a:spcPts val="0"/>
              </a:spcBef>
              <a:spcAft>
                <a:spcPts val="0"/>
              </a:spcAft>
            </a:pPr>
            <a:r>
              <a:rPr lang="en-GB" sz="1600" b="1" dirty="0">
                <a:solidFill>
                  <a:schemeClr val="accent2"/>
                </a:solidFill>
              </a:rPr>
              <a:t>&lt;option value="Python"&gt;</a:t>
            </a:r>
          </a:p>
          <a:p>
            <a:pPr>
              <a:lnSpc>
                <a:spcPct val="100000"/>
              </a:lnSpc>
              <a:spcBef>
                <a:spcPts val="0"/>
              </a:spcBef>
              <a:spcAft>
                <a:spcPts val="0"/>
              </a:spcAft>
            </a:pPr>
            <a:r>
              <a:rPr lang="en-GB" sz="1600" b="1" dirty="0">
                <a:solidFill>
                  <a:schemeClr val="accent2"/>
                </a:solidFill>
              </a:rPr>
              <a:t>&lt;option value="Ruby"&gt;</a:t>
            </a:r>
          </a:p>
          <a:p>
            <a:pPr>
              <a:lnSpc>
                <a:spcPct val="100000"/>
              </a:lnSpc>
              <a:spcBef>
                <a:spcPts val="0"/>
              </a:spcBef>
              <a:spcAft>
                <a:spcPts val="0"/>
              </a:spcAft>
            </a:pPr>
            <a:r>
              <a:rPr lang="en-GB" sz="1600" b="1" dirty="0">
                <a:solidFill>
                  <a:schemeClr val="accent2"/>
                </a:solidFill>
              </a:rPr>
              <a:t>&lt;option value="Java"&gt;</a:t>
            </a:r>
          </a:p>
          <a:p>
            <a:pPr>
              <a:lnSpc>
                <a:spcPct val="100000"/>
              </a:lnSpc>
              <a:spcBef>
                <a:spcPts val="0"/>
              </a:spcBef>
              <a:spcAft>
                <a:spcPts val="0"/>
              </a:spcAft>
            </a:pPr>
            <a:r>
              <a:rPr lang="en-GB" sz="1600" b="1" dirty="0">
                <a:solidFill>
                  <a:schemeClr val="accent2"/>
                </a:solidFill>
              </a:rPr>
              <a:t>&lt;/</a:t>
            </a:r>
            <a:r>
              <a:rPr lang="en-GB" sz="1600" b="1" dirty="0" err="1">
                <a:solidFill>
                  <a:schemeClr val="accent2"/>
                </a:solidFill>
              </a:rPr>
              <a:t>datalist</a:t>
            </a:r>
            <a:r>
              <a:rPr lang="en-GB" sz="1600" b="1" dirty="0">
                <a:solidFill>
                  <a:schemeClr val="accent2"/>
                </a:solidFill>
              </a:rPr>
              <a:t>&gt;</a:t>
            </a:r>
          </a:p>
          <a:p>
            <a:pPr>
              <a:lnSpc>
                <a:spcPct val="100000"/>
              </a:lnSpc>
              <a:spcBef>
                <a:spcPts val="0"/>
              </a:spcBef>
              <a:spcAft>
                <a:spcPts val="0"/>
              </a:spcAft>
            </a:pPr>
            <a:r>
              <a:rPr lang="en-GB" sz="1600" b="1" dirty="0">
                <a:solidFill>
                  <a:schemeClr val="accent2"/>
                </a:solidFill>
              </a:rPr>
              <a:t>&lt;/body&gt;</a:t>
            </a:r>
          </a:p>
          <a:p>
            <a:pPr>
              <a:lnSpc>
                <a:spcPct val="100000"/>
              </a:lnSpc>
              <a:spcBef>
                <a:spcPts val="0"/>
              </a:spcBef>
              <a:spcAft>
                <a:spcPts val="0"/>
              </a:spcAft>
            </a:pPr>
            <a:r>
              <a:rPr lang="en-GB" sz="1600" b="1" dirty="0">
                <a:solidFill>
                  <a:schemeClr val="accent2"/>
                </a:solidFill>
              </a:rPr>
              <a:t>&lt;/html&gt;</a:t>
            </a:r>
          </a:p>
        </p:txBody>
      </p:sp>
    </p:spTree>
    <p:extLst>
      <p:ext uri="{BB962C8B-B14F-4D97-AF65-F5344CB8AC3E}">
        <p14:creationId xmlns:p14="http://schemas.microsoft.com/office/powerpoint/2010/main" val="5506669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Figure Element</a:t>
            </a:r>
          </a:p>
        </p:txBody>
      </p:sp>
      <p:sp>
        <p:nvSpPr>
          <p:cNvPr id="3" name="Content Placeholder 2"/>
          <p:cNvSpPr>
            <a:spLocks noGrp="1"/>
          </p:cNvSpPr>
          <p:nvPr>
            <p:ph idx="1"/>
          </p:nvPr>
        </p:nvSpPr>
        <p:spPr/>
        <p:txBody>
          <a:bodyPr>
            <a:normAutofit fontScale="92500" lnSpcReduction="20000"/>
          </a:bodyPr>
          <a:lstStyle/>
          <a:p>
            <a:r>
              <a:rPr lang="en-US" dirty="0"/>
              <a:t>The HTML figure element represents an image, illustration, diagram or piece of code. Often figure element is accompanied by </a:t>
            </a:r>
            <a:r>
              <a:rPr lang="en-US" dirty="0" err="1"/>
              <a:t>figcaption</a:t>
            </a:r>
            <a:r>
              <a:rPr lang="en-US" dirty="0"/>
              <a:t> element</a:t>
            </a:r>
            <a:r>
              <a:rPr lang="en-US" dirty="0" smtClean="0"/>
              <a:t>.</a:t>
            </a:r>
          </a:p>
          <a:p>
            <a:r>
              <a:rPr lang="en-US" b="1" dirty="0">
                <a:solidFill>
                  <a:schemeClr val="accent2"/>
                </a:solidFill>
              </a:rPr>
              <a:t>&lt;!-- usage of figure --&gt;</a:t>
            </a:r>
          </a:p>
          <a:p>
            <a:r>
              <a:rPr lang="en-US" b="1" dirty="0">
                <a:solidFill>
                  <a:schemeClr val="accent2"/>
                </a:solidFill>
              </a:rPr>
              <a:t>&lt;figure&gt;</a:t>
            </a:r>
          </a:p>
          <a:p>
            <a:r>
              <a:rPr lang="en-US" b="1" dirty="0">
                <a:solidFill>
                  <a:schemeClr val="accent2"/>
                </a:solidFill>
              </a:rPr>
              <a:t>&lt;</a:t>
            </a:r>
            <a:r>
              <a:rPr lang="en-US" b="1" dirty="0" err="1">
                <a:solidFill>
                  <a:schemeClr val="accent2"/>
                </a:solidFill>
              </a:rPr>
              <a:t>img</a:t>
            </a:r>
            <a:r>
              <a:rPr lang="en-US" b="1" dirty="0">
                <a:solidFill>
                  <a:schemeClr val="accent2"/>
                </a:solidFill>
              </a:rPr>
              <a:t> </a:t>
            </a:r>
            <a:r>
              <a:rPr lang="en-US" b="1" dirty="0" err="1">
                <a:solidFill>
                  <a:schemeClr val="accent2"/>
                </a:solidFill>
              </a:rPr>
              <a:t>src</a:t>
            </a:r>
            <a:r>
              <a:rPr lang="en-US" b="1" dirty="0">
                <a:solidFill>
                  <a:schemeClr val="accent2"/>
                </a:solidFill>
              </a:rPr>
              <a:t>="picture.jpg" alt="An example picture"&gt;</a:t>
            </a:r>
          </a:p>
          <a:p>
            <a:r>
              <a:rPr lang="en-US" b="1" dirty="0">
                <a:solidFill>
                  <a:schemeClr val="accent2"/>
                </a:solidFill>
              </a:rPr>
              <a:t>&lt;/figure&gt;</a:t>
            </a:r>
          </a:p>
          <a:p>
            <a:r>
              <a:rPr lang="en-US" b="1" dirty="0">
                <a:solidFill>
                  <a:schemeClr val="accent2"/>
                </a:solidFill>
              </a:rPr>
              <a:t>&lt;!-- Usage of figure with </a:t>
            </a:r>
            <a:r>
              <a:rPr lang="en-US" b="1" dirty="0" err="1">
                <a:solidFill>
                  <a:schemeClr val="accent2"/>
                </a:solidFill>
              </a:rPr>
              <a:t>figcaption</a:t>
            </a:r>
            <a:r>
              <a:rPr lang="en-US" b="1" dirty="0">
                <a:solidFill>
                  <a:schemeClr val="accent2"/>
                </a:solidFill>
              </a:rPr>
              <a:t> --&gt;</a:t>
            </a:r>
          </a:p>
          <a:p>
            <a:r>
              <a:rPr lang="en-US" b="1" dirty="0">
                <a:solidFill>
                  <a:schemeClr val="accent2"/>
                </a:solidFill>
              </a:rPr>
              <a:t>&lt;figure&gt;</a:t>
            </a:r>
          </a:p>
          <a:p>
            <a:r>
              <a:rPr lang="en-US" b="1" dirty="0">
                <a:solidFill>
                  <a:schemeClr val="accent2"/>
                </a:solidFill>
              </a:rPr>
              <a:t>&lt;</a:t>
            </a:r>
            <a:r>
              <a:rPr lang="en-US" b="1" dirty="0" err="1">
                <a:solidFill>
                  <a:schemeClr val="accent2"/>
                </a:solidFill>
              </a:rPr>
              <a:t>img</a:t>
            </a:r>
            <a:r>
              <a:rPr lang="en-US" b="1" dirty="0">
                <a:solidFill>
                  <a:schemeClr val="accent2"/>
                </a:solidFill>
              </a:rPr>
              <a:t> </a:t>
            </a:r>
            <a:r>
              <a:rPr lang="en-US" b="1" dirty="0" err="1">
                <a:solidFill>
                  <a:schemeClr val="accent2"/>
                </a:solidFill>
              </a:rPr>
              <a:t>src</a:t>
            </a:r>
            <a:r>
              <a:rPr lang="en-US" b="1" dirty="0">
                <a:solidFill>
                  <a:schemeClr val="accent2"/>
                </a:solidFill>
              </a:rPr>
              <a:t>="picture.jpg" alt="An example picture"&gt;</a:t>
            </a:r>
          </a:p>
          <a:p>
            <a:r>
              <a:rPr lang="en-US" b="1" dirty="0">
                <a:solidFill>
                  <a:schemeClr val="accent2"/>
                </a:solidFill>
              </a:rPr>
              <a:t>&lt;</a:t>
            </a:r>
            <a:r>
              <a:rPr lang="en-US" b="1" dirty="0" err="1">
                <a:solidFill>
                  <a:schemeClr val="accent2"/>
                </a:solidFill>
              </a:rPr>
              <a:t>figcaption</a:t>
            </a:r>
            <a:r>
              <a:rPr lang="en-US" b="1" dirty="0">
                <a:solidFill>
                  <a:schemeClr val="accent2"/>
                </a:solidFill>
              </a:rPr>
              <a:t>&gt;Caption for the example picture&lt;/</a:t>
            </a:r>
            <a:r>
              <a:rPr lang="en-US" b="1" dirty="0" err="1">
                <a:solidFill>
                  <a:schemeClr val="accent2"/>
                </a:solidFill>
              </a:rPr>
              <a:t>figcaption</a:t>
            </a:r>
            <a:r>
              <a:rPr lang="en-US" b="1" dirty="0">
                <a:solidFill>
                  <a:schemeClr val="accent2"/>
                </a:solidFill>
              </a:rPr>
              <a:t>&gt;</a:t>
            </a:r>
          </a:p>
          <a:p>
            <a:r>
              <a:rPr lang="en-US" b="1" dirty="0">
                <a:solidFill>
                  <a:schemeClr val="accent2"/>
                </a:solidFill>
              </a:rPr>
              <a:t>&lt;/figure&gt;</a:t>
            </a:r>
            <a:endParaRPr lang="en-GB" b="1" dirty="0">
              <a:solidFill>
                <a:schemeClr val="accent2"/>
              </a:solidFill>
            </a:endParaRPr>
          </a:p>
        </p:txBody>
      </p:sp>
    </p:spTree>
    <p:extLst>
      <p:ext uri="{BB962C8B-B14F-4D97-AF65-F5344CB8AC3E}">
        <p14:creationId xmlns:p14="http://schemas.microsoft.com/office/powerpoint/2010/main" val="7507787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1"/>
          <p:cNvSpPr>
            <a:spLocks noGrp="1" noChangeArrowheads="1"/>
          </p:cNvSpPr>
          <p:nvPr>
            <p:ph type="title"/>
          </p:nvPr>
        </p:nvSpPr>
        <p:spPr>
          <a:xfrm>
            <a:off x="608641" y="313954"/>
            <a:ext cx="10972799" cy="1064272"/>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Input types</a:t>
            </a:r>
          </a:p>
        </p:txBody>
      </p:sp>
      <p:sp>
        <p:nvSpPr>
          <p:cNvPr id="48130" name="Rectangle 2"/>
          <p:cNvSpPr>
            <a:spLocks noGrp="1" noChangeArrowheads="1"/>
          </p:cNvSpPr>
          <p:nvPr>
            <p:ph type="subTitle" idx="4294967295"/>
          </p:nvPr>
        </p:nvSpPr>
        <p:spPr bwMode="auto">
          <a:xfrm>
            <a:off x="1096321" y="1656175"/>
            <a:ext cx="10053120" cy="443278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a:t>HTML5 has several new input types for forms.</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a:t>    </a:t>
            </a:r>
            <a:r>
              <a:rPr lang="en-GB" altLang="en-US" sz="2800">
                <a:solidFill>
                  <a:srgbClr val="DC2300"/>
                </a:solidFill>
              </a:rPr>
              <a:t>&gt;</a:t>
            </a:r>
            <a:r>
              <a:rPr lang="en-GB" altLang="en-US" sz="2800"/>
              <a:t> email</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a:t>    </a:t>
            </a:r>
            <a:r>
              <a:rPr lang="en-GB" altLang="en-US" sz="2800">
                <a:solidFill>
                  <a:srgbClr val="DC2300"/>
                </a:solidFill>
              </a:rPr>
              <a:t>&gt;</a:t>
            </a:r>
            <a:r>
              <a:rPr lang="en-GB" altLang="en-US" sz="2800"/>
              <a:t> url</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a:t>    </a:t>
            </a:r>
            <a:r>
              <a:rPr lang="en-GB" altLang="en-US" sz="2800">
                <a:solidFill>
                  <a:srgbClr val="DC2300"/>
                </a:solidFill>
              </a:rPr>
              <a:t>&gt;</a:t>
            </a:r>
            <a:r>
              <a:rPr lang="en-GB" altLang="en-US" sz="2800"/>
              <a:t> number</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a:t>    </a:t>
            </a:r>
            <a:r>
              <a:rPr lang="en-GB" altLang="en-US" sz="2800">
                <a:solidFill>
                  <a:srgbClr val="DC2300"/>
                </a:solidFill>
              </a:rPr>
              <a:t>&gt;</a:t>
            </a:r>
            <a:r>
              <a:rPr lang="en-GB" altLang="en-US" sz="2800"/>
              <a:t> range</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a:t>    </a:t>
            </a:r>
            <a:r>
              <a:rPr lang="en-GB" altLang="en-US" sz="2800">
                <a:solidFill>
                  <a:srgbClr val="DC2300"/>
                </a:solidFill>
              </a:rPr>
              <a:t>&gt;</a:t>
            </a:r>
            <a:r>
              <a:rPr lang="en-GB" altLang="en-US" sz="2800"/>
              <a:t> date pickers (date, month, week, time,</a:t>
            </a:r>
            <a:br>
              <a:rPr lang="en-GB" altLang="en-US" sz="2800"/>
            </a:br>
            <a:r>
              <a:rPr lang="en-GB" altLang="en-US" sz="2800"/>
              <a:t>       datetime, datetime-local)</a:t>
            </a:r>
            <a:r>
              <a:rPr lang="ar-SA" altLang="en-US" sz="2800"/>
              <a:t>‏</a:t>
            </a:r>
            <a:endParaRPr lang="en-GB" altLang="en-US" sz="280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a:t>    </a:t>
            </a:r>
            <a:r>
              <a:rPr lang="en-GB" altLang="en-US" sz="2800">
                <a:solidFill>
                  <a:srgbClr val="DC2300"/>
                </a:solidFill>
              </a:rPr>
              <a:t>&gt;</a:t>
            </a:r>
            <a:r>
              <a:rPr lang="en-GB" altLang="en-US" sz="2800"/>
              <a:t> search</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a:t>    </a:t>
            </a:r>
            <a:r>
              <a:rPr lang="en-GB" altLang="en-US" sz="2800">
                <a:solidFill>
                  <a:srgbClr val="DC2300"/>
                </a:solidFill>
              </a:rPr>
              <a:t>&gt;</a:t>
            </a:r>
            <a:r>
              <a:rPr lang="en-GB" altLang="en-US" sz="2800"/>
              <a:t> color</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a:p>
        </p:txBody>
      </p:sp>
    </p:spTree>
    <p:extLst>
      <p:ext uri="{BB962C8B-B14F-4D97-AF65-F5344CB8AC3E}">
        <p14:creationId xmlns:p14="http://schemas.microsoft.com/office/powerpoint/2010/main" val="127775634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1"/>
          <p:cNvSpPr>
            <a:spLocks noGrp="1" noChangeArrowheads="1"/>
          </p:cNvSpPr>
          <p:nvPr>
            <p:ph type="title"/>
          </p:nvPr>
        </p:nvSpPr>
        <p:spPr>
          <a:xfrm>
            <a:off x="608641" y="273629"/>
            <a:ext cx="10972799" cy="1146360"/>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Input types</a:t>
            </a:r>
          </a:p>
        </p:txBody>
      </p:sp>
      <p:pic>
        <p:nvPicPr>
          <p:cNvPr id="491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681" y="1742583"/>
            <a:ext cx="9889919" cy="225815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9155" name="Rectangle 3"/>
          <p:cNvSpPr>
            <a:spLocks noGrp="1" noChangeArrowheads="1"/>
          </p:cNvSpPr>
          <p:nvPr>
            <p:ph type="subTitle" idx="4294967295"/>
          </p:nvPr>
        </p:nvSpPr>
        <p:spPr bwMode="auto">
          <a:xfrm>
            <a:off x="1096321" y="1657615"/>
            <a:ext cx="10053120" cy="443278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a:t>Note: Opera has the best support for the new input types. However, you can already start using them in all major browsers. If they are not supported, they will behave as regular text fields.</a:t>
            </a:r>
          </a:p>
        </p:txBody>
      </p:sp>
    </p:spTree>
    <p:extLst>
      <p:ext uri="{BB962C8B-B14F-4D97-AF65-F5344CB8AC3E}">
        <p14:creationId xmlns:p14="http://schemas.microsoft.com/office/powerpoint/2010/main" val="51716016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1"/>
          <p:cNvSpPr>
            <a:spLocks noGrp="1" noChangeArrowheads="1"/>
          </p:cNvSpPr>
          <p:nvPr>
            <p:ph type="title"/>
          </p:nvPr>
        </p:nvSpPr>
        <p:spPr>
          <a:xfrm>
            <a:off x="608641" y="313954"/>
            <a:ext cx="10972799" cy="1064272"/>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Input - e-mail</a:t>
            </a:r>
          </a:p>
        </p:txBody>
      </p:sp>
      <p:sp>
        <p:nvSpPr>
          <p:cNvPr id="50178" name="Rectangle 2"/>
          <p:cNvSpPr>
            <a:spLocks noGrp="1" noChangeArrowheads="1"/>
          </p:cNvSpPr>
          <p:nvPr>
            <p:ph type="subTitle" idx="4294967295"/>
          </p:nvPr>
        </p:nvSpPr>
        <p:spPr bwMode="auto">
          <a:xfrm>
            <a:off x="1096321" y="1656175"/>
            <a:ext cx="10053120" cy="443278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ormAutofit fontScale="92500" lnSpcReduction="20000"/>
          </a:bodyPr>
          <a:lstStyle/>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The email type is used for input fields that should contain an e-mail address.</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The value of the email field is automatically validated when the form is submitted.</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b="1" dirty="0"/>
              <a:t>Syntax </a:t>
            </a:r>
            <a:r>
              <a:rPr lang="en-GB" altLang="en-US" sz="2800" b="1" dirty="0" smtClean="0"/>
              <a:t>for Email: </a:t>
            </a:r>
            <a:r>
              <a:rPr lang="en-GB" altLang="en-US" sz="2800" dirty="0" smtClean="0">
                <a:solidFill>
                  <a:srgbClr val="CCCCFF"/>
                </a:solidFill>
              </a:rPr>
              <a:t> </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smtClean="0">
                <a:solidFill>
                  <a:schemeClr val="tx2">
                    <a:lumMod val="60000"/>
                    <a:lumOff val="40000"/>
                  </a:schemeClr>
                </a:solidFill>
              </a:rPr>
              <a:t>&lt;</a:t>
            </a:r>
            <a:r>
              <a:rPr lang="en-GB" altLang="en-US" sz="2800" dirty="0">
                <a:solidFill>
                  <a:schemeClr val="tx2">
                    <a:lumMod val="60000"/>
                    <a:lumOff val="40000"/>
                  </a:schemeClr>
                </a:solidFill>
              </a:rPr>
              <a:t>input type="email" name="</a:t>
            </a:r>
            <a:r>
              <a:rPr lang="en-GB" altLang="en-US" sz="2800" dirty="0" err="1">
                <a:solidFill>
                  <a:schemeClr val="tx2">
                    <a:lumMod val="60000"/>
                    <a:lumOff val="40000"/>
                  </a:schemeClr>
                </a:solidFill>
              </a:rPr>
              <a:t>user_email</a:t>
            </a:r>
            <a:r>
              <a:rPr lang="en-GB" altLang="en-US" sz="2800" dirty="0">
                <a:solidFill>
                  <a:schemeClr val="tx2">
                    <a:lumMod val="60000"/>
                    <a:lumOff val="40000"/>
                  </a:schemeClr>
                </a:solidFill>
              </a:rPr>
              <a:t>" /&gt;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Tip: Safari on the iPhone recognizes the email input type, and changes the on-screen keyboard to match it (adds @ and .com options).</a:t>
            </a:r>
          </a:p>
        </p:txBody>
      </p:sp>
    </p:spTree>
    <p:extLst>
      <p:ext uri="{BB962C8B-B14F-4D97-AF65-F5344CB8AC3E}">
        <p14:creationId xmlns:p14="http://schemas.microsoft.com/office/powerpoint/2010/main" val="50526361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
          <p:cNvSpPr>
            <a:spLocks noGrp="1" noChangeArrowheads="1"/>
          </p:cNvSpPr>
          <p:nvPr>
            <p:ph type="title"/>
          </p:nvPr>
        </p:nvSpPr>
        <p:spPr>
          <a:xfrm>
            <a:off x="608641" y="313954"/>
            <a:ext cx="10972799" cy="1064272"/>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Input - url</a:t>
            </a:r>
          </a:p>
        </p:txBody>
      </p:sp>
      <p:sp>
        <p:nvSpPr>
          <p:cNvPr id="51202" name="Rectangle 2"/>
          <p:cNvSpPr>
            <a:spLocks noGrp="1" noChangeArrowheads="1"/>
          </p:cNvSpPr>
          <p:nvPr>
            <p:ph type="subTitle" idx="4294967295"/>
          </p:nvPr>
        </p:nvSpPr>
        <p:spPr bwMode="auto">
          <a:xfrm>
            <a:off x="1096321" y="1656175"/>
            <a:ext cx="10053120" cy="443278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ormAutofit fontScale="92500" lnSpcReduction="10000"/>
          </a:bodyPr>
          <a:lstStyle/>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The </a:t>
            </a:r>
            <a:r>
              <a:rPr lang="en-GB" altLang="en-US" sz="2800" dirty="0" err="1"/>
              <a:t>url</a:t>
            </a:r>
            <a:r>
              <a:rPr lang="en-GB" altLang="en-US" sz="2800" dirty="0"/>
              <a:t> type is used for input fields that should contain a URL address.</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The value of the </a:t>
            </a:r>
            <a:r>
              <a:rPr lang="en-GB" altLang="en-US" sz="2800" dirty="0" err="1"/>
              <a:t>url</a:t>
            </a:r>
            <a:r>
              <a:rPr lang="en-GB" altLang="en-US" sz="2800" dirty="0"/>
              <a:t> field is automatically validated when the form is submitted.</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b="1" dirty="0" smtClean="0"/>
              <a:t>Syntax</a:t>
            </a:r>
            <a:r>
              <a:rPr lang="en-GB" altLang="en-US" sz="2800" dirty="0" smtClean="0">
                <a:solidFill>
                  <a:srgbClr val="CCCCFF"/>
                </a:solidFill>
              </a:rPr>
              <a:t>: </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smtClean="0">
                <a:solidFill>
                  <a:schemeClr val="tx2">
                    <a:lumMod val="60000"/>
                    <a:lumOff val="40000"/>
                  </a:schemeClr>
                </a:solidFill>
              </a:rPr>
              <a:t>&lt;</a:t>
            </a:r>
            <a:r>
              <a:rPr lang="en-GB" altLang="en-US" sz="2800" dirty="0">
                <a:solidFill>
                  <a:schemeClr val="tx2">
                    <a:lumMod val="60000"/>
                    <a:lumOff val="40000"/>
                  </a:schemeClr>
                </a:solidFill>
              </a:rPr>
              <a:t>input type="</a:t>
            </a:r>
            <a:r>
              <a:rPr lang="en-GB" altLang="en-US" sz="2800" dirty="0" err="1">
                <a:solidFill>
                  <a:schemeClr val="tx2">
                    <a:lumMod val="60000"/>
                    <a:lumOff val="40000"/>
                  </a:schemeClr>
                </a:solidFill>
              </a:rPr>
              <a:t>url</a:t>
            </a:r>
            <a:r>
              <a:rPr lang="en-GB" altLang="en-US" sz="2800" dirty="0">
                <a:solidFill>
                  <a:schemeClr val="tx2">
                    <a:lumMod val="60000"/>
                    <a:lumOff val="40000"/>
                  </a:schemeClr>
                </a:solidFill>
              </a:rPr>
              <a:t>" name="</a:t>
            </a:r>
            <a:r>
              <a:rPr lang="en-GB" altLang="en-US" sz="2800" dirty="0" err="1">
                <a:solidFill>
                  <a:schemeClr val="tx2">
                    <a:lumMod val="60000"/>
                    <a:lumOff val="40000"/>
                  </a:schemeClr>
                </a:solidFill>
              </a:rPr>
              <a:t>user_url</a:t>
            </a:r>
            <a:r>
              <a:rPr lang="en-GB" altLang="en-US" sz="2800" dirty="0">
                <a:solidFill>
                  <a:schemeClr val="tx2">
                    <a:lumMod val="60000"/>
                    <a:lumOff val="40000"/>
                  </a:schemeClr>
                </a:solidFill>
              </a:rPr>
              <a:t>" /&gt;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Tip: Safari on the iPhone recognizes the </a:t>
            </a:r>
            <a:r>
              <a:rPr lang="en-GB" altLang="en-US" sz="2800" dirty="0" err="1"/>
              <a:t>url</a:t>
            </a:r>
            <a:r>
              <a:rPr lang="en-GB" altLang="en-US" sz="2800" dirty="0"/>
              <a:t> input type, and changes the on-screen keyboard to match it (adds .com option).</a:t>
            </a:r>
          </a:p>
        </p:txBody>
      </p:sp>
    </p:spTree>
    <p:extLst>
      <p:ext uri="{BB962C8B-B14F-4D97-AF65-F5344CB8AC3E}">
        <p14:creationId xmlns:p14="http://schemas.microsoft.com/office/powerpoint/2010/main" val="49652363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1"/>
          <p:cNvSpPr>
            <a:spLocks noGrp="1" noChangeArrowheads="1"/>
          </p:cNvSpPr>
          <p:nvPr>
            <p:ph type="title"/>
          </p:nvPr>
        </p:nvSpPr>
        <p:spPr>
          <a:xfrm>
            <a:off x="608641" y="313954"/>
            <a:ext cx="10972799" cy="1064272"/>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Input - number</a:t>
            </a:r>
          </a:p>
        </p:txBody>
      </p:sp>
      <p:sp>
        <p:nvSpPr>
          <p:cNvPr id="52226" name="Rectangle 2"/>
          <p:cNvSpPr>
            <a:spLocks noGrp="1" noChangeArrowheads="1"/>
          </p:cNvSpPr>
          <p:nvPr>
            <p:ph type="subTitle" idx="4294967295"/>
          </p:nvPr>
        </p:nvSpPr>
        <p:spPr bwMode="auto">
          <a:xfrm>
            <a:off x="1030080" y="1765626"/>
            <a:ext cx="10053120" cy="259515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ormAutofit fontScale="85000" lnSpcReduction="10000"/>
          </a:bodyPr>
          <a:lstStyle/>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The number type is used for input fields that should contain a numeric value.</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Set restrictions on what numbers are accepted:</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b="1" dirty="0"/>
              <a:t>Syntax </a:t>
            </a:r>
            <a:r>
              <a:rPr lang="en-GB" altLang="en-US" sz="2800" dirty="0" smtClean="0">
                <a:solidFill>
                  <a:srgbClr val="CCCCFF"/>
                </a:solidFill>
              </a:rPr>
              <a:t>: </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smtClean="0">
                <a:solidFill>
                  <a:schemeClr val="tx2">
                    <a:lumMod val="60000"/>
                    <a:lumOff val="40000"/>
                  </a:schemeClr>
                </a:solidFill>
              </a:rPr>
              <a:t>&lt;</a:t>
            </a:r>
            <a:r>
              <a:rPr lang="en-GB" altLang="en-US" sz="2800" dirty="0">
                <a:solidFill>
                  <a:schemeClr val="tx2">
                    <a:lumMod val="60000"/>
                    <a:lumOff val="40000"/>
                  </a:schemeClr>
                </a:solidFill>
              </a:rPr>
              <a:t>input type="number" name="points" min="1" max="10" /&gt;</a:t>
            </a:r>
          </a:p>
        </p:txBody>
      </p:sp>
      <p:pic>
        <p:nvPicPr>
          <p:cNvPr id="522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681" y="4360778"/>
            <a:ext cx="9889919" cy="164753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63462689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1"/>
          <p:cNvSpPr>
            <a:spLocks noGrp="1" noChangeArrowheads="1"/>
          </p:cNvSpPr>
          <p:nvPr>
            <p:ph type="title"/>
          </p:nvPr>
        </p:nvSpPr>
        <p:spPr>
          <a:xfrm>
            <a:off x="608641" y="313954"/>
            <a:ext cx="10972799" cy="1064272"/>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Input - range</a:t>
            </a:r>
          </a:p>
        </p:txBody>
      </p:sp>
      <p:sp>
        <p:nvSpPr>
          <p:cNvPr id="53250" name="Rectangle 2"/>
          <p:cNvSpPr>
            <a:spLocks noGrp="1" noChangeArrowheads="1"/>
          </p:cNvSpPr>
          <p:nvPr>
            <p:ph type="subTitle" idx="4294967295"/>
          </p:nvPr>
        </p:nvSpPr>
        <p:spPr bwMode="auto">
          <a:xfrm>
            <a:off x="1096321" y="1657615"/>
            <a:ext cx="10053120" cy="469375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The range type is used for input fields that should contain a value from a range of numbers.</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The range type is displayed as a slider bar.</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You can also set restrictions on what numbers are accepted:</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b="1" dirty="0" smtClean="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b="1" dirty="0" smtClean="0"/>
              <a:t>Syntax:</a:t>
            </a:r>
            <a:endParaRPr lang="en-GB" altLang="en-US" sz="2800"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solidFill>
                  <a:schemeClr val="tx2">
                    <a:lumMod val="60000"/>
                    <a:lumOff val="40000"/>
                  </a:schemeClr>
                </a:solidFill>
              </a:rPr>
              <a:t>&lt;input type="range" name="points" min="1" max="10" /&gt;</a:t>
            </a:r>
          </a:p>
        </p:txBody>
      </p:sp>
    </p:spTree>
    <p:extLst>
      <p:ext uri="{BB962C8B-B14F-4D97-AF65-F5344CB8AC3E}">
        <p14:creationId xmlns:p14="http://schemas.microsoft.com/office/powerpoint/2010/main" val="243451487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1"/>
          <p:cNvSpPr>
            <a:spLocks noGrp="1" noChangeArrowheads="1"/>
          </p:cNvSpPr>
          <p:nvPr>
            <p:ph type="title"/>
          </p:nvPr>
        </p:nvSpPr>
        <p:spPr>
          <a:xfrm>
            <a:off x="608641" y="313954"/>
            <a:ext cx="10972799" cy="1064272"/>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Input – date pickers</a:t>
            </a:r>
          </a:p>
        </p:txBody>
      </p:sp>
      <p:sp>
        <p:nvSpPr>
          <p:cNvPr id="54274" name="Rectangle 2"/>
          <p:cNvSpPr>
            <a:spLocks noGrp="1" noChangeArrowheads="1"/>
          </p:cNvSpPr>
          <p:nvPr>
            <p:ph type="subTitle" idx="4294967295"/>
          </p:nvPr>
        </p:nvSpPr>
        <p:spPr bwMode="auto">
          <a:xfrm>
            <a:off x="1083965" y="1940380"/>
            <a:ext cx="10053120" cy="443278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ormAutofit lnSpcReduction="10000"/>
          </a:bodyPr>
          <a:lstStyle/>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HTML5 has several new input types for selecting date and time:</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    </a:t>
            </a:r>
            <a:r>
              <a:rPr lang="en-GB" altLang="en-US" sz="2800" dirty="0">
                <a:solidFill>
                  <a:srgbClr val="DC2300"/>
                </a:solidFill>
              </a:rPr>
              <a:t>&gt;</a:t>
            </a:r>
            <a:r>
              <a:rPr lang="en-GB" altLang="en-US" sz="2800" dirty="0"/>
              <a:t> date - Selects date, month and year</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    </a:t>
            </a:r>
            <a:r>
              <a:rPr lang="en-GB" altLang="en-US" sz="2800" dirty="0">
                <a:solidFill>
                  <a:srgbClr val="DC2300"/>
                </a:solidFill>
              </a:rPr>
              <a:t>&gt;</a:t>
            </a:r>
            <a:r>
              <a:rPr lang="en-GB" altLang="en-US" sz="2800" dirty="0"/>
              <a:t> month - Selects month and year</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    </a:t>
            </a:r>
            <a:r>
              <a:rPr lang="en-GB" altLang="en-US" sz="2800" dirty="0">
                <a:solidFill>
                  <a:srgbClr val="DC2300"/>
                </a:solidFill>
              </a:rPr>
              <a:t>&gt;</a:t>
            </a:r>
            <a:r>
              <a:rPr lang="en-GB" altLang="en-US" sz="2800" dirty="0"/>
              <a:t> week - Selects week and year</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    </a:t>
            </a:r>
            <a:r>
              <a:rPr lang="en-GB" altLang="en-US" sz="2800" dirty="0">
                <a:solidFill>
                  <a:srgbClr val="DC2300"/>
                </a:solidFill>
              </a:rPr>
              <a:t>&gt;</a:t>
            </a:r>
            <a:r>
              <a:rPr lang="en-GB" altLang="en-US" sz="2800" dirty="0"/>
              <a:t> time - Selects time (hour and minute)</a:t>
            </a:r>
            <a:r>
              <a:rPr lang="ar-SA" altLang="en-US" sz="2800" dirty="0"/>
              <a:t>‏</a:t>
            </a:r>
            <a:endParaRPr lang="en-GB" altLang="en-US" sz="2800"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    </a:t>
            </a:r>
            <a:r>
              <a:rPr lang="en-GB" altLang="en-US" sz="2800" dirty="0">
                <a:solidFill>
                  <a:srgbClr val="DC2300"/>
                </a:solidFill>
              </a:rPr>
              <a:t>&gt;</a:t>
            </a:r>
            <a:r>
              <a:rPr lang="en-GB" altLang="en-US" sz="2800" dirty="0"/>
              <a:t> </a:t>
            </a:r>
            <a:r>
              <a:rPr lang="en-GB" altLang="en-US" sz="2800" dirty="0" err="1"/>
              <a:t>datetime</a:t>
            </a:r>
            <a:r>
              <a:rPr lang="en-GB" altLang="en-US" sz="2800" dirty="0"/>
              <a:t> - Selects time, date, month and year</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2800" dirty="0"/>
              <a:t>    </a:t>
            </a:r>
            <a:r>
              <a:rPr lang="en-GB" altLang="en-US" sz="2800" dirty="0">
                <a:solidFill>
                  <a:srgbClr val="DC2300"/>
                </a:solidFill>
              </a:rPr>
              <a:t>&gt;</a:t>
            </a:r>
            <a:r>
              <a:rPr lang="en-GB" altLang="en-US" sz="2800" dirty="0"/>
              <a:t> </a:t>
            </a:r>
            <a:r>
              <a:rPr lang="en-GB" altLang="en-US" sz="2800" dirty="0" err="1"/>
              <a:t>datetime</a:t>
            </a:r>
            <a:r>
              <a:rPr lang="en-GB" altLang="en-US" sz="2800" dirty="0"/>
              <a:t>-local - Selects time, date, month and</a:t>
            </a:r>
            <a:br>
              <a:rPr lang="en-GB" altLang="en-US" sz="2800" dirty="0"/>
            </a:br>
            <a:r>
              <a:rPr lang="en-GB" altLang="en-US" sz="2800" dirty="0"/>
              <a:t>       year (local time)</a:t>
            </a:r>
            <a:r>
              <a:rPr lang="ar-SA" altLang="en-US" sz="2800" dirty="0"/>
              <a:t>‏</a:t>
            </a:r>
            <a:endParaRPr lang="en-GB" altLang="en-US" sz="2800"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sz="2800" dirty="0"/>
          </a:p>
        </p:txBody>
      </p:sp>
    </p:spTree>
    <p:extLst>
      <p:ext uri="{BB962C8B-B14F-4D97-AF65-F5344CB8AC3E}">
        <p14:creationId xmlns:p14="http://schemas.microsoft.com/office/powerpoint/2010/main" val="286512369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1"/>
          <p:cNvSpPr>
            <a:spLocks noGrp="1" noChangeArrowheads="1"/>
          </p:cNvSpPr>
          <p:nvPr>
            <p:ph type="title"/>
          </p:nvPr>
        </p:nvSpPr>
        <p:spPr>
          <a:xfrm>
            <a:off x="608641" y="313954"/>
            <a:ext cx="10972799" cy="1064272"/>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Input - search</a:t>
            </a:r>
          </a:p>
        </p:txBody>
      </p:sp>
      <p:sp>
        <p:nvSpPr>
          <p:cNvPr id="55298" name="Rectangle 2"/>
          <p:cNvSpPr>
            <a:spLocks noGrp="1" noChangeArrowheads="1"/>
          </p:cNvSpPr>
          <p:nvPr>
            <p:ph type="subTitle" idx="4294967295"/>
          </p:nvPr>
        </p:nvSpPr>
        <p:spPr bwMode="auto">
          <a:xfrm>
            <a:off x="1096321" y="1657615"/>
            <a:ext cx="10053120" cy="443278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a:t>The search type is used for search fields like a site search or Google search.</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a:t>The search field behaves like a regular text field.</a:t>
            </a:r>
          </a:p>
        </p:txBody>
      </p:sp>
    </p:spTree>
    <p:extLst>
      <p:ext uri="{BB962C8B-B14F-4D97-AF65-F5344CB8AC3E}">
        <p14:creationId xmlns:p14="http://schemas.microsoft.com/office/powerpoint/2010/main" val="135143068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1"/>
          <p:cNvSpPr>
            <a:spLocks noGrp="1" noChangeArrowheads="1"/>
          </p:cNvSpPr>
          <p:nvPr>
            <p:ph type="title"/>
          </p:nvPr>
        </p:nvSpPr>
        <p:spPr>
          <a:xfrm>
            <a:off x="608641" y="313954"/>
            <a:ext cx="10972799" cy="1064272"/>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Input – color picker</a:t>
            </a:r>
          </a:p>
        </p:txBody>
      </p:sp>
      <p:sp>
        <p:nvSpPr>
          <p:cNvPr id="56322" name="Rectangle 2"/>
          <p:cNvSpPr>
            <a:spLocks noGrp="1" noChangeArrowheads="1"/>
          </p:cNvSpPr>
          <p:nvPr>
            <p:ph type="subTitle" idx="4294967295"/>
          </p:nvPr>
        </p:nvSpPr>
        <p:spPr bwMode="auto">
          <a:xfrm>
            <a:off x="1096321" y="1657615"/>
            <a:ext cx="10053120" cy="443278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dirty="0"/>
              <a:t>The </a:t>
            </a:r>
            <a:r>
              <a:rPr lang="en-GB" altLang="en-US" dirty="0" err="1"/>
              <a:t>color</a:t>
            </a:r>
            <a:r>
              <a:rPr lang="en-GB" altLang="en-US" dirty="0"/>
              <a:t> type is used for input fields that should contain a </a:t>
            </a:r>
            <a:r>
              <a:rPr lang="en-GB" altLang="en-US" dirty="0" err="1"/>
              <a:t>color</a:t>
            </a:r>
            <a:r>
              <a:rPr lang="en-GB" altLang="en-US" dirty="0"/>
              <a:t>.</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dirty="0"/>
              <a:t>This input type will allow you to select a </a:t>
            </a:r>
            <a:r>
              <a:rPr lang="en-GB" altLang="en-US" dirty="0" err="1"/>
              <a:t>color</a:t>
            </a:r>
            <a:r>
              <a:rPr lang="en-GB" altLang="en-US" dirty="0"/>
              <a:t> from a </a:t>
            </a:r>
            <a:r>
              <a:rPr lang="en-GB" altLang="en-US" dirty="0" err="1"/>
              <a:t>color</a:t>
            </a:r>
            <a:r>
              <a:rPr lang="en-GB" altLang="en-US" dirty="0"/>
              <a:t> picker:</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b="1" dirty="0" smtClean="0"/>
              <a:t>Syntax: </a:t>
            </a:r>
            <a:endParaRPr lang="en-GB" altLang="en-US"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sz="3000" dirty="0" smtClean="0">
                <a:solidFill>
                  <a:schemeClr val="tx2">
                    <a:lumMod val="60000"/>
                    <a:lumOff val="40000"/>
                  </a:schemeClr>
                </a:solidFill>
              </a:rPr>
              <a:t>&lt;</a:t>
            </a:r>
            <a:r>
              <a:rPr lang="en-GB" altLang="en-US" sz="3000" dirty="0">
                <a:solidFill>
                  <a:schemeClr val="tx2">
                    <a:lumMod val="60000"/>
                    <a:lumOff val="40000"/>
                  </a:schemeClr>
                </a:solidFill>
              </a:rPr>
              <a:t>input type="</a:t>
            </a:r>
            <a:r>
              <a:rPr lang="en-GB" altLang="en-US" sz="3000" dirty="0" err="1">
                <a:solidFill>
                  <a:schemeClr val="tx2">
                    <a:lumMod val="60000"/>
                    <a:lumOff val="40000"/>
                  </a:schemeClr>
                </a:solidFill>
              </a:rPr>
              <a:t>color</a:t>
            </a:r>
            <a:r>
              <a:rPr lang="en-GB" altLang="en-US" sz="3000" dirty="0">
                <a:solidFill>
                  <a:schemeClr val="tx2">
                    <a:lumMod val="60000"/>
                    <a:lumOff val="40000"/>
                  </a:schemeClr>
                </a:solidFill>
              </a:rPr>
              <a:t>" name="</a:t>
            </a:r>
            <a:r>
              <a:rPr lang="en-GB" altLang="en-US" sz="3000" dirty="0" err="1">
                <a:solidFill>
                  <a:schemeClr val="tx2">
                    <a:lumMod val="60000"/>
                    <a:lumOff val="40000"/>
                  </a:schemeClr>
                </a:solidFill>
              </a:rPr>
              <a:t>user_color</a:t>
            </a:r>
            <a:r>
              <a:rPr lang="en-GB" altLang="en-US" sz="3000" dirty="0">
                <a:solidFill>
                  <a:schemeClr val="tx2">
                    <a:lumMod val="60000"/>
                    <a:lumOff val="40000"/>
                  </a:schemeClr>
                </a:solidFill>
              </a:rPr>
              <a:t>" /&gt;</a:t>
            </a:r>
          </a:p>
        </p:txBody>
      </p:sp>
    </p:spTree>
    <p:extLst>
      <p:ext uri="{BB962C8B-B14F-4D97-AF65-F5344CB8AC3E}">
        <p14:creationId xmlns:p14="http://schemas.microsoft.com/office/powerpoint/2010/main" val="391400245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
          <p:cNvSpPr>
            <a:spLocks noGrp="1" noChangeArrowheads="1"/>
          </p:cNvSpPr>
          <p:nvPr>
            <p:ph type="title"/>
          </p:nvPr>
        </p:nvSpPr>
        <p:spPr>
          <a:xfrm>
            <a:off x="608641" y="313954"/>
            <a:ext cx="10972799" cy="1064272"/>
          </a:xfrm>
          <a:ln/>
        </p:spPr>
        <p:txBody>
          <a:bodyPr/>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en-US"/>
              <a:t>HTML5: Input - form</a:t>
            </a:r>
          </a:p>
        </p:txBody>
      </p:sp>
      <p:sp>
        <p:nvSpPr>
          <p:cNvPr id="57346" name="Rectangle 2"/>
          <p:cNvSpPr>
            <a:spLocks noGrp="1" noChangeArrowheads="1"/>
          </p:cNvSpPr>
          <p:nvPr>
            <p:ph type="subTitle" idx="4294967295"/>
          </p:nvPr>
        </p:nvSpPr>
        <p:spPr bwMode="auto">
          <a:xfrm>
            <a:off x="1096321" y="1657615"/>
            <a:ext cx="10053120" cy="3094884"/>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dirty="0"/>
              <a:t>HTML5 has several new elements and attributes for forms.</a:t>
            </a:r>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dirty="0"/>
              <a:t>    </a:t>
            </a:r>
            <a:r>
              <a:rPr lang="en-GB" altLang="en-US" sz="2800" dirty="0">
                <a:solidFill>
                  <a:srgbClr val="DC2300"/>
                </a:solidFill>
              </a:rPr>
              <a:t>&gt;</a:t>
            </a:r>
            <a:r>
              <a:rPr lang="en-GB" altLang="en-US" dirty="0"/>
              <a:t> </a:t>
            </a:r>
            <a:r>
              <a:rPr lang="en-GB" altLang="en-US" b="1" dirty="0" err="1" smtClean="0"/>
              <a:t>datalist</a:t>
            </a:r>
            <a:r>
              <a:rPr lang="en-GB" altLang="en-US" b="1" dirty="0" smtClean="0"/>
              <a:t>: </a:t>
            </a:r>
            <a:r>
              <a:rPr lang="en-US" altLang="en-US" dirty="0"/>
              <a:t>specifies a list of options for an input field.  The list is created with option elements inside the </a:t>
            </a:r>
            <a:r>
              <a:rPr lang="en-US" altLang="en-US" dirty="0" err="1"/>
              <a:t>datalist</a:t>
            </a:r>
            <a:r>
              <a:rPr lang="en-US" altLang="en-US" dirty="0"/>
              <a:t>.</a:t>
            </a:r>
            <a:endParaRPr lang="en-GB" altLang="en-US"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dirty="0"/>
              <a:t>    </a:t>
            </a:r>
            <a:r>
              <a:rPr lang="en-GB" altLang="en-US" sz="2800" dirty="0">
                <a:solidFill>
                  <a:srgbClr val="DC2300"/>
                </a:solidFill>
              </a:rPr>
              <a:t>&gt;</a:t>
            </a:r>
            <a:r>
              <a:rPr lang="en-GB" altLang="en-US" dirty="0"/>
              <a:t> </a:t>
            </a:r>
            <a:r>
              <a:rPr lang="en-GB" altLang="en-US" b="1" dirty="0" err="1" smtClean="0"/>
              <a:t>keygen</a:t>
            </a:r>
            <a:r>
              <a:rPr lang="en-GB" altLang="en-US" dirty="0" smtClean="0"/>
              <a:t>: </a:t>
            </a:r>
            <a:r>
              <a:rPr lang="en-US" altLang="en-US" dirty="0"/>
              <a:t>provide a secure way to authenticate users.</a:t>
            </a:r>
            <a:endParaRPr lang="en-GB" altLang="en-US"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dirty="0"/>
              <a:t>    </a:t>
            </a:r>
            <a:r>
              <a:rPr lang="en-GB" altLang="en-US" sz="2800" dirty="0">
                <a:solidFill>
                  <a:srgbClr val="DC2300"/>
                </a:solidFill>
              </a:rPr>
              <a:t>&gt;</a:t>
            </a:r>
            <a:r>
              <a:rPr lang="en-GB" altLang="en-US" dirty="0"/>
              <a:t> </a:t>
            </a:r>
            <a:r>
              <a:rPr lang="en-GB" altLang="en-US" b="1" dirty="0" smtClean="0"/>
              <a:t>output</a:t>
            </a:r>
            <a:r>
              <a:rPr lang="en-GB" altLang="en-US" dirty="0" smtClean="0"/>
              <a:t>: </a:t>
            </a:r>
            <a:r>
              <a:rPr lang="en-US" altLang="en-US" dirty="0"/>
              <a:t>for different types of output, like calculations or script output</a:t>
            </a:r>
            <a:endParaRPr lang="en-GB" altLang="en-US" dirty="0"/>
          </a:p>
          <a:p>
            <a:pPr marL="0" indent="0">
              <a:spcAft>
                <a:spcPct val="0"/>
              </a:spcAft>
              <a:buFont typeface="Wingdings" charset="2"/>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p:txBody>
      </p:sp>
      <p:pic>
        <p:nvPicPr>
          <p:cNvPr id="573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440" y="4772661"/>
            <a:ext cx="9951361" cy="118668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4601129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xmlns=""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10212</TotalTime>
  <Words>1988</Words>
  <Application>Microsoft Office PowerPoint</Application>
  <PresentationFormat>Custom</PresentationFormat>
  <Paragraphs>381</Paragraphs>
  <Slides>37</Slides>
  <Notes>25</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Retrospect</vt:lpstr>
      <vt:lpstr>INF 213 – Web Technology 1</vt:lpstr>
      <vt:lpstr>HTML Layout Techniques </vt:lpstr>
      <vt:lpstr>Layout - HTML5</vt:lpstr>
      <vt:lpstr>Layout - HTML5</vt:lpstr>
      <vt:lpstr>Layout - HTML5 Float Example 1</vt:lpstr>
      <vt:lpstr>Layout - HTML5 Float Example 2</vt:lpstr>
      <vt:lpstr>HTML</vt:lpstr>
      <vt:lpstr>Canvas</vt:lpstr>
      <vt:lpstr>Form Enhancements</vt:lpstr>
      <vt:lpstr>HTML5: Video</vt:lpstr>
      <vt:lpstr>HTML5: Video</vt:lpstr>
      <vt:lpstr>HTML5: Video</vt:lpstr>
      <vt:lpstr>HTML5: Video</vt:lpstr>
      <vt:lpstr>HTML5: Video</vt:lpstr>
      <vt:lpstr>HTML5: Audio</vt:lpstr>
      <vt:lpstr>HTML5: Audio</vt:lpstr>
      <vt:lpstr>HTML5: Audio</vt:lpstr>
      <vt:lpstr>HTML5: Audio</vt:lpstr>
      <vt:lpstr>HTML5: Audio</vt:lpstr>
      <vt:lpstr>HTML5: Audio</vt:lpstr>
      <vt:lpstr>HTML5: Canvas</vt:lpstr>
      <vt:lpstr>HTML5: Canvas</vt:lpstr>
      <vt:lpstr>HTML5: Canvas</vt:lpstr>
      <vt:lpstr>HTML5: Canvas</vt:lpstr>
      <vt:lpstr>Embed Element </vt:lpstr>
      <vt:lpstr>Datalist Element </vt:lpstr>
      <vt:lpstr>Figure Element</vt:lpstr>
      <vt:lpstr>HTML5: Input types</vt:lpstr>
      <vt:lpstr>HTML5: Input types</vt:lpstr>
      <vt:lpstr>HTML5: Input - e-mail</vt:lpstr>
      <vt:lpstr>HTML5: Input - url</vt:lpstr>
      <vt:lpstr>HTML5: Input - number</vt:lpstr>
      <vt:lpstr>HTML5: Input - range</vt:lpstr>
      <vt:lpstr>HTML5: Input – date pickers</vt:lpstr>
      <vt:lpstr>HTML5: Input - search</vt:lpstr>
      <vt:lpstr>HTML5: Input – color picker</vt:lpstr>
      <vt:lpstr>HTML5: Input - form</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154</dc:title>
  <dc:creator>allison</dc:creator>
  <cp:lastModifiedBy>user</cp:lastModifiedBy>
  <cp:revision>80</cp:revision>
  <dcterms:created xsi:type="dcterms:W3CDTF">2014-09-24T02:51:58Z</dcterms:created>
  <dcterms:modified xsi:type="dcterms:W3CDTF">2018-09-17T11:31:44Z</dcterms:modified>
</cp:coreProperties>
</file>