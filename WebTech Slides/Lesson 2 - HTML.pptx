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5"/>
  </p:notesMasterIdLst>
  <p:sldIdLst>
    <p:sldId id="256" r:id="rId2"/>
    <p:sldId id="302" r:id="rId3"/>
    <p:sldId id="307" r:id="rId4"/>
    <p:sldId id="308" r:id="rId5"/>
    <p:sldId id="309" r:id="rId6"/>
    <p:sldId id="310" r:id="rId7"/>
    <p:sldId id="311" r:id="rId8"/>
    <p:sldId id="312" r:id="rId9"/>
    <p:sldId id="313" r:id="rId10"/>
    <p:sldId id="314" r:id="rId11"/>
    <p:sldId id="315" r:id="rId12"/>
    <p:sldId id="316" r:id="rId13"/>
    <p:sldId id="304" r:id="rId14"/>
    <p:sldId id="305" r:id="rId15"/>
    <p:sldId id="306" r:id="rId16"/>
    <p:sldId id="271" r:id="rId17"/>
    <p:sldId id="321" r:id="rId18"/>
    <p:sldId id="260" r:id="rId19"/>
    <p:sldId id="295" r:id="rId20"/>
    <p:sldId id="296" r:id="rId21"/>
    <p:sldId id="297" r:id="rId22"/>
    <p:sldId id="298" r:id="rId23"/>
    <p:sldId id="273" r:id="rId24"/>
    <p:sldId id="299" r:id="rId25"/>
    <p:sldId id="319" r:id="rId26"/>
    <p:sldId id="300" r:id="rId27"/>
    <p:sldId id="301" r:id="rId28"/>
    <p:sldId id="274" r:id="rId29"/>
    <p:sldId id="261" r:id="rId30"/>
    <p:sldId id="272" r:id="rId31"/>
    <p:sldId id="275" r:id="rId32"/>
    <p:sldId id="283" r:id="rId33"/>
    <p:sldId id="284" r:id="rId34"/>
    <p:sldId id="285" r:id="rId35"/>
    <p:sldId id="286" r:id="rId36"/>
    <p:sldId id="293" r:id="rId37"/>
    <p:sldId id="294" r:id="rId38"/>
    <p:sldId id="262" r:id="rId39"/>
    <p:sldId id="318" r:id="rId40"/>
    <p:sldId id="317" r:id="rId41"/>
    <p:sldId id="263" r:id="rId42"/>
    <p:sldId id="320" r:id="rId43"/>
    <p:sldId id="322"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5FF"/>
    <a:srgbClr val="84B9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78" y="1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C6C6FA-6E8D-4E50-A3C5-8E8B92801954}" type="datetimeFigureOut">
              <a:rPr lang="en-GB" smtClean="0"/>
              <a:t>10/09/2018</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A22779-2939-43D5-8490-8AF5D38380AB}" type="slidenum">
              <a:rPr lang="en-GB" smtClean="0"/>
              <a:t>‹#›</a:t>
            </a:fld>
            <a:endParaRPr lang="en-GB"/>
          </a:p>
        </p:txBody>
      </p:sp>
    </p:spTree>
    <p:extLst>
      <p:ext uri="{BB962C8B-B14F-4D97-AF65-F5344CB8AC3E}">
        <p14:creationId xmlns:p14="http://schemas.microsoft.com/office/powerpoint/2010/main" val="196378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9/10/2018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9/10/2018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9/10/2018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9/10/2018</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9/10/2018</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9/10/2018</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9/10/2018</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9/10/2018</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9/10/2018</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9/10/2018</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www.w3schools.com/html/default.as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cs.sfu.ca/CC/165/sbrown1/wdgxhtml10/inline.html" TargetMode="External"/><Relationship Id="rId2" Type="http://schemas.openxmlformats.org/officeDocument/2006/relationships/hyperlink" Target="http://htmlhelp.com/reference/html40/block.html"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Character%20Entity%20Reference%20Chart.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en.wikipedia.org/wiki/MathML" TargetMode="External"/><Relationship Id="rId2" Type="http://schemas.openxmlformats.org/officeDocument/2006/relationships/hyperlink" Target="http://en.wikipedia.org/wiki/Scalable_Vector_Graphics" TargetMode="External"/><Relationship Id="rId1" Type="http://schemas.openxmlformats.org/officeDocument/2006/relationships/slideLayout" Target="../slideLayouts/slideLayout2.xml"/><Relationship Id="rId5" Type="http://schemas.openxmlformats.org/officeDocument/2006/relationships/hyperlink" Target="http://en.wikipedia.org/wiki/List_of_XML_markup_languages" TargetMode="External"/><Relationship Id="rId4" Type="http://schemas.openxmlformats.org/officeDocument/2006/relationships/hyperlink" Target="http://en.wikipedia.org/wiki/MusicX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validator.w3.org/"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validator.w3.org/"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links.html" TargetMode="External"/><Relationship Id="rId2" Type="http://schemas.openxmlformats.org/officeDocument/2006/relationships/hyperlink" Target="Index%20of%20first%20lines.docx" TargetMode="External"/><Relationship Id="rId1" Type="http://schemas.openxmlformats.org/officeDocument/2006/relationships/slideLayout" Target="../slideLayouts/slideLayout2.xml"/><Relationship Id="rId4" Type="http://schemas.openxmlformats.org/officeDocument/2006/relationships/hyperlink" Target="mailto:halimasadi56@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00051" y="4455621"/>
            <a:ext cx="10144598" cy="1143000"/>
          </a:xfrm>
        </p:spPr>
        <p:txBody>
          <a:bodyPr>
            <a:normAutofit fontScale="92500"/>
          </a:bodyPr>
          <a:lstStyle/>
          <a:p>
            <a:r>
              <a:rPr lang="en-US" b="1" dirty="0" smtClean="0"/>
              <a:t>Lecture 2: </a:t>
            </a:r>
          </a:p>
          <a:p>
            <a:pPr marL="342900" indent="-342900">
              <a:buFont typeface="Arial" panose="020B0604020202020204" pitchFamily="34" charset="0"/>
              <a:buChar char="•"/>
            </a:pPr>
            <a:r>
              <a:rPr lang="en-US" b="1" dirty="0" smtClean="0"/>
              <a:t>Chapter </a:t>
            </a:r>
            <a:r>
              <a:rPr lang="en-US" b="1" dirty="0"/>
              <a:t>2: Understanding </a:t>
            </a:r>
            <a:r>
              <a:rPr lang="en-US" b="1" dirty="0" smtClean="0"/>
              <a:t>HTML, XHTML </a:t>
            </a:r>
            <a:r>
              <a:rPr lang="en-US" b="1" dirty="0"/>
              <a:t>and </a:t>
            </a:r>
            <a:r>
              <a:rPr lang="en-US" b="1" dirty="0" smtClean="0"/>
              <a:t>HTML5 Connections</a:t>
            </a:r>
          </a:p>
        </p:txBody>
      </p:sp>
      <p:sp>
        <p:nvSpPr>
          <p:cNvPr id="6" name="Title 1"/>
          <p:cNvSpPr>
            <a:spLocks noGrp="1"/>
          </p:cNvSpPr>
          <p:nvPr>
            <p:ph type="ctrTitle"/>
          </p:nvPr>
        </p:nvSpPr>
        <p:spPr>
          <a:xfrm>
            <a:off x="1097280" y="758952"/>
            <a:ext cx="10058400" cy="1700043"/>
          </a:xfrm>
        </p:spPr>
        <p:txBody>
          <a:bodyPr>
            <a:normAutofit/>
          </a:bodyPr>
          <a:lstStyle/>
          <a:p>
            <a:r>
              <a:rPr lang="en-US" sz="6600" dirty="0" smtClean="0"/>
              <a:t>INF 213 – Web Technology 1</a:t>
            </a:r>
            <a:endParaRPr lang="en-US" sz="6600" dirty="0"/>
          </a:p>
        </p:txBody>
      </p:sp>
    </p:spTree>
    <p:extLst>
      <p:ext uri="{BB962C8B-B14F-4D97-AF65-F5344CB8AC3E}">
        <p14:creationId xmlns:p14="http://schemas.microsoft.com/office/powerpoint/2010/main" val="3163895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Hypertext Markup Language (</a:t>
            </a:r>
            <a:r>
              <a:rPr lang="en-US" b="1" dirty="0" smtClean="0">
                <a:hlinkClick r:id="rId2"/>
              </a:rPr>
              <a:t>HTML</a:t>
            </a:r>
            <a:r>
              <a:rPr lang="en-US" b="1" dirty="0" smtClean="0"/>
              <a:t>)</a:t>
            </a:r>
            <a:endParaRPr lang="en-US" dirty="0"/>
          </a:p>
        </p:txBody>
      </p:sp>
      <p:sp>
        <p:nvSpPr>
          <p:cNvPr id="6" name="Rectangle 3"/>
          <p:cNvSpPr>
            <a:spLocks noGrp="1" noChangeArrowheads="1"/>
          </p:cNvSpPr>
          <p:nvPr>
            <p:ph idx="1"/>
          </p:nvPr>
        </p:nvSpPr>
        <p:spPr bwMode="auto">
          <a:xfrm>
            <a:off x="1146707" y="1707222"/>
            <a:ext cx="1083961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describes the </a:t>
            </a:r>
            <a:r>
              <a:rPr kumimoji="0" lang="en-US" sz="2200" b="1" i="1" u="none" strike="noStrike" cap="none" normalizeH="0" baseline="0" dirty="0" smtClean="0">
                <a:ln>
                  <a:noFill/>
                </a:ln>
                <a:solidFill>
                  <a:schemeClr val="tx1"/>
                </a:solidFill>
                <a:effectLst/>
                <a:latin typeface="Arial" panose="020B0604020202020204" pitchFamily="34" charset="0"/>
              </a:rPr>
              <a:t>content</a:t>
            </a:r>
            <a:r>
              <a:rPr kumimoji="0" lang="en-US" sz="2200" b="1" i="0" u="none" strike="noStrike" cap="none" normalizeH="0" baseline="0" dirty="0" smtClean="0">
                <a:ln>
                  <a:noFill/>
                </a:ln>
                <a:solidFill>
                  <a:schemeClr val="tx1"/>
                </a:solidFill>
                <a:effectLst/>
                <a:latin typeface="Arial" panose="020B0604020202020204" pitchFamily="34" charset="0"/>
              </a:rPr>
              <a:t> and structure </a:t>
            </a:r>
            <a:r>
              <a:rPr kumimoji="0" lang="en-US" sz="2200" b="0" i="0" u="none" strike="noStrike" cap="none" normalizeH="0" baseline="0" dirty="0" smtClean="0">
                <a:ln>
                  <a:noFill/>
                </a:ln>
                <a:solidFill>
                  <a:schemeClr val="tx1"/>
                </a:solidFill>
                <a:effectLst/>
                <a:latin typeface="Arial" panose="020B0604020202020204" pitchFamily="34" charset="0"/>
              </a:rPr>
              <a:t>of information on a web page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not the same as the </a:t>
            </a:r>
            <a:r>
              <a:rPr kumimoji="0" lang="en-US" sz="2200" b="0" i="1" u="none" strike="noStrike" cap="none" normalizeH="0" baseline="0" dirty="0" smtClean="0">
                <a:ln>
                  <a:noFill/>
                </a:ln>
                <a:solidFill>
                  <a:schemeClr val="tx1"/>
                </a:solidFill>
                <a:effectLst/>
                <a:latin typeface="Arial" panose="020B0604020202020204" pitchFamily="34" charset="0"/>
              </a:rPr>
              <a:t>presentation</a:t>
            </a:r>
            <a:r>
              <a:rPr kumimoji="0" lang="en-US" sz="2200" b="0" i="0" u="none" strike="noStrike" cap="none" normalizeH="0" baseline="0" dirty="0" smtClean="0">
                <a:ln>
                  <a:noFill/>
                </a:ln>
                <a:solidFill>
                  <a:schemeClr val="tx1"/>
                </a:solidFill>
                <a:effectLst/>
                <a:latin typeface="Arial" panose="020B0604020202020204" pitchFamily="34" charset="0"/>
              </a:rPr>
              <a:t> (appearance on screen)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surrounds text content with </a:t>
            </a:r>
            <a:r>
              <a:rPr kumimoji="0" lang="en-US" sz="2200" b="1" i="0" u="none" strike="noStrike" cap="none" normalizeH="0" baseline="0" dirty="0" smtClean="0">
                <a:ln>
                  <a:noFill/>
                </a:ln>
                <a:solidFill>
                  <a:schemeClr val="tx1"/>
                </a:solidFill>
                <a:effectLst/>
                <a:latin typeface="Arial" panose="020B0604020202020204" pitchFamily="34" charset="0"/>
              </a:rPr>
              <a:t>opening</a:t>
            </a:r>
            <a:r>
              <a:rPr kumimoji="0" lang="en-US" sz="2200" b="0" i="0" u="none" strike="noStrike" cap="none" normalizeH="0" baseline="0" dirty="0" smtClean="0">
                <a:ln>
                  <a:noFill/>
                </a:ln>
                <a:solidFill>
                  <a:schemeClr val="tx1"/>
                </a:solidFill>
                <a:effectLst/>
                <a:latin typeface="Arial" panose="020B0604020202020204" pitchFamily="34" charset="0"/>
              </a:rPr>
              <a:t> and </a:t>
            </a:r>
            <a:r>
              <a:rPr kumimoji="0" lang="en-US" sz="2200" b="1" i="0" u="none" strike="noStrike" cap="none" normalizeH="0" baseline="0" dirty="0" smtClean="0">
                <a:ln>
                  <a:noFill/>
                </a:ln>
                <a:solidFill>
                  <a:schemeClr val="tx1"/>
                </a:solidFill>
                <a:effectLst/>
                <a:latin typeface="Arial" panose="020B0604020202020204" pitchFamily="34" charset="0"/>
              </a:rPr>
              <a:t>closing </a:t>
            </a:r>
            <a:r>
              <a:rPr kumimoji="0" lang="en-US" sz="2200" b="0" i="0" u="none" strike="noStrike" cap="none" normalizeH="0" baseline="0" dirty="0" smtClean="0">
                <a:ln>
                  <a:noFill/>
                </a:ln>
                <a:solidFill>
                  <a:schemeClr val="tx1"/>
                </a:solidFill>
                <a:effectLst/>
                <a:latin typeface="Arial" panose="020B0604020202020204" pitchFamily="34" charset="0"/>
              </a:rPr>
              <a:t>tags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each tag's name is called an element </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syntax: </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element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sz="2200" b="0" i="0" u="none" strike="noStrike" cap="none" normalizeH="0" baseline="0" dirty="0" smtClean="0">
                <a:ln>
                  <a:noFill/>
                </a:ln>
                <a:solidFill>
                  <a:schemeClr val="tx1"/>
                </a:solidFill>
                <a:effectLst/>
              </a:rPr>
              <a:t> </a:t>
            </a:r>
            <a:r>
              <a:rPr kumimoji="0" lang="en-US" sz="2200" b="0" i="1" u="none" strike="noStrike" cap="none" normalizeH="0" baseline="0" dirty="0" smtClean="0">
                <a:ln>
                  <a:noFill/>
                </a:ln>
                <a:solidFill>
                  <a:schemeClr val="tx1"/>
                </a:solidFill>
                <a:effectLst/>
                <a:latin typeface="Arial" panose="020B0604020202020204" pitchFamily="34" charset="0"/>
              </a:rPr>
              <a:t>content</a:t>
            </a:r>
            <a:r>
              <a:rPr kumimoji="0" lang="en-US" sz="2200" b="0" i="0" u="none" strike="noStrike" cap="none" normalizeH="0" baseline="0" dirty="0" smtClean="0">
                <a:ln>
                  <a:noFill/>
                </a:ln>
                <a:solidFill>
                  <a:schemeClr val="tx1"/>
                </a:solidFill>
                <a:effectLst/>
                <a:latin typeface="Arial" panose="020B0604020202020204" pitchFamily="34" charset="0"/>
              </a:rPr>
              <a:t> </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element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sz="2200" b="0" i="0" u="none" strike="noStrike" cap="none" normalizeH="0" baseline="0" dirty="0" smtClean="0">
                <a:ln>
                  <a:noFill/>
                </a:ln>
                <a:solidFill>
                  <a:schemeClr val="tx1"/>
                </a:solidFill>
                <a:effectLst/>
              </a:rPr>
              <a:t> </a:t>
            </a:r>
            <a:endParaRPr kumimoji="0" lang="en-US" sz="22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example: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a:t>
            </a:r>
            <a:r>
              <a:rPr kumimoji="0" lang="en-US" sz="2200" b="0" i="0" u="none" strike="noStrike" cap="none" normalizeH="0" baseline="0" dirty="0" smtClean="0">
                <a:ln>
                  <a:noFill/>
                </a:ln>
                <a:solidFill>
                  <a:schemeClr val="tx1"/>
                </a:solidFill>
                <a:effectLst/>
                <a:latin typeface="Arial Unicode MS" panose="020B0604020202020204" pitchFamily="34" charset="-128"/>
              </a:rPr>
              <a:t>This is a paragraph</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a:t>
            </a:r>
            <a:r>
              <a:rPr kumimoji="0" lang="en-US" sz="2200" b="0" i="0" u="none" strike="noStrike" cap="none" normalizeH="0" baseline="0" dirty="0" smtClean="0">
                <a:ln>
                  <a:noFill/>
                </a:ln>
                <a:solidFill>
                  <a:schemeClr val="tx1"/>
                </a:solidFill>
                <a:effectLst/>
              </a:rPr>
              <a:t> </a:t>
            </a:r>
          </a:p>
          <a:p>
            <a:pPr marL="0" lvl="0" indent="0" eaLnBrk="0" fontAlgn="base" hangingPunct="0">
              <a:lnSpc>
                <a:spcPct val="150000"/>
              </a:lnSpc>
              <a:spcBef>
                <a:spcPct val="0"/>
              </a:spcBef>
              <a:spcAft>
                <a:spcPct val="0"/>
              </a:spcAft>
              <a:buClrTx/>
              <a:buSzTx/>
              <a:buFontTx/>
              <a:buChar char="•"/>
            </a:pPr>
            <a:r>
              <a:rPr lang="en-US" sz="2200" dirty="0">
                <a:solidFill>
                  <a:schemeClr val="tx1"/>
                </a:solidFill>
                <a:latin typeface="Arial" panose="020B0604020202020204" pitchFamily="34" charset="0"/>
              </a:rPr>
              <a:t>An </a:t>
            </a:r>
            <a:r>
              <a:rPr lang="en-US" sz="2200" b="1" dirty="0">
                <a:solidFill>
                  <a:schemeClr val="tx1"/>
                </a:solidFill>
                <a:latin typeface="Arial" panose="020B0604020202020204" pitchFamily="34" charset="0"/>
              </a:rPr>
              <a:t>attribute</a:t>
            </a:r>
            <a:r>
              <a:rPr lang="en-US" sz="2200" dirty="0">
                <a:solidFill>
                  <a:schemeClr val="tx1"/>
                </a:solidFill>
                <a:latin typeface="Arial" panose="020B0604020202020204" pitchFamily="34" charset="0"/>
              </a:rPr>
              <a:t> is an extra piece of information associated with a tag that </a:t>
            </a:r>
            <a:r>
              <a:rPr lang="en-US" sz="2200" dirty="0" smtClean="0">
                <a:solidFill>
                  <a:schemeClr val="tx1"/>
                </a:solidFill>
                <a:latin typeface="Arial" panose="020B0604020202020204" pitchFamily="34" charset="0"/>
              </a:rPr>
              <a:t>provides further </a:t>
            </a:r>
            <a:r>
              <a:rPr lang="en-US" sz="2200" dirty="0">
                <a:solidFill>
                  <a:schemeClr val="tx1"/>
                </a:solidFill>
                <a:latin typeface="Arial" panose="020B0604020202020204" pitchFamily="34" charset="0"/>
              </a:rPr>
              <a:t>details about the tag.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most </a:t>
            </a:r>
            <a:r>
              <a:rPr kumimoji="0" lang="en-US" sz="2200" b="0" i="0" u="none" strike="noStrike" cap="none" normalizeH="0" baseline="0" dirty="0" smtClean="0">
                <a:ln>
                  <a:noFill/>
                </a:ln>
                <a:solidFill>
                  <a:schemeClr val="tx1"/>
                </a:solidFill>
                <a:effectLst/>
                <a:latin typeface="Arial" panose="020B0604020202020204" pitchFamily="34" charset="0"/>
              </a:rPr>
              <a:t>whitespace is insignificant in HTML (ignored or collapsed to a single space)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200" b="0" i="0" u="none" strike="noStrike" cap="none" normalizeH="0" baseline="0" dirty="0" smtClean="0">
                <a:ln>
                  <a:noFill/>
                </a:ln>
                <a:solidFill>
                  <a:schemeClr val="tx1"/>
                </a:solidFill>
                <a:effectLst/>
                <a:latin typeface="Arial" panose="020B0604020202020204" pitchFamily="34" charset="0"/>
              </a:rPr>
              <a:t>  we will use a newer version called </a:t>
            </a:r>
            <a:r>
              <a:rPr kumimoji="0" lang="en-US" sz="2200" b="1" i="0" u="none" strike="noStrike" cap="none" normalizeH="0" baseline="0" dirty="0" smtClean="0">
                <a:ln>
                  <a:noFill/>
                </a:ln>
                <a:solidFill>
                  <a:schemeClr val="tx1"/>
                </a:solidFill>
                <a:effectLst/>
                <a:latin typeface="Arial" panose="020B0604020202020204" pitchFamily="34" charset="0"/>
              </a:rPr>
              <a:t>HTML5</a:t>
            </a:r>
            <a:r>
              <a:rPr kumimoji="0" lang="en-US" sz="22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1398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09600" y="457200"/>
            <a:ext cx="10972800" cy="914400"/>
          </a:xfrm>
        </p:spPr>
        <p:txBody>
          <a:bodyPr/>
          <a:lstStyle/>
          <a:p>
            <a:pPr algn="ctr"/>
            <a:r>
              <a:rPr lang="en-US" altLang="en-US" sz="4000" smtClean="0"/>
              <a:t>History of HTML</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7" name="Rectangle 6"/>
          <p:cNvSpPr/>
          <p:nvPr/>
        </p:nvSpPr>
        <p:spPr bwMode="auto">
          <a:xfrm>
            <a:off x="1930400" y="1676400"/>
            <a:ext cx="101600" cy="4648200"/>
          </a:xfrm>
          <a:prstGeom prst="rect">
            <a:avLst/>
          </a:prstGeom>
          <a:solidFill>
            <a:schemeClr val="accent6">
              <a:lumMod val="25000"/>
            </a:schemeClr>
          </a:solidFill>
          <a:ln w="9525" cap="flat" cmpd="sng" algn="ctr">
            <a:solidFill>
              <a:schemeClr val="tx1"/>
            </a:solidFill>
            <a:prstDash val="solid"/>
            <a:round/>
            <a:headEnd type="none" w="med" len="med"/>
            <a:tailEnd type="none" w="med" len="med"/>
          </a:ln>
          <a:effectLst/>
        </p:spPr>
        <p:txBody>
          <a:bodyPr/>
          <a:lstStyle/>
          <a:p>
            <a:pPr>
              <a:defRPr/>
            </a:pPr>
            <a:endParaRPr lang="en-IN">
              <a:latin typeface="Arial" charset="0"/>
            </a:endParaRPr>
          </a:p>
        </p:txBody>
      </p:sp>
      <p:sp>
        <p:nvSpPr>
          <p:cNvPr id="5125" name="Rectangle 18"/>
          <p:cNvSpPr>
            <a:spLocks noChangeArrowheads="1"/>
          </p:cNvSpPr>
          <p:nvPr/>
        </p:nvSpPr>
        <p:spPr bwMode="auto">
          <a:xfrm>
            <a:off x="3149600" y="19050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HTML first published</a:t>
            </a:r>
            <a:endParaRPr lang="en-IN" altLang="en-US" sz="1600"/>
          </a:p>
        </p:txBody>
      </p:sp>
      <p:cxnSp>
        <p:nvCxnSpPr>
          <p:cNvPr id="5126" name="Straight Connector 16"/>
          <p:cNvCxnSpPr>
            <a:cxnSpLocks noChangeShapeType="1"/>
          </p:cNvCxnSpPr>
          <p:nvPr/>
        </p:nvCxnSpPr>
        <p:spPr bwMode="auto">
          <a:xfrm>
            <a:off x="1320800" y="21336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27" name="Rectangle 17"/>
          <p:cNvSpPr>
            <a:spLocks noChangeArrowheads="1"/>
          </p:cNvSpPr>
          <p:nvPr/>
        </p:nvSpPr>
        <p:spPr bwMode="auto">
          <a:xfrm>
            <a:off x="508000" y="19812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1991</a:t>
            </a:r>
            <a:endParaRPr lang="en-IN" altLang="en-US" sz="1400" b="1"/>
          </a:p>
        </p:txBody>
      </p:sp>
      <p:cxnSp>
        <p:nvCxnSpPr>
          <p:cNvPr id="5128" name="Straight Connector 16"/>
          <p:cNvCxnSpPr>
            <a:cxnSpLocks noChangeShapeType="1"/>
          </p:cNvCxnSpPr>
          <p:nvPr/>
        </p:nvCxnSpPr>
        <p:spPr bwMode="auto">
          <a:xfrm>
            <a:off x="1320800" y="58674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29" name="Rectangle 17"/>
          <p:cNvSpPr>
            <a:spLocks noChangeArrowheads="1"/>
          </p:cNvSpPr>
          <p:nvPr/>
        </p:nvSpPr>
        <p:spPr bwMode="auto">
          <a:xfrm>
            <a:off x="508000" y="57150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2012</a:t>
            </a:r>
            <a:endParaRPr lang="en-IN" altLang="en-US" sz="1400" b="1"/>
          </a:p>
        </p:txBody>
      </p:sp>
      <p:cxnSp>
        <p:nvCxnSpPr>
          <p:cNvPr id="5130" name="Straight Connector 16"/>
          <p:cNvCxnSpPr>
            <a:cxnSpLocks noChangeShapeType="1"/>
          </p:cNvCxnSpPr>
          <p:nvPr/>
        </p:nvCxnSpPr>
        <p:spPr bwMode="auto">
          <a:xfrm>
            <a:off x="1320800" y="50292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31" name="Rectangle 17"/>
          <p:cNvSpPr>
            <a:spLocks noChangeArrowheads="1"/>
          </p:cNvSpPr>
          <p:nvPr/>
        </p:nvSpPr>
        <p:spPr bwMode="auto">
          <a:xfrm>
            <a:off x="508000" y="46482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2002 -2009</a:t>
            </a:r>
            <a:endParaRPr lang="en-IN" altLang="en-US" sz="1400" b="1"/>
          </a:p>
        </p:txBody>
      </p:sp>
      <p:cxnSp>
        <p:nvCxnSpPr>
          <p:cNvPr id="5132" name="Straight Connector 16"/>
          <p:cNvCxnSpPr>
            <a:cxnSpLocks noChangeShapeType="1"/>
          </p:cNvCxnSpPr>
          <p:nvPr/>
        </p:nvCxnSpPr>
        <p:spPr bwMode="auto">
          <a:xfrm>
            <a:off x="1320800" y="41148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33" name="Rectangle 17"/>
          <p:cNvSpPr>
            <a:spLocks noChangeArrowheads="1"/>
          </p:cNvSpPr>
          <p:nvPr/>
        </p:nvSpPr>
        <p:spPr bwMode="auto">
          <a:xfrm>
            <a:off x="508000" y="39624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2000</a:t>
            </a:r>
            <a:endParaRPr lang="en-IN" altLang="en-US" sz="1400" b="1"/>
          </a:p>
        </p:txBody>
      </p:sp>
      <p:sp>
        <p:nvSpPr>
          <p:cNvPr id="5134" name="Rectangle 18"/>
          <p:cNvSpPr>
            <a:spLocks noChangeArrowheads="1"/>
          </p:cNvSpPr>
          <p:nvPr/>
        </p:nvSpPr>
        <p:spPr bwMode="auto">
          <a:xfrm>
            <a:off x="3149600" y="23622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HTML 2.0</a:t>
            </a:r>
            <a:endParaRPr lang="en-IN" altLang="en-US" sz="1600"/>
          </a:p>
        </p:txBody>
      </p:sp>
      <p:sp>
        <p:nvSpPr>
          <p:cNvPr id="5135" name="Rectangle 18"/>
          <p:cNvSpPr>
            <a:spLocks noChangeArrowheads="1"/>
          </p:cNvSpPr>
          <p:nvPr/>
        </p:nvSpPr>
        <p:spPr bwMode="auto">
          <a:xfrm>
            <a:off x="3149600" y="28956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HTML 3.2</a:t>
            </a:r>
            <a:endParaRPr lang="en-IN" altLang="en-US" sz="1600"/>
          </a:p>
        </p:txBody>
      </p:sp>
      <p:sp>
        <p:nvSpPr>
          <p:cNvPr id="5136" name="Rectangle 18"/>
          <p:cNvSpPr>
            <a:spLocks noChangeArrowheads="1"/>
          </p:cNvSpPr>
          <p:nvPr/>
        </p:nvSpPr>
        <p:spPr bwMode="auto">
          <a:xfrm>
            <a:off x="3149600" y="33528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HTML 4.01</a:t>
            </a:r>
            <a:endParaRPr lang="en-IN" altLang="en-US" sz="1600"/>
          </a:p>
        </p:txBody>
      </p:sp>
      <p:sp>
        <p:nvSpPr>
          <p:cNvPr id="5137" name="Rectangle 18"/>
          <p:cNvSpPr>
            <a:spLocks noChangeArrowheads="1"/>
          </p:cNvSpPr>
          <p:nvPr/>
        </p:nvSpPr>
        <p:spPr bwMode="auto">
          <a:xfrm>
            <a:off x="3149600" y="38862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XHTML 1.0</a:t>
            </a:r>
            <a:endParaRPr lang="en-IN" altLang="en-US" sz="1600"/>
          </a:p>
        </p:txBody>
      </p:sp>
      <p:sp>
        <p:nvSpPr>
          <p:cNvPr id="5138" name="Rectangle 18"/>
          <p:cNvSpPr>
            <a:spLocks noChangeArrowheads="1"/>
          </p:cNvSpPr>
          <p:nvPr/>
        </p:nvSpPr>
        <p:spPr bwMode="auto">
          <a:xfrm>
            <a:off x="3149600" y="48006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solidFill>
                  <a:srgbClr val="969696"/>
                </a:solidFill>
              </a:rPr>
              <a:t>XHTML 2.0</a:t>
            </a:r>
            <a:endParaRPr lang="en-IN" altLang="en-US" sz="1600">
              <a:solidFill>
                <a:srgbClr val="969696"/>
              </a:solidFill>
            </a:endParaRPr>
          </a:p>
        </p:txBody>
      </p:sp>
      <p:sp>
        <p:nvSpPr>
          <p:cNvPr id="5139" name="Rectangle 18"/>
          <p:cNvSpPr>
            <a:spLocks noChangeArrowheads="1"/>
          </p:cNvSpPr>
          <p:nvPr/>
        </p:nvSpPr>
        <p:spPr bwMode="auto">
          <a:xfrm>
            <a:off x="3149600" y="5638800"/>
            <a:ext cx="3759200" cy="457200"/>
          </a:xfrm>
          <a:prstGeom prst="rect">
            <a:avLst/>
          </a:prstGeom>
          <a:noFill/>
          <a:ln>
            <a:noFill/>
          </a:ln>
          <a:extLst>
            <a:ext uri="{909E8E84-426E-40DD-AFC4-6F175D3DCCD1}">
              <a14:hiddenFill xmlns:a14="http://schemas.microsoft.com/office/drawing/2010/main">
                <a:solidFill>
                  <a:srgbClr val="F5FAF3"/>
                </a:solidFill>
              </a14:hiddenFill>
            </a:ext>
            <a:ext uri="{91240B29-F687-4F45-9708-019B960494DF}">
              <a14:hiddenLine xmlns:a14="http://schemas.microsoft.com/office/drawing/2010/main" w="9525" algn="ctr">
                <a:solidFill>
                  <a:srgbClr val="F2F2F2"/>
                </a:solidFill>
                <a:round/>
                <a:headEnd/>
                <a:tailEnd/>
              </a14:hiddenLine>
            </a:ext>
          </a:extLst>
        </p:spPr>
        <p:txBody>
          <a:bodyPr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HTML5</a:t>
            </a:r>
            <a:endParaRPr lang="en-IN" altLang="en-US" sz="1600"/>
          </a:p>
        </p:txBody>
      </p:sp>
      <p:cxnSp>
        <p:nvCxnSpPr>
          <p:cNvPr id="5140" name="Straight Connector 16"/>
          <p:cNvCxnSpPr>
            <a:cxnSpLocks noChangeShapeType="1"/>
          </p:cNvCxnSpPr>
          <p:nvPr/>
        </p:nvCxnSpPr>
        <p:spPr bwMode="auto">
          <a:xfrm>
            <a:off x="1320800" y="25908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41" name="Rectangle 17"/>
          <p:cNvSpPr>
            <a:spLocks noChangeArrowheads="1"/>
          </p:cNvSpPr>
          <p:nvPr/>
        </p:nvSpPr>
        <p:spPr bwMode="auto">
          <a:xfrm>
            <a:off x="508000" y="24384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1995</a:t>
            </a:r>
            <a:endParaRPr lang="en-IN" altLang="en-US" sz="1400" b="1"/>
          </a:p>
        </p:txBody>
      </p:sp>
      <p:cxnSp>
        <p:nvCxnSpPr>
          <p:cNvPr id="5142" name="Straight Connector 16"/>
          <p:cNvCxnSpPr>
            <a:cxnSpLocks noChangeShapeType="1"/>
          </p:cNvCxnSpPr>
          <p:nvPr/>
        </p:nvCxnSpPr>
        <p:spPr bwMode="auto">
          <a:xfrm>
            <a:off x="1320800" y="31242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43" name="Rectangle 17"/>
          <p:cNvSpPr>
            <a:spLocks noChangeArrowheads="1"/>
          </p:cNvSpPr>
          <p:nvPr/>
        </p:nvSpPr>
        <p:spPr bwMode="auto">
          <a:xfrm>
            <a:off x="508000" y="29718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1997</a:t>
            </a:r>
            <a:endParaRPr lang="en-IN" altLang="en-US" sz="1400" b="1"/>
          </a:p>
        </p:txBody>
      </p:sp>
      <p:cxnSp>
        <p:nvCxnSpPr>
          <p:cNvPr id="5144" name="Straight Connector 16"/>
          <p:cNvCxnSpPr>
            <a:cxnSpLocks noChangeShapeType="1"/>
          </p:cNvCxnSpPr>
          <p:nvPr/>
        </p:nvCxnSpPr>
        <p:spPr bwMode="auto">
          <a:xfrm>
            <a:off x="1320800" y="3581400"/>
            <a:ext cx="1422400"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5145" name="Rectangle 17"/>
          <p:cNvSpPr>
            <a:spLocks noChangeArrowheads="1"/>
          </p:cNvSpPr>
          <p:nvPr/>
        </p:nvSpPr>
        <p:spPr bwMode="auto">
          <a:xfrm>
            <a:off x="508000" y="3429000"/>
            <a:ext cx="812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F2F2F2"/>
                </a:solidFill>
                <a:round/>
                <a:headEnd/>
                <a:tailEnd/>
              </a14:hiddenLine>
            </a:ext>
          </a:extLst>
        </p:spPr>
        <p:txBody>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ct val="0"/>
              </a:spcBef>
              <a:buClrTx/>
              <a:buSzTx/>
              <a:buFontTx/>
              <a:buNone/>
            </a:pPr>
            <a:r>
              <a:rPr lang="en-US" altLang="en-US" sz="1400" b="1"/>
              <a:t>1999</a:t>
            </a:r>
            <a:endParaRPr lang="en-IN" altLang="en-US" sz="1400" b="1"/>
          </a:p>
        </p:txBody>
      </p:sp>
      <p:sp>
        <p:nvSpPr>
          <p:cNvPr id="5146" name="Text Box 57"/>
          <p:cNvSpPr txBox="1">
            <a:spLocks noChangeArrowheads="1"/>
          </p:cNvSpPr>
          <p:nvPr/>
        </p:nvSpPr>
        <p:spPr bwMode="auto">
          <a:xfrm>
            <a:off x="5486400" y="4724400"/>
            <a:ext cx="6197600" cy="666750"/>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HTML5 is much more tolerant and can handle markup from all the prior versions.</a:t>
            </a:r>
            <a:endParaRPr lang="en-IN" altLang="en-US" sz="1800"/>
          </a:p>
        </p:txBody>
      </p:sp>
      <p:sp>
        <p:nvSpPr>
          <p:cNvPr id="5147" name="Text Box 58"/>
          <p:cNvSpPr txBox="1">
            <a:spLocks noChangeArrowheads="1"/>
          </p:cNvSpPr>
          <p:nvPr/>
        </p:nvSpPr>
        <p:spPr bwMode="auto">
          <a:xfrm>
            <a:off x="5486400" y="5562601"/>
            <a:ext cx="6197600" cy="606425"/>
          </a:xfrm>
          <a:prstGeom prst="rect">
            <a:avLst/>
          </a:prstGeom>
          <a:solidFill>
            <a:srgbClr val="CC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Though HTML5 was published officially in 2012, it has been in development since 2004.</a:t>
            </a:r>
            <a:endParaRPr lang="en-IN" altLang="en-US" sz="1600"/>
          </a:p>
        </p:txBody>
      </p:sp>
      <p:sp>
        <p:nvSpPr>
          <p:cNvPr id="5148" name="Text Box 59"/>
          <p:cNvSpPr txBox="1">
            <a:spLocks noChangeArrowheads="1"/>
          </p:cNvSpPr>
          <p:nvPr/>
        </p:nvSpPr>
        <p:spPr bwMode="auto">
          <a:xfrm>
            <a:off x="5486400" y="2514600"/>
            <a:ext cx="6197600" cy="666750"/>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After HTML 4.01 was released, focus shifted to XHTML and its stricter standards.</a:t>
            </a:r>
            <a:endParaRPr lang="en-IN" altLang="en-US" sz="1800"/>
          </a:p>
        </p:txBody>
      </p:sp>
      <p:sp>
        <p:nvSpPr>
          <p:cNvPr id="5149" name="Text Box 60"/>
          <p:cNvSpPr txBox="1">
            <a:spLocks noChangeArrowheads="1"/>
          </p:cNvSpPr>
          <p:nvPr/>
        </p:nvSpPr>
        <p:spPr bwMode="auto">
          <a:xfrm>
            <a:off x="5486400" y="3352801"/>
            <a:ext cx="6197600" cy="923330"/>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XHTML 2.0 had even stricter standards than 1.0, rejecting web pages that did not comply.  It fell out of favor gradually and was abandoned completely in 2009.</a:t>
            </a:r>
            <a:endParaRPr lang="en-IN" altLang="en-US" sz="1800"/>
          </a:p>
        </p:txBody>
      </p:sp>
      <p:sp>
        <p:nvSpPr>
          <p:cNvPr id="5150" name="Line 64"/>
          <p:cNvSpPr>
            <a:spLocks noChangeShapeType="1"/>
          </p:cNvSpPr>
          <p:nvPr/>
        </p:nvSpPr>
        <p:spPr bwMode="auto">
          <a:xfrm flipV="1">
            <a:off x="4312508" y="2895600"/>
            <a:ext cx="1072292"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5151" name="Line 65"/>
          <p:cNvSpPr>
            <a:spLocks noChangeShapeType="1"/>
          </p:cNvSpPr>
          <p:nvPr/>
        </p:nvSpPr>
        <p:spPr bwMode="auto">
          <a:xfrm flipV="1">
            <a:off x="4188941" y="4010796"/>
            <a:ext cx="1297459" cy="86600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2" name="Line 65"/>
          <p:cNvSpPr>
            <a:spLocks noChangeShapeType="1"/>
          </p:cNvSpPr>
          <p:nvPr/>
        </p:nvSpPr>
        <p:spPr bwMode="auto">
          <a:xfrm flipV="1">
            <a:off x="3923270" y="5057774"/>
            <a:ext cx="1563130" cy="8080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38624452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09600" y="457200"/>
            <a:ext cx="10972800" cy="914400"/>
          </a:xfrm>
        </p:spPr>
        <p:txBody>
          <a:bodyPr/>
          <a:lstStyle/>
          <a:p>
            <a:pPr algn="ctr"/>
            <a:r>
              <a:rPr lang="en-US" altLang="en-US" sz="4000" smtClean="0"/>
              <a:t>What is HTML5?</a:t>
            </a:r>
          </a:p>
        </p:txBody>
      </p:sp>
      <p:sp>
        <p:nvSpPr>
          <p:cNvPr id="6147" name="Rectangle 3"/>
          <p:cNvSpPr>
            <a:spLocks noGrp="1" noChangeArrowheads="1"/>
          </p:cNvSpPr>
          <p:nvPr>
            <p:ph idx="1"/>
          </p:nvPr>
        </p:nvSpPr>
        <p:spPr>
          <a:xfrm>
            <a:off x="321276" y="1752600"/>
            <a:ext cx="11261124" cy="4191000"/>
          </a:xfrm>
        </p:spPr>
        <p:txBody>
          <a:bodyPr/>
          <a:lstStyle/>
          <a:p>
            <a:pPr>
              <a:lnSpc>
                <a:spcPts val="3000"/>
              </a:lnSpc>
              <a:buFont typeface="Wingdings" panose="05000000000000000000" pitchFamily="2" charset="2"/>
              <a:buChar char="Ø"/>
            </a:pPr>
            <a:r>
              <a:rPr lang="en-US" altLang="en-US" sz="2400" dirty="0" smtClean="0"/>
              <a:t>HTML5 is the newest version of HTML, only recently gaining partial support by the makers of web browsers.</a:t>
            </a:r>
          </a:p>
          <a:p>
            <a:pPr>
              <a:lnSpc>
                <a:spcPts val="3000"/>
              </a:lnSpc>
              <a:buFont typeface="Wingdings" panose="05000000000000000000" pitchFamily="2" charset="2"/>
              <a:buChar char="Ø"/>
            </a:pPr>
            <a:r>
              <a:rPr lang="en-US" altLang="en-US" sz="2400" dirty="0" smtClean="0"/>
              <a:t>It incorporates all features from earlier versions of HTML, including the stricter XHTML.</a:t>
            </a:r>
          </a:p>
          <a:p>
            <a:pPr>
              <a:lnSpc>
                <a:spcPts val="3000"/>
              </a:lnSpc>
              <a:buFont typeface="Wingdings" panose="05000000000000000000" pitchFamily="2" charset="2"/>
              <a:buChar char="Ø"/>
            </a:pPr>
            <a:r>
              <a:rPr lang="en-US" altLang="en-US" sz="2400" dirty="0" smtClean="0"/>
              <a:t>It adds a diverse set of new tools for the web developer to use.</a:t>
            </a:r>
          </a:p>
          <a:p>
            <a:pPr>
              <a:lnSpc>
                <a:spcPts val="3000"/>
              </a:lnSpc>
              <a:buFont typeface="Wingdings" panose="05000000000000000000" pitchFamily="2" charset="2"/>
              <a:buChar char="Ø"/>
            </a:pPr>
            <a:r>
              <a:rPr lang="en-US" altLang="en-US" sz="2400" dirty="0" smtClean="0"/>
              <a:t>It is still a work in progress.  No browsers have full HTML5 support.  It will be many years – perhaps not until 2018 or later - before being fully defined and supported.</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Tree>
    <p:extLst>
      <p:ext uri="{BB962C8B-B14F-4D97-AF65-F5344CB8AC3E}">
        <p14:creationId xmlns:p14="http://schemas.microsoft.com/office/powerpoint/2010/main" val="41949880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457200"/>
            <a:ext cx="10972800" cy="838200"/>
          </a:xfrm>
        </p:spPr>
        <p:txBody>
          <a:bodyPr/>
          <a:lstStyle/>
          <a:p>
            <a:pPr algn="ctr"/>
            <a:r>
              <a:rPr lang="en-US" altLang="en-US" sz="4000" smtClean="0"/>
              <a:t>Goals of HTML5</a:t>
            </a:r>
          </a:p>
        </p:txBody>
      </p:sp>
      <p:sp>
        <p:nvSpPr>
          <p:cNvPr id="7171" name="Rectangle 3"/>
          <p:cNvSpPr>
            <a:spLocks noGrp="1" noChangeArrowheads="1"/>
          </p:cNvSpPr>
          <p:nvPr>
            <p:ph idx="4294967295"/>
          </p:nvPr>
        </p:nvSpPr>
        <p:spPr>
          <a:xfrm>
            <a:off x="0" y="1764957"/>
            <a:ext cx="10972800" cy="4191000"/>
          </a:xfrm>
        </p:spPr>
        <p:txBody>
          <a:bodyPr/>
          <a:lstStyle/>
          <a:p>
            <a:pPr>
              <a:lnSpc>
                <a:spcPts val="3000"/>
              </a:lnSpc>
              <a:buFont typeface="Wingdings" panose="05000000000000000000" pitchFamily="2" charset="2"/>
              <a:buChar char="Ø"/>
            </a:pPr>
            <a:r>
              <a:rPr lang="en-US" altLang="en-US" sz="2400" smtClean="0"/>
              <a:t>Support all existing web pages.  With HTML5, there is no requirement to go back and revise older websites.</a:t>
            </a:r>
          </a:p>
          <a:p>
            <a:pPr>
              <a:lnSpc>
                <a:spcPts val="3000"/>
              </a:lnSpc>
              <a:buFont typeface="Wingdings" panose="05000000000000000000" pitchFamily="2" charset="2"/>
              <a:buChar char="Ø"/>
            </a:pPr>
            <a:r>
              <a:rPr lang="en-US" altLang="en-US" sz="2400" smtClean="0"/>
              <a:t>Reduce the need for external plugins and scripts to show website content.</a:t>
            </a:r>
          </a:p>
          <a:p>
            <a:pPr>
              <a:lnSpc>
                <a:spcPts val="3000"/>
              </a:lnSpc>
              <a:buFont typeface="Wingdings" panose="05000000000000000000" pitchFamily="2" charset="2"/>
              <a:buChar char="Ø"/>
            </a:pPr>
            <a:r>
              <a:rPr lang="en-US" altLang="en-US" sz="2400" smtClean="0"/>
              <a:t>Improve the semantic definition (i.e. meaning and purpose) of page elements.</a:t>
            </a:r>
          </a:p>
          <a:p>
            <a:pPr>
              <a:lnSpc>
                <a:spcPts val="3000"/>
              </a:lnSpc>
              <a:buFont typeface="Wingdings" panose="05000000000000000000" pitchFamily="2" charset="2"/>
              <a:buChar char="Ø"/>
            </a:pPr>
            <a:r>
              <a:rPr lang="en-US" altLang="en-US" sz="2400" smtClean="0"/>
              <a:t>Make the rendering of web content universal and independent of the device being used.</a:t>
            </a:r>
          </a:p>
          <a:p>
            <a:pPr>
              <a:lnSpc>
                <a:spcPts val="3000"/>
              </a:lnSpc>
              <a:buFont typeface="Wingdings" panose="05000000000000000000" pitchFamily="2" charset="2"/>
              <a:buChar char="Ø"/>
            </a:pPr>
            <a:r>
              <a:rPr lang="en-US" altLang="en-US" sz="2400" smtClean="0"/>
              <a:t>Handle web documents errors in a better and more consistent fashion.</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Tree>
    <p:extLst>
      <p:ext uri="{BB962C8B-B14F-4D97-AF65-F5344CB8AC3E}">
        <p14:creationId xmlns:p14="http://schemas.microsoft.com/office/powerpoint/2010/main" val="38083835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457200"/>
            <a:ext cx="10972800" cy="838200"/>
          </a:xfrm>
        </p:spPr>
        <p:txBody>
          <a:bodyPr/>
          <a:lstStyle/>
          <a:p>
            <a:pPr algn="ctr"/>
            <a:r>
              <a:rPr lang="en-US" altLang="en-US" sz="4000" smtClean="0"/>
              <a:t>New Elements in HTML5</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8196" name="Text Box 5"/>
          <p:cNvSpPr txBox="1">
            <a:spLocks noChangeArrowheads="1"/>
          </p:cNvSpPr>
          <p:nvPr/>
        </p:nvSpPr>
        <p:spPr bwMode="auto">
          <a:xfrm>
            <a:off x="4775200" y="1985964"/>
            <a:ext cx="2641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2400"/>
              <a:t>&lt;figcaption&gt;</a:t>
            </a:r>
          </a:p>
          <a:p>
            <a:pPr>
              <a:spcBef>
                <a:spcPct val="0"/>
              </a:spcBef>
              <a:buClrTx/>
              <a:buSzTx/>
              <a:buFontTx/>
              <a:buNone/>
            </a:pPr>
            <a:r>
              <a:rPr lang="en-US" altLang="en-US" sz="2400"/>
              <a:t>&lt;footer&gt;</a:t>
            </a:r>
          </a:p>
          <a:p>
            <a:pPr>
              <a:spcBef>
                <a:spcPct val="0"/>
              </a:spcBef>
              <a:buClrTx/>
              <a:buSzTx/>
              <a:buFontTx/>
              <a:buNone/>
            </a:pPr>
            <a:r>
              <a:rPr lang="en-US" altLang="en-US" sz="2400"/>
              <a:t>&lt;header&gt;</a:t>
            </a:r>
          </a:p>
          <a:p>
            <a:pPr>
              <a:spcBef>
                <a:spcPct val="0"/>
              </a:spcBef>
              <a:buClrTx/>
              <a:buSzTx/>
              <a:buFontTx/>
              <a:buNone/>
            </a:pPr>
            <a:r>
              <a:rPr lang="en-US" altLang="en-US" sz="2400"/>
              <a:t>&lt;hgroup&gt;</a:t>
            </a:r>
          </a:p>
          <a:p>
            <a:pPr>
              <a:spcBef>
                <a:spcPct val="0"/>
              </a:spcBef>
              <a:buClrTx/>
              <a:buSzTx/>
              <a:buFontTx/>
              <a:buNone/>
            </a:pPr>
            <a:r>
              <a:rPr lang="en-US" altLang="en-US" sz="2400"/>
              <a:t>&lt;mark&gt;</a:t>
            </a:r>
            <a:endParaRPr lang="en-US" altLang="en-US" sz="2400">
              <a:solidFill>
                <a:srgbClr val="FF3300"/>
              </a:solidFill>
            </a:endParaRPr>
          </a:p>
          <a:p>
            <a:pPr>
              <a:spcBef>
                <a:spcPct val="0"/>
              </a:spcBef>
              <a:buClrTx/>
              <a:buSzTx/>
              <a:buFontTx/>
              <a:buNone/>
            </a:pPr>
            <a:r>
              <a:rPr lang="en-US" altLang="en-US" sz="2400"/>
              <a:t>&lt;nav&gt;</a:t>
            </a:r>
          </a:p>
        </p:txBody>
      </p:sp>
      <p:sp>
        <p:nvSpPr>
          <p:cNvPr id="8197" name="Text Box 6"/>
          <p:cNvSpPr txBox="1">
            <a:spLocks noChangeArrowheads="1"/>
          </p:cNvSpPr>
          <p:nvPr/>
        </p:nvSpPr>
        <p:spPr bwMode="auto">
          <a:xfrm>
            <a:off x="7721600" y="1985964"/>
            <a:ext cx="2641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2400"/>
              <a:t>&lt;progress&gt;</a:t>
            </a:r>
          </a:p>
          <a:p>
            <a:pPr>
              <a:spcBef>
                <a:spcPct val="0"/>
              </a:spcBef>
              <a:buClrTx/>
              <a:buSzTx/>
              <a:buFontTx/>
              <a:buNone/>
            </a:pPr>
            <a:r>
              <a:rPr lang="en-US" altLang="en-US" sz="2400"/>
              <a:t>&lt;section&gt;</a:t>
            </a:r>
          </a:p>
          <a:p>
            <a:pPr>
              <a:spcBef>
                <a:spcPct val="0"/>
              </a:spcBef>
              <a:buClrTx/>
              <a:buSzTx/>
              <a:buFontTx/>
              <a:buNone/>
            </a:pPr>
            <a:r>
              <a:rPr lang="en-US" altLang="en-US" sz="2400"/>
              <a:t>&lt;source&gt;</a:t>
            </a:r>
          </a:p>
          <a:p>
            <a:pPr>
              <a:spcBef>
                <a:spcPct val="0"/>
              </a:spcBef>
              <a:buClrTx/>
              <a:buSzTx/>
              <a:buFontTx/>
              <a:buNone/>
            </a:pPr>
            <a:r>
              <a:rPr lang="en-US" altLang="en-US" sz="2400"/>
              <a:t>&lt;svg&gt;</a:t>
            </a:r>
          </a:p>
          <a:p>
            <a:pPr>
              <a:spcBef>
                <a:spcPct val="0"/>
              </a:spcBef>
              <a:buClrTx/>
              <a:buSzTx/>
              <a:buFontTx/>
              <a:buNone/>
            </a:pPr>
            <a:r>
              <a:rPr lang="en-US" altLang="en-US" sz="2400"/>
              <a:t>&lt;time&gt;</a:t>
            </a:r>
          </a:p>
          <a:p>
            <a:pPr>
              <a:spcBef>
                <a:spcPct val="0"/>
              </a:spcBef>
              <a:buClrTx/>
              <a:buSzTx/>
              <a:buFontTx/>
              <a:buNone/>
            </a:pPr>
            <a:r>
              <a:rPr lang="en-US" altLang="en-US" sz="2400"/>
              <a:t>&lt;video&gt;</a:t>
            </a:r>
          </a:p>
        </p:txBody>
      </p:sp>
      <p:sp>
        <p:nvSpPr>
          <p:cNvPr id="8198" name="Text Box 7"/>
          <p:cNvSpPr txBox="1">
            <a:spLocks noChangeArrowheads="1"/>
          </p:cNvSpPr>
          <p:nvPr/>
        </p:nvSpPr>
        <p:spPr bwMode="auto">
          <a:xfrm>
            <a:off x="1422400" y="5276850"/>
            <a:ext cx="9550400" cy="666750"/>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These are just some of the new elements introduced in HTML5.  We will be exploring each of these during this course.</a:t>
            </a:r>
            <a:endParaRPr lang="en-IN" altLang="en-US" sz="1800"/>
          </a:p>
        </p:txBody>
      </p:sp>
      <p:sp>
        <p:nvSpPr>
          <p:cNvPr id="8199" name="Text Box 8"/>
          <p:cNvSpPr txBox="1">
            <a:spLocks noChangeArrowheads="1"/>
          </p:cNvSpPr>
          <p:nvPr/>
        </p:nvSpPr>
        <p:spPr bwMode="auto">
          <a:xfrm>
            <a:off x="1930400" y="1985964"/>
            <a:ext cx="2641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2400"/>
              <a:t>&lt;article&gt;</a:t>
            </a:r>
          </a:p>
          <a:p>
            <a:pPr>
              <a:spcBef>
                <a:spcPct val="0"/>
              </a:spcBef>
              <a:buClrTx/>
              <a:buSzTx/>
              <a:buFontTx/>
              <a:buNone/>
            </a:pPr>
            <a:r>
              <a:rPr lang="en-US" altLang="en-US" sz="2400"/>
              <a:t>&lt;aside&gt;</a:t>
            </a:r>
          </a:p>
          <a:p>
            <a:pPr>
              <a:spcBef>
                <a:spcPct val="0"/>
              </a:spcBef>
              <a:buClrTx/>
              <a:buSzTx/>
              <a:buFontTx/>
              <a:buNone/>
            </a:pPr>
            <a:r>
              <a:rPr lang="en-US" altLang="en-US" sz="2400"/>
              <a:t>&lt;audio&gt;</a:t>
            </a:r>
          </a:p>
          <a:p>
            <a:pPr>
              <a:spcBef>
                <a:spcPct val="0"/>
              </a:spcBef>
              <a:buClrTx/>
              <a:buSzTx/>
              <a:buFontTx/>
              <a:buNone/>
            </a:pPr>
            <a:r>
              <a:rPr lang="en-US" altLang="en-US" sz="2400"/>
              <a:t>&lt;canvas&gt;</a:t>
            </a:r>
          </a:p>
          <a:p>
            <a:pPr>
              <a:spcBef>
                <a:spcPct val="0"/>
              </a:spcBef>
              <a:buClrTx/>
              <a:buSzTx/>
              <a:buFontTx/>
              <a:buNone/>
            </a:pPr>
            <a:r>
              <a:rPr lang="en-US" altLang="en-US" sz="2400"/>
              <a:t>&lt;datalist&gt;</a:t>
            </a:r>
          </a:p>
          <a:p>
            <a:pPr>
              <a:spcBef>
                <a:spcPct val="0"/>
              </a:spcBef>
              <a:buClrTx/>
              <a:buSzTx/>
              <a:buFontTx/>
              <a:buNone/>
            </a:pPr>
            <a:r>
              <a:rPr lang="en-US" altLang="en-US" sz="2400"/>
              <a:t>&lt;figure&gt;</a:t>
            </a:r>
          </a:p>
        </p:txBody>
      </p:sp>
    </p:spTree>
    <p:extLst>
      <p:ext uri="{BB962C8B-B14F-4D97-AF65-F5344CB8AC3E}">
        <p14:creationId xmlns:p14="http://schemas.microsoft.com/office/powerpoint/2010/main" val="2273550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57200"/>
            <a:ext cx="10972800" cy="838200"/>
          </a:xfrm>
        </p:spPr>
        <p:txBody>
          <a:bodyPr/>
          <a:lstStyle/>
          <a:p>
            <a:pPr algn="ctr"/>
            <a:r>
              <a:rPr lang="en-US" altLang="en-US" sz="4000" smtClean="0"/>
              <a:t>Other New Features in HTML5</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9220" name="Rectangle 3"/>
          <p:cNvSpPr>
            <a:spLocks noChangeArrowheads="1"/>
          </p:cNvSpPr>
          <p:nvPr/>
        </p:nvSpPr>
        <p:spPr bwMode="auto">
          <a:xfrm>
            <a:off x="812800" y="1676400"/>
            <a:ext cx="109728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nSpc>
                <a:spcPts val="3000"/>
              </a:lnSpc>
            </a:pPr>
            <a:r>
              <a:rPr lang="en-US" altLang="en-US" sz="2400"/>
              <a:t>Built-in audio and video support (without plugins)</a:t>
            </a:r>
          </a:p>
          <a:p>
            <a:pPr>
              <a:lnSpc>
                <a:spcPts val="3000"/>
              </a:lnSpc>
            </a:pPr>
            <a:r>
              <a:rPr lang="en-US" altLang="en-US" sz="2400"/>
              <a:t>Enhanced form controls and attributes</a:t>
            </a:r>
          </a:p>
          <a:p>
            <a:pPr>
              <a:lnSpc>
                <a:spcPts val="3000"/>
              </a:lnSpc>
            </a:pPr>
            <a:r>
              <a:rPr lang="en-US" altLang="en-US" sz="2400"/>
              <a:t>The Canvas (a way to draw directly on a web page)</a:t>
            </a:r>
          </a:p>
          <a:p>
            <a:pPr>
              <a:lnSpc>
                <a:spcPts val="3000"/>
              </a:lnSpc>
            </a:pPr>
            <a:r>
              <a:rPr lang="en-US" altLang="en-US" sz="2400"/>
              <a:t>Drag and Drop functionality</a:t>
            </a:r>
          </a:p>
          <a:p>
            <a:pPr>
              <a:lnSpc>
                <a:spcPts val="3000"/>
              </a:lnSpc>
            </a:pPr>
            <a:r>
              <a:rPr lang="en-US" altLang="en-US" sz="2400"/>
              <a:t>Support for CSS3 (the newer and more powerful version of CSS)</a:t>
            </a:r>
          </a:p>
          <a:p>
            <a:pPr>
              <a:lnSpc>
                <a:spcPts val="3000"/>
              </a:lnSpc>
            </a:pPr>
            <a:r>
              <a:rPr lang="en-US" altLang="en-US" sz="2400"/>
              <a:t>More advanced features for web developers, such as data storage and offline applications.</a:t>
            </a:r>
          </a:p>
        </p:txBody>
      </p:sp>
    </p:spTree>
    <p:extLst>
      <p:ext uri="{BB962C8B-B14F-4D97-AF65-F5344CB8AC3E}">
        <p14:creationId xmlns:p14="http://schemas.microsoft.com/office/powerpoint/2010/main" val="25744183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0" y="457200"/>
            <a:ext cx="10972800" cy="838200"/>
          </a:xfrm>
        </p:spPr>
        <p:txBody>
          <a:bodyPr/>
          <a:lstStyle/>
          <a:p>
            <a:pPr algn="ctr"/>
            <a:r>
              <a:rPr lang="en-US" altLang="en-US" sz="4000" smtClean="0"/>
              <a:t>First Look at HTML5</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10244" name="Text Box 5"/>
          <p:cNvSpPr txBox="1">
            <a:spLocks noChangeArrowheads="1"/>
          </p:cNvSpPr>
          <p:nvPr/>
        </p:nvSpPr>
        <p:spPr bwMode="auto">
          <a:xfrm>
            <a:off x="508000" y="1752601"/>
            <a:ext cx="558358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Remember the DOCTYPE declaration from XHTML?</a:t>
            </a:r>
          </a:p>
        </p:txBody>
      </p:sp>
      <p:sp>
        <p:nvSpPr>
          <p:cNvPr id="10245" name="Rectangle 3"/>
          <p:cNvSpPr>
            <a:spLocks noChangeArrowheads="1"/>
          </p:cNvSpPr>
          <p:nvPr/>
        </p:nvSpPr>
        <p:spPr bwMode="auto">
          <a:xfrm>
            <a:off x="609600" y="2362200"/>
            <a:ext cx="10769600" cy="6858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eaLnBrk="1" hangingPunct="1">
              <a:buFont typeface="Wingdings" pitchFamily="2" charset="2"/>
              <a:buNone/>
            </a:pPr>
            <a:r>
              <a:rPr lang="en-US" altLang="en-US" sz="1600" b="1">
                <a:latin typeface="Courier New" pitchFamily="49" charset="0"/>
              </a:rPr>
              <a:t>&lt;!DOCTYPE html PUBLIC "-//W3C//DTD XHTML 1.0 Transitional//EN"</a:t>
            </a:r>
          </a:p>
          <a:p>
            <a:pPr eaLnBrk="1" hangingPunct="1">
              <a:buFont typeface="Wingdings" pitchFamily="2" charset="2"/>
              <a:buNone/>
            </a:pPr>
            <a:r>
              <a:rPr lang="en-US" altLang="en-US" sz="1600" b="1">
                <a:latin typeface="Courier New" pitchFamily="49" charset="0"/>
              </a:rPr>
              <a:t>   "http://www.w3.org/TR/xhtml1/DTD/xhtml1-transitional.dtd"&gt;</a:t>
            </a:r>
          </a:p>
        </p:txBody>
      </p:sp>
      <p:sp>
        <p:nvSpPr>
          <p:cNvPr id="10246" name="Text Box 7"/>
          <p:cNvSpPr txBox="1">
            <a:spLocks noChangeArrowheads="1"/>
          </p:cNvSpPr>
          <p:nvPr/>
        </p:nvSpPr>
        <p:spPr bwMode="auto">
          <a:xfrm>
            <a:off x="508000" y="3352801"/>
            <a:ext cx="79688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In HTML5, there is just one possible DOCTYPE declaration and it is simpler:</a:t>
            </a:r>
          </a:p>
        </p:txBody>
      </p:sp>
      <p:sp>
        <p:nvSpPr>
          <p:cNvPr id="10247" name="Rectangle 3"/>
          <p:cNvSpPr>
            <a:spLocks noChangeArrowheads="1"/>
          </p:cNvSpPr>
          <p:nvPr/>
        </p:nvSpPr>
        <p:spPr bwMode="auto">
          <a:xfrm>
            <a:off x="609600" y="3962400"/>
            <a:ext cx="10769600" cy="3810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eaLnBrk="1" hangingPunct="1">
              <a:buFont typeface="Wingdings" pitchFamily="2" charset="2"/>
              <a:buNone/>
            </a:pPr>
            <a:r>
              <a:rPr lang="en-US" altLang="en-US" sz="1600" b="1">
                <a:latin typeface="Courier New" pitchFamily="49" charset="0"/>
              </a:rPr>
              <a:t>&lt;!DOCTYPE html&gt;</a:t>
            </a:r>
          </a:p>
        </p:txBody>
      </p:sp>
      <p:sp>
        <p:nvSpPr>
          <p:cNvPr id="10248" name="Text Box 9"/>
          <p:cNvSpPr txBox="1">
            <a:spLocks noChangeArrowheads="1"/>
          </p:cNvSpPr>
          <p:nvPr/>
        </p:nvSpPr>
        <p:spPr bwMode="auto">
          <a:xfrm>
            <a:off x="609600" y="4876800"/>
            <a:ext cx="3251200" cy="338554"/>
          </a:xfrm>
          <a:prstGeom prst="rect">
            <a:avLst/>
          </a:prstGeom>
          <a:solidFill>
            <a:srgbClr val="CC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lgn="ctr">
              <a:spcBef>
                <a:spcPts val="600"/>
              </a:spcBef>
              <a:spcAft>
                <a:spcPts val="600"/>
              </a:spcAft>
              <a:buClrTx/>
              <a:buSzTx/>
              <a:buFontTx/>
              <a:buNone/>
            </a:pPr>
            <a:r>
              <a:rPr lang="en-US" altLang="en-US" sz="1600"/>
              <a:t>Just 15 characters!</a:t>
            </a:r>
            <a:endParaRPr lang="en-IN" altLang="en-US" sz="1600"/>
          </a:p>
        </p:txBody>
      </p:sp>
      <p:sp>
        <p:nvSpPr>
          <p:cNvPr id="10249" name="Line 10"/>
          <p:cNvSpPr>
            <a:spLocks noChangeShapeType="1"/>
          </p:cNvSpPr>
          <p:nvPr/>
        </p:nvSpPr>
        <p:spPr bwMode="auto">
          <a:xfrm flipH="1" flipV="1">
            <a:off x="2032000" y="4343400"/>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10250" name="Text Box 11"/>
          <p:cNvSpPr txBox="1">
            <a:spLocks noChangeArrowheads="1"/>
          </p:cNvSpPr>
          <p:nvPr/>
        </p:nvSpPr>
        <p:spPr bwMode="auto">
          <a:xfrm>
            <a:off x="609600" y="5410200"/>
            <a:ext cx="10668000" cy="941388"/>
          </a:xfrm>
          <a:prstGeom prst="rect">
            <a:avLst/>
          </a:prstGeom>
          <a:solidFill>
            <a:schemeClr val="accent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The DOCTYPE tells the browser which type and version of document to expect.  This should be the last time the DOCTYPE is ever changed.  From now on, all future versions of HTML will use this same simplified declaration.</a:t>
            </a:r>
            <a:endParaRPr lang="en-IN" altLang="en-US" sz="1800"/>
          </a:p>
        </p:txBody>
      </p:sp>
    </p:spTree>
    <p:extLst>
      <p:ext uri="{BB962C8B-B14F-4D97-AF65-F5344CB8AC3E}">
        <p14:creationId xmlns:p14="http://schemas.microsoft.com/office/powerpoint/2010/main" val="42406379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0" y="457200"/>
            <a:ext cx="10972800" cy="838200"/>
          </a:xfrm>
        </p:spPr>
        <p:txBody>
          <a:bodyPr/>
          <a:lstStyle/>
          <a:p>
            <a:pPr algn="ctr"/>
            <a:r>
              <a:rPr lang="en-US" altLang="en-US" sz="4000" smtClean="0"/>
              <a:t>The &lt;html&gt; Element</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11268" name="Text Box 4"/>
          <p:cNvSpPr txBox="1">
            <a:spLocks noChangeArrowheads="1"/>
          </p:cNvSpPr>
          <p:nvPr/>
        </p:nvSpPr>
        <p:spPr bwMode="auto">
          <a:xfrm>
            <a:off x="508000" y="1752601"/>
            <a:ext cx="57502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This is what the &lt;html&gt; element looked like in XHTML:</a:t>
            </a:r>
          </a:p>
        </p:txBody>
      </p:sp>
      <p:sp>
        <p:nvSpPr>
          <p:cNvPr id="11269" name="Rectangle 3"/>
          <p:cNvSpPr>
            <a:spLocks noChangeArrowheads="1"/>
          </p:cNvSpPr>
          <p:nvPr/>
        </p:nvSpPr>
        <p:spPr bwMode="auto">
          <a:xfrm>
            <a:off x="609600" y="2362200"/>
            <a:ext cx="10769600" cy="6858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eaLnBrk="1" hangingPunct="1">
              <a:buFont typeface="Wingdings" pitchFamily="2" charset="2"/>
              <a:buNone/>
            </a:pPr>
            <a:r>
              <a:rPr lang="en-US" altLang="en-US" sz="1600" b="1">
                <a:latin typeface="Courier New" pitchFamily="49" charset="0"/>
              </a:rPr>
              <a:t>&lt;html xmlns="http://www.w3.org/1999/xhtml" xml:lang="en" lang="en"&gt;</a:t>
            </a:r>
          </a:p>
        </p:txBody>
      </p:sp>
      <p:sp>
        <p:nvSpPr>
          <p:cNvPr id="11270" name="Text Box 6"/>
          <p:cNvSpPr txBox="1">
            <a:spLocks noChangeArrowheads="1"/>
          </p:cNvSpPr>
          <p:nvPr/>
        </p:nvSpPr>
        <p:spPr bwMode="auto">
          <a:xfrm>
            <a:off x="508000" y="3352801"/>
            <a:ext cx="35830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Again, HTML5 simplifies this line:</a:t>
            </a:r>
          </a:p>
        </p:txBody>
      </p:sp>
      <p:sp>
        <p:nvSpPr>
          <p:cNvPr id="11271" name="Rectangle 3"/>
          <p:cNvSpPr>
            <a:spLocks noChangeArrowheads="1"/>
          </p:cNvSpPr>
          <p:nvPr/>
        </p:nvSpPr>
        <p:spPr bwMode="auto">
          <a:xfrm>
            <a:off x="609600" y="3962400"/>
            <a:ext cx="10769600" cy="3810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eaLnBrk="1" hangingPunct="1">
              <a:buFont typeface="Wingdings" pitchFamily="2" charset="2"/>
              <a:buNone/>
            </a:pPr>
            <a:r>
              <a:rPr lang="en-US" altLang="en-US" sz="1600" b="1">
                <a:latin typeface="Courier New" pitchFamily="49" charset="0"/>
              </a:rPr>
              <a:t>&lt;html lang="en"&gt;</a:t>
            </a:r>
          </a:p>
        </p:txBody>
      </p:sp>
      <p:sp>
        <p:nvSpPr>
          <p:cNvPr id="11272" name="Text Box 10"/>
          <p:cNvSpPr txBox="1">
            <a:spLocks noChangeArrowheads="1"/>
          </p:cNvSpPr>
          <p:nvPr/>
        </p:nvSpPr>
        <p:spPr bwMode="auto">
          <a:xfrm>
            <a:off x="609600" y="5943601"/>
            <a:ext cx="10769600" cy="606425"/>
          </a:xfrm>
          <a:prstGeom prst="rect">
            <a:avLst/>
          </a:prstGeom>
          <a:solidFill>
            <a:srgbClr val="CCFFCC"/>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600"/>
              <a:t>Each of the world’s major languages has a two-character code, e.g. Spanish = "es", French = "fr", German = "de", Chinese = "zh", Arabic = "ar".</a:t>
            </a:r>
            <a:endParaRPr lang="en-IN" altLang="en-US" sz="1600"/>
          </a:p>
        </p:txBody>
      </p:sp>
      <p:sp>
        <p:nvSpPr>
          <p:cNvPr id="11273" name="Text Box 12"/>
          <p:cNvSpPr txBox="1">
            <a:spLocks noChangeArrowheads="1"/>
          </p:cNvSpPr>
          <p:nvPr/>
        </p:nvSpPr>
        <p:spPr bwMode="auto">
          <a:xfrm>
            <a:off x="609600" y="4724400"/>
            <a:ext cx="10769600" cy="646331"/>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The </a:t>
            </a:r>
            <a:r>
              <a:rPr lang="en-US" altLang="en-US" sz="1800" b="1"/>
              <a:t>lang</a:t>
            </a:r>
            <a:r>
              <a:rPr lang="en-US" altLang="en-US" sz="1800"/>
              <a:t> attribute in the &lt;html&gt; element declares which language the page content is in.  Though not strictly required, it should always be specified, as it can assist search engines and screen readers.</a:t>
            </a:r>
            <a:endParaRPr lang="en-IN" altLang="en-US" sz="1800"/>
          </a:p>
        </p:txBody>
      </p:sp>
    </p:spTree>
    <p:extLst>
      <p:ext uri="{BB962C8B-B14F-4D97-AF65-F5344CB8AC3E}">
        <p14:creationId xmlns:p14="http://schemas.microsoft.com/office/powerpoint/2010/main" val="35511978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0" y="457200"/>
            <a:ext cx="10972800" cy="838200"/>
          </a:xfrm>
        </p:spPr>
        <p:txBody>
          <a:bodyPr/>
          <a:lstStyle/>
          <a:p>
            <a:pPr algn="ctr"/>
            <a:r>
              <a:rPr lang="en-US" altLang="en-US" sz="4000" smtClean="0"/>
              <a:t>The &lt;head&gt; Section</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12292" name="Text Box 4"/>
          <p:cNvSpPr txBox="1">
            <a:spLocks noChangeArrowheads="1"/>
          </p:cNvSpPr>
          <p:nvPr/>
        </p:nvSpPr>
        <p:spPr bwMode="auto">
          <a:xfrm>
            <a:off x="508000" y="1524001"/>
            <a:ext cx="43695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Here is a typical XHTML &lt;head&gt; section:</a:t>
            </a:r>
          </a:p>
        </p:txBody>
      </p:sp>
      <p:sp>
        <p:nvSpPr>
          <p:cNvPr id="12293" name="Rectangle 3"/>
          <p:cNvSpPr>
            <a:spLocks noChangeArrowheads="1"/>
          </p:cNvSpPr>
          <p:nvPr/>
        </p:nvSpPr>
        <p:spPr bwMode="auto">
          <a:xfrm>
            <a:off x="609600" y="1981200"/>
            <a:ext cx="10769600" cy="13716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buFont typeface="Wingdings" pitchFamily="2" charset="2"/>
              <a:buNone/>
            </a:pPr>
            <a:r>
              <a:rPr lang="en-US" altLang="en-US" sz="1400" b="1">
                <a:latin typeface="Courier New" pitchFamily="49" charset="0"/>
              </a:rPr>
              <a:t>&lt;head&gt;</a:t>
            </a:r>
          </a:p>
          <a:p>
            <a:pPr>
              <a:buFont typeface="Wingdings" pitchFamily="2" charset="2"/>
              <a:buNone/>
            </a:pPr>
            <a:r>
              <a:rPr lang="en-US" altLang="en-US" sz="1400" b="1">
                <a:latin typeface="Courier New" pitchFamily="49" charset="0"/>
              </a:rPr>
              <a:t>  &lt;meta http-equiv="Content-type" content="text/html; charset=UTF-8" /&gt;</a:t>
            </a:r>
          </a:p>
          <a:p>
            <a:pPr>
              <a:buFont typeface="Wingdings" pitchFamily="2" charset="2"/>
              <a:buNone/>
            </a:pPr>
            <a:r>
              <a:rPr lang="en-US" altLang="en-US" sz="1400" b="1">
                <a:latin typeface="Courier New" pitchFamily="49" charset="0"/>
              </a:rPr>
              <a:t>  &lt;title&gt;My First XHTML Page&lt;/title&gt;</a:t>
            </a:r>
          </a:p>
          <a:p>
            <a:pPr>
              <a:buFont typeface="Wingdings" pitchFamily="2" charset="2"/>
              <a:buNone/>
            </a:pPr>
            <a:r>
              <a:rPr lang="en-US" altLang="en-US" sz="1400" b="1">
                <a:latin typeface="Courier New" pitchFamily="49" charset="0"/>
              </a:rPr>
              <a:t>  &lt;link rel="stylesheet" type="text/css" href="style.css" /&gt;</a:t>
            </a:r>
          </a:p>
          <a:p>
            <a:pPr>
              <a:buFont typeface="Wingdings" pitchFamily="2" charset="2"/>
              <a:buNone/>
            </a:pPr>
            <a:r>
              <a:rPr lang="en-US" altLang="en-US" sz="1400" b="1">
                <a:latin typeface="Courier New" pitchFamily="49" charset="0"/>
              </a:rPr>
              <a:t>&lt;/head&gt;</a:t>
            </a:r>
          </a:p>
        </p:txBody>
      </p:sp>
      <p:sp>
        <p:nvSpPr>
          <p:cNvPr id="12294" name="Text Box 6"/>
          <p:cNvSpPr txBox="1">
            <a:spLocks noChangeArrowheads="1"/>
          </p:cNvSpPr>
          <p:nvPr/>
        </p:nvSpPr>
        <p:spPr bwMode="auto">
          <a:xfrm>
            <a:off x="609600" y="3505201"/>
            <a:ext cx="26725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a:t>And the HTML5 version:</a:t>
            </a:r>
          </a:p>
        </p:txBody>
      </p:sp>
      <p:sp>
        <p:nvSpPr>
          <p:cNvPr id="12295" name="Text Box 9"/>
          <p:cNvSpPr txBox="1">
            <a:spLocks noChangeArrowheads="1"/>
          </p:cNvSpPr>
          <p:nvPr/>
        </p:nvSpPr>
        <p:spPr bwMode="auto">
          <a:xfrm>
            <a:off x="609600" y="5791200"/>
            <a:ext cx="10769600" cy="666750"/>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Notice the simplified character set declaration, the shorter CSS stylesheet link text, and the removal of the trailing slashes for these two lines.</a:t>
            </a:r>
            <a:endParaRPr lang="en-IN" altLang="en-US" sz="1800"/>
          </a:p>
        </p:txBody>
      </p:sp>
      <p:sp>
        <p:nvSpPr>
          <p:cNvPr id="12296" name="Rectangle 3"/>
          <p:cNvSpPr>
            <a:spLocks noChangeArrowheads="1"/>
          </p:cNvSpPr>
          <p:nvPr/>
        </p:nvSpPr>
        <p:spPr bwMode="auto">
          <a:xfrm>
            <a:off x="609600" y="4038600"/>
            <a:ext cx="10769600" cy="13716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buFont typeface="Wingdings" pitchFamily="2" charset="2"/>
              <a:buNone/>
            </a:pPr>
            <a:r>
              <a:rPr lang="en-US" altLang="en-US" sz="1400" b="1">
                <a:latin typeface="Courier New" pitchFamily="49" charset="0"/>
              </a:rPr>
              <a:t>&lt;head&gt;</a:t>
            </a:r>
          </a:p>
          <a:p>
            <a:pPr>
              <a:buFont typeface="Wingdings" pitchFamily="2" charset="2"/>
              <a:buNone/>
            </a:pPr>
            <a:r>
              <a:rPr lang="en-US" altLang="en-US" sz="1400" b="1">
                <a:latin typeface="Courier New" pitchFamily="49" charset="0"/>
              </a:rPr>
              <a:t>  &lt;meta charset="utf-8"&gt;</a:t>
            </a:r>
          </a:p>
          <a:p>
            <a:pPr>
              <a:buFont typeface="Wingdings" pitchFamily="2" charset="2"/>
              <a:buNone/>
            </a:pPr>
            <a:r>
              <a:rPr lang="en-US" altLang="en-US" sz="1400" b="1">
                <a:latin typeface="Courier New" pitchFamily="49" charset="0"/>
              </a:rPr>
              <a:t>  &lt;title&gt;My First HTML5 Page&lt;/title&gt;</a:t>
            </a:r>
          </a:p>
          <a:p>
            <a:pPr>
              <a:buFont typeface="Wingdings" pitchFamily="2" charset="2"/>
              <a:buNone/>
            </a:pPr>
            <a:r>
              <a:rPr lang="en-US" altLang="en-US" sz="1400" b="1">
                <a:latin typeface="Courier New" pitchFamily="49" charset="0"/>
              </a:rPr>
              <a:t>  &lt;link rel="stylesheet" href="style.css"&gt;</a:t>
            </a:r>
          </a:p>
          <a:p>
            <a:pPr>
              <a:buFont typeface="Wingdings" pitchFamily="2" charset="2"/>
              <a:buNone/>
            </a:pPr>
            <a:r>
              <a:rPr lang="en-US" altLang="en-US" sz="1400" b="1">
                <a:latin typeface="Courier New" pitchFamily="49" charset="0"/>
              </a:rPr>
              <a:t>&lt;/head&gt;</a:t>
            </a:r>
          </a:p>
        </p:txBody>
      </p:sp>
    </p:spTree>
    <p:extLst>
      <p:ext uri="{BB962C8B-B14F-4D97-AF65-F5344CB8AC3E}">
        <p14:creationId xmlns:p14="http://schemas.microsoft.com/office/powerpoint/2010/main" val="6002094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457200"/>
            <a:ext cx="10972800" cy="838200"/>
          </a:xfrm>
        </p:spPr>
        <p:txBody>
          <a:bodyPr/>
          <a:lstStyle/>
          <a:p>
            <a:pPr algn="ctr"/>
            <a:r>
              <a:rPr lang="en-US" altLang="en-US" sz="4000" smtClean="0"/>
              <a:t>Basic HTML5 Web Page</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13316" name="Text Box 4"/>
          <p:cNvSpPr txBox="1">
            <a:spLocks noChangeArrowheads="1"/>
          </p:cNvSpPr>
          <p:nvPr/>
        </p:nvSpPr>
        <p:spPr bwMode="auto">
          <a:xfrm>
            <a:off x="508000" y="1524000"/>
            <a:ext cx="10871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800" dirty="0"/>
              <a:t>Putting the prior sections together, and now adding the &lt;body&gt; section and closing tags, we have our first complete web page in HTML5:</a:t>
            </a:r>
          </a:p>
        </p:txBody>
      </p:sp>
      <p:sp>
        <p:nvSpPr>
          <p:cNvPr id="13317" name="Rectangle 3"/>
          <p:cNvSpPr>
            <a:spLocks noChangeArrowheads="1"/>
          </p:cNvSpPr>
          <p:nvPr/>
        </p:nvSpPr>
        <p:spPr bwMode="auto">
          <a:xfrm>
            <a:off x="609600" y="2286000"/>
            <a:ext cx="10769600" cy="3276600"/>
          </a:xfrm>
          <a:prstGeom prst="rect">
            <a:avLst/>
          </a:prstGeom>
          <a:solidFill>
            <a:srgbClr val="FFFF00"/>
          </a:solidFill>
          <a:ln w="9525">
            <a:solidFill>
              <a:schemeClr val="tx1"/>
            </a:solidFill>
            <a:miter lim="800000"/>
            <a:headEnd/>
            <a:tailEnd/>
          </a:ln>
        </p:spPr>
        <p:txBody>
          <a:bodyPr/>
          <a:lstStyle>
            <a:lvl1pPr marL="342900" indent="-342900">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r>
              <a:rPr lang="en-US" altLang="en-US" sz="1600" b="1" dirty="0">
                <a:latin typeface="Courier New" pitchFamily="49" charset="0"/>
              </a:rPr>
              <a:t>&lt;!DOCTYPE html&gt;</a:t>
            </a:r>
          </a:p>
          <a:p>
            <a:pPr eaLnBrk="1" hangingPunct="1">
              <a:buFont typeface="Wingdings" pitchFamily="2" charset="2"/>
              <a:buNone/>
            </a:pPr>
            <a:r>
              <a:rPr lang="en-US" altLang="en-US" sz="1600" b="1" dirty="0">
                <a:latin typeface="Courier New" pitchFamily="49" charset="0"/>
              </a:rPr>
              <a:t>&lt;html </a:t>
            </a:r>
            <a:r>
              <a:rPr lang="en-US" altLang="en-US" sz="1600" b="1" dirty="0" err="1">
                <a:latin typeface="Courier New" pitchFamily="49" charset="0"/>
              </a:rPr>
              <a:t>lang</a:t>
            </a:r>
            <a:r>
              <a:rPr lang="en-US" altLang="en-US" sz="1600" b="1" dirty="0">
                <a:latin typeface="Courier New" pitchFamily="49" charset="0"/>
              </a:rPr>
              <a:t>="</a:t>
            </a:r>
            <a:r>
              <a:rPr lang="en-US" altLang="en-US" sz="1600" b="1" dirty="0" err="1">
                <a:latin typeface="Courier New" pitchFamily="49" charset="0"/>
              </a:rPr>
              <a:t>en</a:t>
            </a:r>
            <a:r>
              <a:rPr lang="en-US" altLang="en-US" sz="1600" b="1" dirty="0">
                <a:latin typeface="Courier New" pitchFamily="49" charset="0"/>
              </a:rPr>
              <a:t>"&gt;</a:t>
            </a:r>
          </a:p>
          <a:p>
            <a:pPr>
              <a:spcBef>
                <a:spcPct val="0"/>
              </a:spcBef>
              <a:buClrTx/>
              <a:buSzTx/>
              <a:buFontTx/>
              <a:buNone/>
            </a:pPr>
            <a:r>
              <a:rPr lang="en-US" altLang="en-US" sz="1600" b="1" dirty="0">
                <a:latin typeface="Courier New" pitchFamily="49" charset="0"/>
              </a:rPr>
              <a:t>&lt;head&gt;</a:t>
            </a:r>
          </a:p>
          <a:p>
            <a:pPr>
              <a:buFont typeface="Wingdings" pitchFamily="2" charset="2"/>
              <a:buNone/>
            </a:pPr>
            <a:r>
              <a:rPr lang="en-US" altLang="en-US" sz="1600" b="1" dirty="0">
                <a:latin typeface="Courier New" pitchFamily="49" charset="0"/>
              </a:rPr>
              <a:t>  &lt;meta charset="utf-8"&gt;</a:t>
            </a:r>
          </a:p>
          <a:p>
            <a:pPr>
              <a:buFont typeface="Wingdings" pitchFamily="2" charset="2"/>
              <a:buNone/>
            </a:pPr>
            <a:r>
              <a:rPr lang="en-US" altLang="en-US" sz="1600" b="1" dirty="0">
                <a:latin typeface="Courier New" pitchFamily="49" charset="0"/>
              </a:rPr>
              <a:t>  &lt;title&gt;My First HTML5 Page&lt;/title&gt;</a:t>
            </a:r>
          </a:p>
          <a:p>
            <a:pPr>
              <a:buFont typeface="Wingdings" pitchFamily="2" charset="2"/>
              <a:buNone/>
            </a:pPr>
            <a:r>
              <a:rPr lang="en-US" altLang="en-US" sz="1600" b="1" dirty="0">
                <a:latin typeface="Courier New" pitchFamily="49" charset="0"/>
              </a:rPr>
              <a:t>  &lt;link </a:t>
            </a:r>
            <a:r>
              <a:rPr lang="en-US" altLang="en-US" sz="1600" b="1" dirty="0" err="1">
                <a:latin typeface="Courier New" pitchFamily="49" charset="0"/>
              </a:rPr>
              <a:t>rel</a:t>
            </a:r>
            <a:r>
              <a:rPr lang="en-US" altLang="en-US" sz="1600" b="1" dirty="0">
                <a:latin typeface="Courier New" pitchFamily="49" charset="0"/>
              </a:rPr>
              <a:t>="stylesheet" </a:t>
            </a:r>
            <a:r>
              <a:rPr lang="en-US" altLang="en-US" sz="1600" b="1" dirty="0" err="1">
                <a:latin typeface="Courier New" pitchFamily="49" charset="0"/>
              </a:rPr>
              <a:t>href</a:t>
            </a:r>
            <a:r>
              <a:rPr lang="en-US" altLang="en-US" sz="1600" b="1" dirty="0">
                <a:latin typeface="Courier New" pitchFamily="49" charset="0"/>
              </a:rPr>
              <a:t>="style.css"&gt;</a:t>
            </a:r>
          </a:p>
          <a:p>
            <a:pPr>
              <a:buFont typeface="Wingdings" pitchFamily="2" charset="2"/>
              <a:buNone/>
            </a:pPr>
            <a:r>
              <a:rPr lang="en-US" altLang="en-US" sz="1600" b="1" dirty="0">
                <a:latin typeface="Courier New" pitchFamily="49" charset="0"/>
              </a:rPr>
              <a:t>&lt;/head&gt;</a:t>
            </a:r>
          </a:p>
          <a:p>
            <a:pPr>
              <a:buFont typeface="Wingdings" pitchFamily="2" charset="2"/>
              <a:buNone/>
            </a:pPr>
            <a:r>
              <a:rPr lang="en-US" altLang="en-US" sz="1600" b="1" dirty="0">
                <a:latin typeface="Courier New" pitchFamily="49" charset="0"/>
              </a:rPr>
              <a:t>&lt;body&gt;</a:t>
            </a:r>
          </a:p>
          <a:p>
            <a:pPr>
              <a:buFont typeface="Wingdings" pitchFamily="2" charset="2"/>
              <a:buNone/>
            </a:pPr>
            <a:r>
              <a:rPr lang="en-US" altLang="en-US" sz="1600" b="1" dirty="0">
                <a:latin typeface="Courier New" pitchFamily="49" charset="0"/>
              </a:rPr>
              <a:t>  &lt;p&gt;HTML5 is fun!&lt;/p&gt;</a:t>
            </a:r>
          </a:p>
          <a:p>
            <a:pPr>
              <a:buFont typeface="Wingdings" pitchFamily="2" charset="2"/>
              <a:buNone/>
            </a:pPr>
            <a:r>
              <a:rPr lang="en-US" altLang="en-US" sz="1600" b="1" dirty="0">
                <a:latin typeface="Courier New" pitchFamily="49" charset="0"/>
              </a:rPr>
              <a:t>&lt;/body&gt;</a:t>
            </a:r>
          </a:p>
          <a:p>
            <a:pPr>
              <a:buFont typeface="Wingdings" pitchFamily="2" charset="2"/>
              <a:buNone/>
            </a:pPr>
            <a:r>
              <a:rPr lang="en-US" altLang="en-US" sz="1600" b="1" dirty="0">
                <a:latin typeface="Courier New" pitchFamily="49" charset="0"/>
              </a:rPr>
              <a:t>&lt;/html&gt;</a:t>
            </a:r>
          </a:p>
        </p:txBody>
      </p:sp>
      <p:sp>
        <p:nvSpPr>
          <p:cNvPr id="13318" name="Text Box 9"/>
          <p:cNvSpPr txBox="1">
            <a:spLocks noChangeArrowheads="1"/>
          </p:cNvSpPr>
          <p:nvPr/>
        </p:nvSpPr>
        <p:spPr bwMode="auto">
          <a:xfrm>
            <a:off x="609600" y="5791201"/>
            <a:ext cx="10769600" cy="369332"/>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Let's open this page in a web browser to see how it looks…</a:t>
            </a:r>
            <a:endParaRPr lang="en-IN" altLang="en-US" sz="1800"/>
          </a:p>
        </p:txBody>
      </p:sp>
    </p:spTree>
    <p:extLst>
      <p:ext uri="{BB962C8B-B14F-4D97-AF65-F5344CB8AC3E}">
        <p14:creationId xmlns:p14="http://schemas.microsoft.com/office/powerpoint/2010/main" val="22910721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457200"/>
            <a:ext cx="10972800" cy="838200"/>
          </a:xfrm>
        </p:spPr>
        <p:txBody>
          <a:bodyPr/>
          <a:lstStyle/>
          <a:p>
            <a:pPr algn="ctr"/>
            <a:r>
              <a:rPr lang="en-US" altLang="en-US" sz="4000" smtClean="0"/>
              <a:t>Viewing the HTML5 Web Page</a:t>
            </a:r>
          </a:p>
        </p:txBody>
      </p:sp>
      <p:cxnSp>
        <p:nvCxnSpPr>
          <p:cNvPr id="5" name="Straight Connector 4"/>
          <p:cNvCxnSpPr/>
          <p:nvPr/>
        </p:nvCxnSpPr>
        <p:spPr bwMode="auto">
          <a:xfrm>
            <a:off x="0" y="1371600"/>
            <a:ext cx="12192000" cy="0"/>
          </a:xfrm>
          <a:prstGeom prst="line">
            <a:avLst/>
          </a:prstGeom>
          <a:solidFill>
            <a:schemeClr val="accent1"/>
          </a:solidFill>
          <a:ln w="15875" cap="flat" cmpd="sng" algn="ctr">
            <a:solidFill>
              <a:schemeClr val="accent6">
                <a:lumMod val="25000"/>
              </a:schemeClr>
            </a:solidFill>
            <a:prstDash val="solid"/>
            <a:round/>
            <a:headEnd type="none" w="med" len="med"/>
            <a:tailEnd type="none" w="med" len="med"/>
          </a:ln>
          <a:effectLst/>
        </p:spPr>
      </p:cxnSp>
      <p:sp>
        <p:nvSpPr>
          <p:cNvPr id="14340" name="Text Box 6"/>
          <p:cNvSpPr txBox="1">
            <a:spLocks noChangeArrowheads="1"/>
          </p:cNvSpPr>
          <p:nvPr/>
        </p:nvSpPr>
        <p:spPr bwMode="auto">
          <a:xfrm>
            <a:off x="711200" y="5381625"/>
            <a:ext cx="10769600" cy="941388"/>
          </a:xfrm>
          <a:prstGeom prst="rect">
            <a:avLst/>
          </a:prstGeom>
          <a:solidFill>
            <a:srgbClr val="99CC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ts val="600"/>
              </a:spcBef>
              <a:spcAft>
                <a:spcPts val="600"/>
              </a:spcAft>
              <a:buClrTx/>
              <a:buSzTx/>
              <a:buFontTx/>
              <a:buNone/>
            </a:pPr>
            <a:r>
              <a:rPr lang="en-US" altLang="en-US" sz="1800"/>
              <a:t>Even though we used HTML5, the page looks exactly the same in a web browser as it would in XHTML.  Without looking at the source code, web visitors will not know which version of HTML the page was created with.</a:t>
            </a:r>
            <a:endParaRPr lang="en-IN" altLang="en-US" sz="1800"/>
          </a:p>
        </p:txBody>
      </p:sp>
      <p:pic>
        <p:nvPicPr>
          <p:cNvPr id="14341" name="Picture 7" descr="Intro-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524001"/>
            <a:ext cx="69088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AutoShape 8"/>
          <p:cNvSpPr>
            <a:spLocks noChangeArrowheads="1"/>
          </p:cNvSpPr>
          <p:nvPr/>
        </p:nvSpPr>
        <p:spPr bwMode="auto">
          <a:xfrm>
            <a:off x="5689600" y="6400800"/>
            <a:ext cx="406400" cy="228600"/>
          </a:xfrm>
          <a:prstGeom prst="diamond">
            <a:avLst/>
          </a:pr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bg2"/>
              </a:buClr>
              <a:buSzPct val="75000"/>
              <a:buFont typeface="Wingdings" pitchFamily="2" charset="2"/>
              <a:buChar char="n"/>
              <a:defRPr sz="3200">
                <a:solidFill>
                  <a:schemeClr val="tx1"/>
                </a:solidFill>
                <a:latin typeface="Arial" pitchFamily="34" charset="0"/>
              </a:defRPr>
            </a:lvl1pPr>
            <a:lvl2pPr marL="742950" indent="-285750">
              <a:spcBef>
                <a:spcPct val="20000"/>
              </a:spcBef>
              <a:buClr>
                <a:schemeClr val="accent2"/>
              </a:buClr>
              <a:buSzPct val="80000"/>
              <a:buFont typeface="Wingdings" pitchFamily="2" charset="2"/>
              <a:buChar char="¨"/>
              <a:defRPr sz="2800">
                <a:solidFill>
                  <a:schemeClr val="tx1"/>
                </a:solidFill>
                <a:latin typeface="Arial" pitchFamily="34" charset="0"/>
              </a:defRPr>
            </a:lvl2pPr>
            <a:lvl3pPr marL="1143000" indent="-228600">
              <a:spcBef>
                <a:spcPct val="20000"/>
              </a:spcBef>
              <a:buClr>
                <a:schemeClr val="bg2"/>
              </a:buClr>
              <a:buSzPct val="65000"/>
              <a:buFont typeface="Wingdings" pitchFamily="2" charset="2"/>
              <a:buChar char="n"/>
              <a:defRPr sz="2400">
                <a:solidFill>
                  <a:schemeClr val="tx1"/>
                </a:solidFill>
                <a:latin typeface="Arial" pitchFamily="34" charset="0"/>
              </a:defRPr>
            </a:lvl3pPr>
            <a:lvl4pPr marL="1600200" indent="-228600">
              <a:spcBef>
                <a:spcPct val="20000"/>
              </a:spcBef>
              <a:buClr>
                <a:schemeClr val="accent2"/>
              </a:buClr>
              <a:buSzPct val="70000"/>
              <a:buFont typeface="Wingdings" pitchFamily="2" charset="2"/>
              <a:buChar char="¨"/>
              <a:defRPr sz="2000">
                <a:solidFill>
                  <a:schemeClr val="tx1"/>
                </a:solidFill>
                <a:latin typeface="Arial" pitchFamily="34" charset="0"/>
              </a:defRPr>
            </a:lvl4pPr>
            <a:lvl5pPr marL="2057400" indent="-228600">
              <a:spcBef>
                <a:spcPct val="20000"/>
              </a:spcBef>
              <a:buClr>
                <a:schemeClr val="bg2"/>
              </a:buClr>
              <a:buFont typeface="Wingdings" pitchFamily="2" charset="2"/>
              <a:buChar char="§"/>
              <a:defRPr sz="2000">
                <a:solidFill>
                  <a:schemeClr val="tx1"/>
                </a:solidFill>
                <a:latin typeface="Arial" pitchFamily="34" charset="0"/>
              </a:defRPr>
            </a:lvl5pPr>
            <a:lvl6pPr marL="25146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6pPr>
            <a:lvl7pPr marL="29718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7pPr>
            <a:lvl8pPr marL="34290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8pPr>
            <a:lvl9pPr marL="3886200" indent="-228600" eaLnBrk="0" fontAlgn="base" hangingPunct="0">
              <a:spcBef>
                <a:spcPct val="20000"/>
              </a:spcBef>
              <a:spcAft>
                <a:spcPct val="0"/>
              </a:spcAft>
              <a:buClr>
                <a:schemeClr val="bg2"/>
              </a:buClr>
              <a:buFont typeface="Wingdings" pitchFamily="2" charset="2"/>
              <a:buChar char="§"/>
              <a:defRPr sz="2000">
                <a:solidFill>
                  <a:schemeClr val="tx1"/>
                </a:solidFill>
                <a:latin typeface="Arial" pitchFamily="34" charset="0"/>
              </a:defRPr>
            </a:lvl9pPr>
          </a:lstStyle>
          <a:p>
            <a:pPr>
              <a:spcBef>
                <a:spcPct val="0"/>
              </a:spcBef>
              <a:buClrTx/>
              <a:buSzTx/>
              <a:buFontTx/>
              <a:buNone/>
            </a:pPr>
            <a:endParaRPr lang="en-GB" altLang="en-US" sz="1800"/>
          </a:p>
        </p:txBody>
      </p:sp>
    </p:spTree>
    <p:extLst>
      <p:ext uri="{BB962C8B-B14F-4D97-AF65-F5344CB8AC3E}">
        <p14:creationId xmlns:p14="http://schemas.microsoft.com/office/powerpoint/2010/main" val="11653602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Page title: </a:t>
            </a:r>
            <a:r>
              <a:rPr lang="en-US" b="1" dirty="0">
                <a:solidFill>
                  <a:srgbClr val="84B93F"/>
                </a:solidFill>
              </a:rPr>
              <a:t>&lt;title&gt;</a:t>
            </a:r>
          </a:p>
        </p:txBody>
      </p:sp>
      <p:sp>
        <p:nvSpPr>
          <p:cNvPr id="3" name="Content Placeholder 2"/>
          <p:cNvSpPr>
            <a:spLocks noGrp="1"/>
          </p:cNvSpPr>
          <p:nvPr>
            <p:ph idx="1"/>
          </p:nvPr>
        </p:nvSpPr>
        <p:spPr>
          <a:xfrm>
            <a:off x="1097280" y="1845733"/>
            <a:ext cx="10058400" cy="4382071"/>
          </a:xfrm>
        </p:spPr>
        <p:txBody>
          <a:bodyPr/>
          <a:lstStyle/>
          <a:p>
            <a:pPr algn="ctr"/>
            <a:r>
              <a:rPr lang="en-US" sz="2200" i="1" dirty="0"/>
              <a:t>describes the title of the web </a:t>
            </a:r>
            <a:r>
              <a:rPr lang="en-US" sz="2200" i="1" dirty="0" smtClean="0"/>
              <a:t>page</a:t>
            </a:r>
          </a:p>
          <a:p>
            <a:r>
              <a:rPr lang="en-US" sz="2200" dirty="0">
                <a:solidFill>
                  <a:schemeClr val="accent1"/>
                </a:solidFill>
              </a:rPr>
              <a:t>&lt;title&gt;</a:t>
            </a:r>
            <a:r>
              <a:rPr lang="en-US" sz="2200" dirty="0"/>
              <a:t>Chapter 2: HTML Basics</a:t>
            </a:r>
            <a:r>
              <a:rPr lang="en-US" sz="2200" dirty="0">
                <a:solidFill>
                  <a:schemeClr val="accent1"/>
                </a:solidFill>
              </a:rPr>
              <a:t>&lt;/title&gt;</a:t>
            </a:r>
          </a:p>
          <a:p>
            <a:endParaRPr lang="en-US" sz="2200" dirty="0"/>
          </a:p>
          <a:p>
            <a:pPr lvl="1">
              <a:buFont typeface="Arial" panose="020B0604020202020204" pitchFamily="34" charset="0"/>
              <a:buChar char="•"/>
            </a:pPr>
            <a:r>
              <a:rPr lang="en-US" dirty="0"/>
              <a:t>    </a:t>
            </a:r>
            <a:r>
              <a:rPr lang="en-US" dirty="0"/>
              <a:t>The &lt;title&gt; tag is required in all HTML documents </a:t>
            </a:r>
            <a:endParaRPr lang="en-US" dirty="0" smtClean="0"/>
          </a:p>
          <a:p>
            <a:pPr lvl="1">
              <a:buFont typeface="Arial" panose="020B0604020202020204" pitchFamily="34" charset="0"/>
              <a:buChar char="•"/>
            </a:pPr>
            <a:r>
              <a:rPr lang="en-US" dirty="0" smtClean="0"/>
              <a:t>    placed </a:t>
            </a:r>
            <a:r>
              <a:rPr lang="en-US" dirty="0"/>
              <a:t>within the head of the page</a:t>
            </a:r>
          </a:p>
          <a:p>
            <a:pPr lvl="1">
              <a:buFont typeface="Arial" panose="020B0604020202020204" pitchFamily="34" charset="0"/>
              <a:buChar char="•"/>
            </a:pPr>
            <a:r>
              <a:rPr lang="en-US" dirty="0"/>
              <a:t>    </a:t>
            </a:r>
            <a:r>
              <a:rPr lang="en-US" dirty="0"/>
              <a:t>Note: You can NOT have more than one &lt;title&gt; element in an HTML document</a:t>
            </a:r>
            <a:r>
              <a:rPr lang="en-US" dirty="0" smtClean="0"/>
              <a:t>.</a:t>
            </a:r>
          </a:p>
          <a:p>
            <a:pPr lvl="1">
              <a:buFont typeface="Arial" panose="020B0604020202020204" pitchFamily="34" charset="0"/>
              <a:buChar char="•"/>
            </a:pPr>
            <a:r>
              <a:rPr lang="en-US" dirty="0" smtClean="0"/>
              <a:t>displayed </a:t>
            </a:r>
            <a:r>
              <a:rPr lang="en-US" dirty="0"/>
              <a:t>in the web browser's title bar and when bookmarking the </a:t>
            </a:r>
            <a:r>
              <a:rPr lang="en-US" dirty="0" smtClean="0"/>
              <a:t>page</a:t>
            </a:r>
          </a:p>
          <a:p>
            <a:pPr>
              <a:buFont typeface="Arial" panose="020B0604020202020204" pitchFamily="34" charset="0"/>
              <a:buChar char="•"/>
            </a:pPr>
            <a:endParaRPr lang="en-US" sz="2200" dirty="0" smtClean="0"/>
          </a:p>
          <a:p>
            <a:pPr>
              <a:buFont typeface="Arial" panose="020B0604020202020204" pitchFamily="34" charset="0"/>
              <a:buChar char="•"/>
            </a:pPr>
            <a:endParaRPr lang="en-US" dirty="0"/>
          </a:p>
        </p:txBody>
      </p:sp>
    </p:spTree>
    <p:extLst>
      <p:ext uri="{BB962C8B-B14F-4D97-AF65-F5344CB8AC3E}">
        <p14:creationId xmlns:p14="http://schemas.microsoft.com/office/powerpoint/2010/main" val="9271332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Paragraph: </a:t>
            </a:r>
            <a:r>
              <a:rPr lang="en-US" b="1" dirty="0">
                <a:solidFill>
                  <a:srgbClr val="84B93F"/>
                </a:solidFill>
              </a:rPr>
              <a:t>&lt;p</a:t>
            </a:r>
            <a:r>
              <a:rPr lang="en-US" b="1" dirty="0" smtClean="0">
                <a:solidFill>
                  <a:srgbClr val="84B93F"/>
                </a:solidFill>
              </a:rPr>
              <a:t>&gt;</a:t>
            </a:r>
            <a:endParaRPr lang="en-US" b="1" dirty="0">
              <a:solidFill>
                <a:srgbClr val="84B93F"/>
              </a:solidFill>
            </a:endParaRPr>
          </a:p>
        </p:txBody>
      </p:sp>
      <p:sp>
        <p:nvSpPr>
          <p:cNvPr id="3" name="Content Placeholder 2"/>
          <p:cNvSpPr>
            <a:spLocks noGrp="1"/>
          </p:cNvSpPr>
          <p:nvPr>
            <p:ph idx="1"/>
          </p:nvPr>
        </p:nvSpPr>
        <p:spPr>
          <a:xfrm>
            <a:off x="1097280" y="1756282"/>
            <a:ext cx="10058400" cy="4813483"/>
          </a:xfrm>
        </p:spPr>
        <p:txBody>
          <a:bodyPr>
            <a:normAutofit lnSpcReduction="10000"/>
          </a:bodyPr>
          <a:lstStyle/>
          <a:p>
            <a:pPr algn="ctr"/>
            <a:r>
              <a:rPr lang="en-US" sz="2400" i="1" dirty="0"/>
              <a:t>paragraphs of text (block</a:t>
            </a:r>
            <a:r>
              <a:rPr lang="en-US" sz="2400" i="1" dirty="0" smtClean="0"/>
              <a:t>)</a:t>
            </a:r>
            <a:endParaRPr lang="en-US" sz="2400" dirty="0"/>
          </a:p>
          <a:p>
            <a:pPr>
              <a:spcBef>
                <a:spcPts val="0"/>
              </a:spcBef>
            </a:pPr>
            <a:r>
              <a:rPr lang="en-US" sz="2400" dirty="0">
                <a:latin typeface="Courier New" panose="02070309020205020404" pitchFamily="49" charset="0"/>
                <a:cs typeface="Courier New" panose="02070309020205020404" pitchFamily="49" charset="0"/>
              </a:rPr>
              <a:t>&lt;p&gt;You're not your job.</a:t>
            </a:r>
          </a:p>
          <a:p>
            <a:pPr>
              <a:spcBef>
                <a:spcPts val="0"/>
              </a:spcBef>
            </a:pPr>
            <a:r>
              <a:rPr lang="en-US" sz="2400" dirty="0">
                <a:latin typeface="Courier New" panose="02070309020205020404" pitchFamily="49" charset="0"/>
                <a:cs typeface="Courier New" panose="02070309020205020404" pitchFamily="49" charset="0"/>
              </a:rPr>
              <a:t>You're not how much money you have in the bank.</a:t>
            </a:r>
          </a:p>
          <a:p>
            <a:pPr>
              <a:spcBef>
                <a:spcPts val="0"/>
              </a:spcBef>
            </a:pPr>
            <a:r>
              <a:rPr lang="en-US" sz="2400" dirty="0">
                <a:latin typeface="Courier New" panose="02070309020205020404" pitchFamily="49" charset="0"/>
                <a:cs typeface="Courier New" panose="02070309020205020404" pitchFamily="49" charset="0"/>
              </a:rPr>
              <a:t>You're not the car you drive.   You're not the contents</a:t>
            </a:r>
          </a:p>
          <a:p>
            <a:pPr>
              <a:spcBef>
                <a:spcPts val="0"/>
              </a:spcBef>
            </a:pPr>
            <a:r>
              <a:rPr lang="en-US" sz="2400" dirty="0">
                <a:latin typeface="Courier New" panose="02070309020205020404" pitchFamily="49" charset="0"/>
                <a:cs typeface="Courier New" panose="02070309020205020404" pitchFamily="49" charset="0"/>
              </a:rPr>
              <a:t>of your wallet. You're not your         khakis.  You're</a:t>
            </a:r>
          </a:p>
          <a:p>
            <a:pPr>
              <a:spcBef>
                <a:spcPts val="0"/>
              </a:spcBef>
            </a:pPr>
            <a:r>
              <a:rPr lang="en-US" sz="2400" dirty="0">
                <a:latin typeface="Courier New" panose="02070309020205020404" pitchFamily="49" charset="0"/>
                <a:cs typeface="Courier New" panose="02070309020205020404" pitchFamily="49" charset="0"/>
              </a:rPr>
              <a:t>   the all-singing, all-dancing crap of the world.&lt;/p</a:t>
            </a:r>
            <a:r>
              <a:rPr lang="en-US" sz="2400" dirty="0" smtClean="0">
                <a:latin typeface="Courier New" panose="02070309020205020404" pitchFamily="49" charset="0"/>
                <a:cs typeface="Courier New" panose="02070309020205020404" pitchFamily="49" charset="0"/>
              </a:rPr>
              <a:t>&gt;</a:t>
            </a:r>
            <a:endParaRPr lang="en-US" sz="2400" dirty="0"/>
          </a:p>
          <a:p>
            <a:r>
              <a:rPr lang="en-US" sz="2400" dirty="0"/>
              <a:t>You're not your job. You're not how much money you have in the bank. You're not the car you drive. You're not the contents of your wallet. You're not your khakis. You're the all-singing, all-dancing crap of the world.</a:t>
            </a:r>
          </a:p>
          <a:p>
            <a:endParaRPr lang="en-US" sz="2400" dirty="0"/>
          </a:p>
          <a:p>
            <a:pPr>
              <a:buFont typeface="Arial" panose="020B0604020202020204" pitchFamily="34" charset="0"/>
              <a:buChar char="•"/>
            </a:pPr>
            <a:r>
              <a:rPr lang="en-US" sz="2400" dirty="0"/>
              <a:t>    placed within the body of the page</a:t>
            </a:r>
          </a:p>
          <a:p>
            <a:endParaRPr lang="en-US" dirty="0"/>
          </a:p>
        </p:txBody>
      </p:sp>
    </p:spTree>
    <p:extLst>
      <p:ext uri="{BB962C8B-B14F-4D97-AF65-F5344CB8AC3E}">
        <p14:creationId xmlns:p14="http://schemas.microsoft.com/office/powerpoint/2010/main" val="8170878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Headings: </a:t>
            </a:r>
            <a:r>
              <a:rPr lang="en-US" b="1" dirty="0">
                <a:solidFill>
                  <a:srgbClr val="84B93F"/>
                </a:solidFill>
              </a:rPr>
              <a:t>&lt;h1&gt;</a:t>
            </a:r>
            <a:r>
              <a:rPr lang="en-US" b="1" dirty="0"/>
              <a:t>, </a:t>
            </a:r>
            <a:r>
              <a:rPr lang="en-US" b="1" dirty="0">
                <a:solidFill>
                  <a:srgbClr val="84B93F"/>
                </a:solidFill>
              </a:rPr>
              <a:t>&lt;h2&gt;</a:t>
            </a:r>
            <a:r>
              <a:rPr lang="en-US" b="1" dirty="0"/>
              <a:t>, ..., </a:t>
            </a:r>
            <a:r>
              <a:rPr lang="en-US" b="1" dirty="0">
                <a:solidFill>
                  <a:srgbClr val="84B93F"/>
                </a:solidFill>
              </a:rPr>
              <a:t>&lt;h6</a:t>
            </a:r>
            <a:r>
              <a:rPr lang="en-US" b="1" dirty="0" smtClean="0">
                <a:solidFill>
                  <a:srgbClr val="84B93F"/>
                </a:solidFill>
              </a:rPr>
              <a:t>&gt;</a:t>
            </a:r>
            <a:endParaRPr lang="en-US" b="1" dirty="0">
              <a:solidFill>
                <a:srgbClr val="84B93F"/>
              </a:solidFill>
            </a:endParaRPr>
          </a:p>
        </p:txBody>
      </p:sp>
      <p:sp>
        <p:nvSpPr>
          <p:cNvPr id="3" name="Content Placeholder 2"/>
          <p:cNvSpPr>
            <a:spLocks noGrp="1"/>
          </p:cNvSpPr>
          <p:nvPr>
            <p:ph idx="1"/>
          </p:nvPr>
        </p:nvSpPr>
        <p:spPr>
          <a:xfrm>
            <a:off x="1097280" y="1845733"/>
            <a:ext cx="10058400" cy="4704153"/>
          </a:xfrm>
        </p:spPr>
        <p:txBody>
          <a:bodyPr>
            <a:normAutofit/>
          </a:bodyPr>
          <a:lstStyle/>
          <a:p>
            <a:pPr algn="ctr"/>
            <a:r>
              <a:rPr lang="en-US" dirty="0"/>
              <a:t> </a:t>
            </a:r>
            <a:r>
              <a:rPr lang="en-US" i="1" dirty="0"/>
              <a:t>headings to separate major areas of the page (block</a:t>
            </a:r>
            <a:r>
              <a:rPr lang="en-US" i="1" dirty="0" smtClean="0"/>
              <a:t>)</a:t>
            </a:r>
            <a:endParaRPr lang="en-US" dirty="0"/>
          </a:p>
          <a:p>
            <a:r>
              <a:rPr lang="en-US" dirty="0">
                <a:latin typeface="Courier New" panose="02070309020205020404" pitchFamily="49" charset="0"/>
                <a:cs typeface="Courier New" panose="02070309020205020404" pitchFamily="49" charset="0"/>
              </a:rPr>
              <a:t>&lt;h1&gt;University of </a:t>
            </a:r>
            <a:r>
              <a:rPr lang="en-US" dirty="0" err="1">
                <a:latin typeface="Courier New" panose="02070309020205020404" pitchFamily="49" charset="0"/>
                <a:cs typeface="Courier New" panose="02070309020205020404" pitchFamily="49" charset="0"/>
              </a:rPr>
              <a:t>Whoville</a:t>
            </a:r>
            <a:r>
              <a:rPr lang="en-US" dirty="0">
                <a:latin typeface="Courier New" panose="02070309020205020404" pitchFamily="49" charset="0"/>
                <a:cs typeface="Courier New" panose="02070309020205020404" pitchFamily="49" charset="0"/>
              </a:rPr>
              <a:t>&lt;/h1&gt;</a:t>
            </a:r>
          </a:p>
          <a:p>
            <a:r>
              <a:rPr lang="en-US" dirty="0">
                <a:latin typeface="Courier New" panose="02070309020205020404" pitchFamily="49" charset="0"/>
                <a:cs typeface="Courier New" panose="02070309020205020404" pitchFamily="49" charset="0"/>
              </a:rPr>
              <a:t>&lt;h2&gt;Department of Computer Science&lt;/h2&gt;</a:t>
            </a:r>
          </a:p>
          <a:p>
            <a:r>
              <a:rPr lang="en-US" dirty="0">
                <a:latin typeface="Courier New" panose="02070309020205020404" pitchFamily="49" charset="0"/>
                <a:cs typeface="Courier New" panose="02070309020205020404" pitchFamily="49" charset="0"/>
              </a:rPr>
              <a:t>&lt;h3&gt;Sponsored by </a:t>
            </a:r>
            <a:r>
              <a:rPr lang="en-US" dirty="0" err="1">
                <a:latin typeface="Courier New" panose="02070309020205020404" pitchFamily="49" charset="0"/>
                <a:cs typeface="Courier New" panose="02070309020205020404" pitchFamily="49" charset="0"/>
              </a:rPr>
              <a:t>Micro$oft</a:t>
            </a:r>
            <a:r>
              <a:rPr lang="en-US" dirty="0">
                <a:latin typeface="Courier New" panose="02070309020205020404" pitchFamily="49" charset="0"/>
                <a:cs typeface="Courier New" panose="02070309020205020404" pitchFamily="49" charset="0"/>
              </a:rPr>
              <a:t>&lt;/h3</a:t>
            </a:r>
            <a:r>
              <a:rPr lang="en-US" dirty="0" smtClean="0">
                <a:latin typeface="Courier New" panose="02070309020205020404" pitchFamily="49" charset="0"/>
                <a:cs typeface="Courier New" panose="02070309020205020404" pitchFamily="49" charset="0"/>
              </a:rPr>
              <a:t>&gt;</a:t>
            </a:r>
          </a:p>
          <a:p>
            <a:endParaRPr lang="en-US" dirty="0"/>
          </a:p>
          <a:p>
            <a:r>
              <a:rPr lang="en-US" sz="3200" dirty="0"/>
              <a:t>University of </a:t>
            </a:r>
            <a:r>
              <a:rPr lang="en-US" sz="3200" dirty="0" err="1"/>
              <a:t>Whoville</a:t>
            </a:r>
            <a:endParaRPr lang="en-US" sz="3200" dirty="0"/>
          </a:p>
          <a:p>
            <a:r>
              <a:rPr lang="en-US" sz="2800" dirty="0"/>
              <a:t>Department of Computer Science</a:t>
            </a:r>
          </a:p>
          <a:p>
            <a:r>
              <a:rPr lang="en-US" sz="2400" dirty="0"/>
              <a:t>Sponsored by </a:t>
            </a:r>
            <a:r>
              <a:rPr lang="en-US" sz="2400" dirty="0" err="1"/>
              <a:t>Micro$oft</a:t>
            </a:r>
            <a:endParaRPr lang="en-US" sz="2400" dirty="0"/>
          </a:p>
          <a:p>
            <a:endParaRPr lang="en-US" dirty="0"/>
          </a:p>
          <a:p>
            <a:endParaRPr lang="en-US" dirty="0"/>
          </a:p>
          <a:p>
            <a:endParaRPr lang="en-US" dirty="0"/>
          </a:p>
        </p:txBody>
      </p:sp>
    </p:spTree>
    <p:extLst>
      <p:ext uri="{BB962C8B-B14F-4D97-AF65-F5344CB8AC3E}">
        <p14:creationId xmlns:p14="http://schemas.microsoft.com/office/powerpoint/2010/main" val="19826948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Links: </a:t>
            </a:r>
            <a:r>
              <a:rPr lang="en-US" b="1" dirty="0">
                <a:solidFill>
                  <a:srgbClr val="84B93F"/>
                </a:solidFill>
              </a:rPr>
              <a:t>&lt;a</a:t>
            </a:r>
            <a:r>
              <a:rPr lang="en-US" b="1" dirty="0" smtClean="0">
                <a:solidFill>
                  <a:srgbClr val="84B93F"/>
                </a:solidFill>
              </a:rPr>
              <a:t>&gt;</a:t>
            </a:r>
            <a:endParaRPr lang="en-US" b="1" dirty="0">
              <a:solidFill>
                <a:srgbClr val="84B93F"/>
              </a:solidFill>
            </a:endParaRPr>
          </a:p>
        </p:txBody>
      </p:sp>
      <p:sp>
        <p:nvSpPr>
          <p:cNvPr id="3" name="Content Placeholder 2"/>
          <p:cNvSpPr>
            <a:spLocks noGrp="1"/>
          </p:cNvSpPr>
          <p:nvPr>
            <p:ph idx="1"/>
          </p:nvPr>
        </p:nvSpPr>
        <p:spPr>
          <a:xfrm>
            <a:off x="1097279" y="1845733"/>
            <a:ext cx="10616925" cy="4823423"/>
          </a:xfrm>
        </p:spPr>
        <p:txBody>
          <a:bodyPr>
            <a:noAutofit/>
          </a:bodyPr>
          <a:lstStyle/>
          <a:p>
            <a:pPr algn="ctr"/>
            <a:r>
              <a:rPr lang="en-US" sz="2200" i="1" dirty="0">
                <a:latin typeface="+mj-lt"/>
              </a:rPr>
              <a:t>links, or "anchors", to other pages (inline</a:t>
            </a:r>
            <a:r>
              <a:rPr lang="en-US" sz="2200" i="1" dirty="0" smtClean="0">
                <a:latin typeface="+mj-lt"/>
              </a:rPr>
              <a:t>)</a:t>
            </a:r>
            <a:endParaRPr lang="en-US" sz="2200" dirty="0"/>
          </a:p>
          <a:p>
            <a:pPr>
              <a:spcBef>
                <a:spcPts val="0"/>
              </a:spcBef>
            </a:pPr>
            <a:r>
              <a:rPr lang="en-US" sz="2200" dirty="0">
                <a:latin typeface="Courier New" panose="02070309020205020404" pitchFamily="49" charset="0"/>
                <a:cs typeface="Courier New" panose="02070309020205020404" pitchFamily="49" charset="0"/>
              </a:rPr>
              <a:t>&lt;p&gt;</a:t>
            </a:r>
          </a:p>
          <a:p>
            <a:pPr>
              <a:spcBef>
                <a:spcPts val="0"/>
              </a:spcBef>
            </a:pPr>
            <a:r>
              <a:rPr lang="en-US" sz="2200" dirty="0">
                <a:latin typeface="Courier New" panose="02070309020205020404" pitchFamily="49" charset="0"/>
                <a:cs typeface="Courier New" panose="02070309020205020404" pitchFamily="49" charset="0"/>
              </a:rPr>
              <a:t>  Search </a:t>
            </a:r>
          </a:p>
          <a:p>
            <a:pPr>
              <a:spcBef>
                <a:spcPts val="0"/>
              </a:spcBef>
            </a:pPr>
            <a:r>
              <a:rPr lang="en-US" sz="2200" dirty="0">
                <a:latin typeface="Courier New" panose="02070309020205020404" pitchFamily="49" charset="0"/>
                <a:cs typeface="Courier New" panose="02070309020205020404" pitchFamily="49" charset="0"/>
              </a:rPr>
              <a:t>  &lt;a </a:t>
            </a:r>
            <a:r>
              <a:rPr lang="en-US" sz="2200" dirty="0" err="1">
                <a:latin typeface="Courier New" panose="02070309020205020404" pitchFamily="49" charset="0"/>
                <a:cs typeface="Courier New" panose="02070309020205020404" pitchFamily="49" charset="0"/>
              </a:rPr>
              <a:t>href</a:t>
            </a:r>
            <a:r>
              <a:rPr lang="en-US" sz="2200" dirty="0">
                <a:latin typeface="Courier New" panose="02070309020205020404" pitchFamily="49" charset="0"/>
                <a:cs typeface="Courier New" panose="02070309020205020404" pitchFamily="49" charset="0"/>
              </a:rPr>
              <a:t>="http://www.google.com/"&gt;Google&lt;/a&gt; or our</a:t>
            </a:r>
          </a:p>
          <a:p>
            <a:pPr>
              <a:spcBef>
                <a:spcPts val="0"/>
              </a:spcBef>
            </a:pPr>
            <a:r>
              <a:rPr lang="en-US" sz="2200" dirty="0">
                <a:latin typeface="Courier New" panose="02070309020205020404" pitchFamily="49" charset="0"/>
                <a:cs typeface="Courier New" panose="02070309020205020404" pitchFamily="49" charset="0"/>
              </a:rPr>
              <a:t>  &lt;a </a:t>
            </a:r>
            <a:r>
              <a:rPr lang="en-US" sz="2200" dirty="0" err="1">
                <a:latin typeface="Courier New" panose="02070309020205020404" pitchFamily="49" charset="0"/>
                <a:cs typeface="Courier New" panose="02070309020205020404" pitchFamily="49" charset="0"/>
              </a:rPr>
              <a:t>href</a:t>
            </a:r>
            <a:r>
              <a:rPr lang="en-US" sz="2200" dirty="0">
                <a:latin typeface="Courier New" panose="02070309020205020404" pitchFamily="49" charset="0"/>
                <a:cs typeface="Courier New" panose="02070309020205020404" pitchFamily="49" charset="0"/>
              </a:rPr>
              <a:t>="lectures.html"&gt;Lecture Notes&lt;/a&gt;.</a:t>
            </a:r>
          </a:p>
          <a:p>
            <a:pPr>
              <a:spcBef>
                <a:spcPts val="0"/>
              </a:spcBef>
            </a:pPr>
            <a:r>
              <a:rPr lang="en-US" sz="2200" dirty="0">
                <a:latin typeface="Courier New" panose="02070309020205020404" pitchFamily="49" charset="0"/>
                <a:cs typeface="Courier New" panose="02070309020205020404" pitchFamily="49" charset="0"/>
              </a:rPr>
              <a:t>&lt;/p&gt;</a:t>
            </a:r>
          </a:p>
          <a:p>
            <a:pPr>
              <a:spcBef>
                <a:spcPts val="0"/>
              </a:spcBef>
            </a:pPr>
            <a:endParaRPr lang="en-US" sz="2200" dirty="0"/>
          </a:p>
          <a:p>
            <a:pPr>
              <a:spcBef>
                <a:spcPts val="0"/>
              </a:spcBef>
            </a:pPr>
            <a:r>
              <a:rPr lang="en-US" sz="2200" dirty="0"/>
              <a:t>Search Google or our Lecture Notes.</a:t>
            </a:r>
          </a:p>
          <a:p>
            <a:pPr>
              <a:spcBef>
                <a:spcPts val="0"/>
              </a:spcBef>
            </a:pPr>
            <a:endParaRPr lang="en-US" sz="2200" dirty="0"/>
          </a:p>
          <a:p>
            <a:pPr>
              <a:spcBef>
                <a:spcPts val="0"/>
              </a:spcBef>
              <a:buFont typeface="Arial" panose="020B0604020202020204" pitchFamily="34" charset="0"/>
              <a:buChar char="•"/>
            </a:pPr>
            <a:r>
              <a:rPr lang="en-US" sz="2200" dirty="0"/>
              <a:t>    </a:t>
            </a:r>
            <a:r>
              <a:rPr lang="en-US" sz="1800" dirty="0"/>
              <a:t>uses the </a:t>
            </a:r>
            <a:r>
              <a:rPr lang="en-US" sz="1800" dirty="0" err="1"/>
              <a:t>href</a:t>
            </a:r>
            <a:r>
              <a:rPr lang="en-US" sz="1800" dirty="0"/>
              <a:t> attribute to specify the destination </a:t>
            </a:r>
            <a:r>
              <a:rPr lang="en-US" sz="1800" dirty="0" smtClean="0"/>
              <a:t>URL. C</a:t>
            </a:r>
            <a:r>
              <a:rPr lang="en-US" dirty="0" smtClean="0"/>
              <a:t>an be absolute or relative </a:t>
            </a:r>
          </a:p>
          <a:p>
            <a:pPr marL="91440" lvl="1" indent="-91440">
              <a:spcBef>
                <a:spcPts val="1200"/>
              </a:spcBef>
              <a:spcAft>
                <a:spcPts val="200"/>
              </a:spcAft>
              <a:buSzPct val="100000"/>
              <a:buFont typeface="Calibri" panose="020F0502020204030204" pitchFamily="34" charset="0"/>
              <a:buChar char=" "/>
            </a:pPr>
            <a:r>
              <a:rPr lang="en-US" dirty="0" smtClean="0"/>
              <a:t>A </a:t>
            </a:r>
            <a:r>
              <a:rPr lang="en-US" b="1" i="1" dirty="0"/>
              <a:t>relative address </a:t>
            </a:r>
            <a:r>
              <a:rPr lang="en-US" dirty="0"/>
              <a:t>describes the path from one web page to </a:t>
            </a:r>
            <a:r>
              <a:rPr lang="en-US" dirty="0" smtClean="0"/>
              <a:t>another </a:t>
            </a:r>
            <a:r>
              <a:rPr lang="en-US" dirty="0"/>
              <a:t>(to another page on this site)</a:t>
            </a:r>
          </a:p>
          <a:p>
            <a:pPr lvl="1"/>
            <a:r>
              <a:rPr lang="en-US" dirty="0" smtClean="0"/>
              <a:t>E.g</a:t>
            </a:r>
            <a:r>
              <a:rPr lang="en-US" dirty="0"/>
              <a:t>. </a:t>
            </a:r>
            <a:r>
              <a:rPr lang="en-US" dirty="0">
                <a:solidFill>
                  <a:srgbClr val="FF0000"/>
                </a:solidFill>
              </a:rPr>
              <a:t>&lt;a </a:t>
            </a:r>
            <a:r>
              <a:rPr lang="en-US" dirty="0" err="1">
                <a:solidFill>
                  <a:srgbClr val="FF0000"/>
                </a:solidFill>
              </a:rPr>
              <a:t>href</a:t>
            </a:r>
            <a:r>
              <a:rPr lang="en-US" dirty="0">
                <a:solidFill>
                  <a:srgbClr val="FF0000"/>
                </a:solidFill>
              </a:rPr>
              <a:t>=”/elephants/african.html”&gt;Learn about African elephants.&lt;/a&gt;</a:t>
            </a:r>
          </a:p>
          <a:p>
            <a:pPr>
              <a:buFont typeface="Wingdings" panose="05000000000000000000" pitchFamily="2" charset="2"/>
              <a:buChar char="§"/>
            </a:pPr>
            <a:r>
              <a:rPr lang="en-GB" sz="1800" dirty="0">
                <a:solidFill>
                  <a:schemeClr val="tx1"/>
                </a:solidFill>
              </a:rPr>
              <a:t>An Absolute link </a:t>
            </a:r>
            <a:r>
              <a:rPr lang="en-US" sz="1800" dirty="0"/>
              <a:t>describes the path from one web page to a full Internet </a:t>
            </a:r>
            <a:r>
              <a:rPr lang="en-US" sz="1800" dirty="0" smtClean="0"/>
              <a:t>address </a:t>
            </a:r>
            <a:r>
              <a:rPr lang="en-US" sz="1800" dirty="0"/>
              <a:t>(to another web site</a:t>
            </a:r>
            <a:r>
              <a:rPr lang="en-US" sz="1800" dirty="0" smtClean="0"/>
              <a:t>).</a:t>
            </a:r>
            <a:endParaRPr lang="en-US" sz="1800" dirty="0"/>
          </a:p>
          <a:p>
            <a:pPr lvl="1">
              <a:buFont typeface="Wingdings" panose="05000000000000000000" pitchFamily="2" charset="2"/>
              <a:buChar char="§"/>
            </a:pPr>
            <a:r>
              <a:rPr lang="en-US" dirty="0"/>
              <a:t>E.g. &lt;a </a:t>
            </a:r>
            <a:r>
              <a:rPr lang="en-US" dirty="0" err="1"/>
              <a:t>href</a:t>
            </a:r>
            <a:r>
              <a:rPr lang="en-US" dirty="0"/>
              <a:t>=”http://www.yourdomain.com/zoo.html”&gt;Return to the zoo.&lt;/a&gt;</a:t>
            </a:r>
          </a:p>
          <a:p>
            <a:endParaRPr lang="en-US" sz="2200" dirty="0"/>
          </a:p>
        </p:txBody>
      </p:sp>
    </p:spTree>
    <p:extLst>
      <p:ext uri="{BB962C8B-B14F-4D97-AF65-F5344CB8AC3E}">
        <p14:creationId xmlns:p14="http://schemas.microsoft.com/office/powerpoint/2010/main" val="91150968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Links: </a:t>
            </a:r>
            <a:r>
              <a:rPr lang="en-US" b="1" dirty="0">
                <a:solidFill>
                  <a:srgbClr val="84B93F"/>
                </a:solidFill>
              </a:rPr>
              <a:t>&lt;anchor&gt;</a:t>
            </a:r>
            <a:endParaRPr lang="en-US" b="1" dirty="0">
              <a:solidFill>
                <a:srgbClr val="84B93F"/>
              </a:solidFill>
            </a:endParaRPr>
          </a:p>
        </p:txBody>
      </p:sp>
      <p:sp>
        <p:nvSpPr>
          <p:cNvPr id="3" name="Content Placeholder 2"/>
          <p:cNvSpPr>
            <a:spLocks noGrp="1"/>
          </p:cNvSpPr>
          <p:nvPr>
            <p:ph idx="1"/>
          </p:nvPr>
        </p:nvSpPr>
        <p:spPr>
          <a:xfrm>
            <a:off x="1097279" y="1845733"/>
            <a:ext cx="10616925" cy="4823423"/>
          </a:xfrm>
        </p:spPr>
        <p:txBody>
          <a:bodyPr>
            <a:noAutofit/>
          </a:bodyPr>
          <a:lstStyle/>
          <a:p>
            <a:pPr algn="ctr"/>
            <a:r>
              <a:rPr lang="en-US" sz="2200" i="1" dirty="0">
                <a:latin typeface="+mj-lt"/>
              </a:rPr>
              <a:t>Links can also be used to jump to other places on the same page</a:t>
            </a:r>
            <a:r>
              <a:rPr lang="en-US" sz="2200" i="1" dirty="0" smtClean="0">
                <a:latin typeface="+mj-lt"/>
              </a:rPr>
              <a:t>.</a:t>
            </a:r>
          </a:p>
          <a:p>
            <a:r>
              <a:rPr lang="en-US" sz="2200" i="1" dirty="0" smtClean="0">
                <a:latin typeface="+mj-lt"/>
              </a:rPr>
              <a:t>Two steps:</a:t>
            </a:r>
          </a:p>
          <a:p>
            <a:pPr marL="749808" lvl="1" indent="-457200">
              <a:buFont typeface="+mj-lt"/>
              <a:buAutoNum type="arabicPeriod"/>
            </a:pPr>
            <a:r>
              <a:rPr lang="en-US" i="1" dirty="0" smtClean="0">
                <a:latin typeface="+mj-lt"/>
              </a:rPr>
              <a:t>Create </a:t>
            </a:r>
            <a:r>
              <a:rPr lang="en-US" i="1" dirty="0">
                <a:latin typeface="+mj-lt"/>
              </a:rPr>
              <a:t>a link pointing to the </a:t>
            </a:r>
            <a:r>
              <a:rPr lang="en-US" i="1" dirty="0" smtClean="0">
                <a:latin typeface="+mj-lt"/>
              </a:rPr>
              <a:t>anchor</a:t>
            </a:r>
          </a:p>
          <a:p>
            <a:pPr marL="201168" lvl="1" indent="0">
              <a:spcBef>
                <a:spcPts val="0"/>
              </a:spcBef>
              <a:buNone/>
            </a:pPr>
            <a:r>
              <a:rPr lang="en-US" dirty="0" smtClean="0">
                <a:latin typeface="Courier New" panose="02070309020205020404" pitchFamily="49" charset="0"/>
                <a:cs typeface="Courier New" panose="02070309020205020404" pitchFamily="49" charset="0"/>
              </a:rPr>
              <a:t>&lt;</a:t>
            </a:r>
            <a:r>
              <a:rPr lang="en-US" dirty="0">
                <a:latin typeface="Courier New" panose="02070309020205020404" pitchFamily="49" charset="0"/>
                <a:cs typeface="Courier New" panose="02070309020205020404" pitchFamily="49" charset="0"/>
              </a:rPr>
              <a:t>a name="chapter4"&gt;&lt;/a&gt;  </a:t>
            </a:r>
            <a:endParaRPr lang="en-US" dirty="0" smtClean="0">
              <a:latin typeface="Courier New" panose="02070309020205020404" pitchFamily="49" charset="0"/>
              <a:cs typeface="Courier New" panose="02070309020205020404" pitchFamily="49" charset="0"/>
            </a:endParaRPr>
          </a:p>
          <a:p>
            <a:pPr>
              <a:spcBef>
                <a:spcPts val="0"/>
              </a:spcBef>
            </a:pPr>
            <a:endParaRPr lang="en-US" sz="2200" dirty="0">
              <a:latin typeface="Courier New" panose="02070309020205020404" pitchFamily="49" charset="0"/>
              <a:cs typeface="Courier New" panose="02070309020205020404" pitchFamily="49" charset="0"/>
            </a:endParaRPr>
          </a:p>
          <a:p>
            <a:pPr marL="525780" lvl="2" indent="-342900">
              <a:spcBef>
                <a:spcPts val="0"/>
              </a:spcBef>
              <a:spcAft>
                <a:spcPts val="200"/>
              </a:spcAft>
              <a:buSzPct val="100000"/>
              <a:buFont typeface="+mj-lt"/>
              <a:buAutoNum type="arabicPeriod" startAt="2"/>
            </a:pPr>
            <a:r>
              <a:rPr lang="en-US" i="1" dirty="0"/>
              <a:t>Create the anchor itself.</a:t>
            </a:r>
          </a:p>
          <a:p>
            <a:pPr marL="201168" lvl="1" indent="0">
              <a:spcBef>
                <a:spcPts val="0"/>
              </a:spcBef>
              <a:buNone/>
            </a:pPr>
            <a:r>
              <a:rPr lang="en-US" dirty="0" smtClean="0">
                <a:latin typeface="Courier New" panose="02070309020205020404" pitchFamily="49" charset="0"/>
                <a:cs typeface="Courier New" panose="02070309020205020404" pitchFamily="49" charset="0"/>
              </a:rPr>
              <a:t>Click </a:t>
            </a:r>
            <a:r>
              <a:rPr lang="en-US" dirty="0">
                <a:latin typeface="Courier New" panose="02070309020205020404" pitchFamily="49" charset="0"/>
                <a:cs typeface="Courier New" panose="02070309020205020404" pitchFamily="49" charset="0"/>
              </a:rPr>
              <a:t>&lt;a </a:t>
            </a:r>
            <a:r>
              <a:rPr lang="en-US" dirty="0" err="1">
                <a:latin typeface="Courier New" panose="02070309020205020404" pitchFamily="49" charset="0"/>
                <a:cs typeface="Courier New" panose="02070309020205020404" pitchFamily="49" charset="0"/>
              </a:rPr>
              <a:t>href</a:t>
            </a:r>
            <a:r>
              <a:rPr lang="en-US" dirty="0">
                <a:latin typeface="Courier New" panose="02070309020205020404" pitchFamily="49" charset="0"/>
                <a:cs typeface="Courier New" panose="02070309020205020404" pitchFamily="49" charset="0"/>
              </a:rPr>
              <a:t>="#chapter4"&gt;here&lt;/a&gt; to read chapter 4. </a:t>
            </a:r>
            <a:endParaRPr lang="en-US" dirty="0" smtClean="0">
              <a:latin typeface="Courier New" panose="02070309020205020404" pitchFamily="49" charset="0"/>
              <a:cs typeface="Courier New" panose="02070309020205020404" pitchFamily="49" charset="0"/>
            </a:endParaRPr>
          </a:p>
          <a:p>
            <a:pPr>
              <a:spcBef>
                <a:spcPts val="0"/>
              </a:spcBef>
            </a:pPr>
            <a:endParaRPr lang="en-US" sz="2200" dirty="0" smtClean="0"/>
          </a:p>
          <a:p>
            <a:pPr lvl="1">
              <a:spcBef>
                <a:spcPts val="0"/>
              </a:spcBef>
            </a:pPr>
            <a:r>
              <a:rPr lang="en-US" sz="2200" dirty="0"/>
              <a:t>A # in front of a link location specifies that the link is pointing to an anchor on a page. </a:t>
            </a:r>
            <a:endParaRPr lang="en-US" sz="2200" dirty="0" smtClean="0"/>
          </a:p>
          <a:p>
            <a:pPr lvl="1">
              <a:spcBef>
                <a:spcPts val="0"/>
              </a:spcBef>
            </a:pPr>
            <a:r>
              <a:rPr lang="en-US" sz="2200" dirty="0" smtClean="0"/>
              <a:t>Anchor </a:t>
            </a:r>
            <a:r>
              <a:rPr lang="en-US" sz="2200" dirty="0"/>
              <a:t>meaning a specific place in the middle of your </a:t>
            </a:r>
            <a:r>
              <a:rPr lang="en-US" sz="2200" dirty="0" smtClean="0"/>
              <a:t>page.  </a:t>
            </a:r>
            <a:endParaRPr lang="en-US" sz="2200" dirty="0"/>
          </a:p>
          <a:p>
            <a:pPr lvl="1">
              <a:spcBef>
                <a:spcPts val="0"/>
              </a:spcBef>
            </a:pPr>
            <a:r>
              <a:rPr lang="en-US" sz="2200" dirty="0" smtClean="0"/>
              <a:t>anchors </a:t>
            </a:r>
            <a:r>
              <a:rPr lang="en-US" sz="2200" dirty="0"/>
              <a:t>are inline elements; must be placed in a block element such as p or </a:t>
            </a:r>
            <a:r>
              <a:rPr lang="en-US" sz="2200" dirty="0" smtClean="0"/>
              <a:t>h1</a:t>
            </a:r>
          </a:p>
          <a:p>
            <a:pPr lvl="1"/>
            <a:r>
              <a:rPr lang="en-US" sz="2200" dirty="0"/>
              <a:t>The </a:t>
            </a:r>
            <a:r>
              <a:rPr lang="en-US" sz="2200" b="1" dirty="0"/>
              <a:t>&lt;a </a:t>
            </a:r>
            <a:r>
              <a:rPr lang="en-US" sz="2200" b="1" dirty="0" err="1"/>
              <a:t>href</a:t>
            </a:r>
            <a:r>
              <a:rPr lang="en-US" sz="2200" b="1" dirty="0"/>
              <a:t>&gt; </a:t>
            </a:r>
            <a:r>
              <a:rPr lang="en-US" sz="2200" dirty="0"/>
              <a:t>is what you click and </a:t>
            </a:r>
            <a:r>
              <a:rPr lang="en-US" sz="2200" b="1" dirty="0"/>
              <a:t>&lt;a id&gt; </a:t>
            </a:r>
            <a:r>
              <a:rPr lang="en-US" sz="2200" b="1" dirty="0" smtClean="0"/>
              <a:t>or </a:t>
            </a:r>
            <a:r>
              <a:rPr lang="en-US" sz="2200" b="1" dirty="0"/>
              <a:t>&lt;a </a:t>
            </a:r>
            <a:r>
              <a:rPr lang="en-US" sz="2200" b="1" dirty="0" smtClean="0"/>
              <a:t>name&gt; </a:t>
            </a:r>
            <a:r>
              <a:rPr lang="en-US" sz="2200" dirty="0" smtClean="0"/>
              <a:t>is </a:t>
            </a:r>
            <a:r>
              <a:rPr lang="en-US" sz="2200" dirty="0"/>
              <a:t>where you go when </a:t>
            </a:r>
            <a:r>
              <a:rPr lang="en-US" sz="2200" dirty="0" smtClean="0"/>
              <a:t>you </a:t>
            </a:r>
            <a:r>
              <a:rPr lang="en-GB" sz="2200" dirty="0" smtClean="0"/>
              <a:t>click </a:t>
            </a:r>
            <a:r>
              <a:rPr lang="en-GB" sz="2200" dirty="0"/>
              <a:t>there.</a:t>
            </a:r>
            <a:endParaRPr lang="en-US" dirty="0"/>
          </a:p>
        </p:txBody>
      </p:sp>
    </p:spTree>
    <p:extLst>
      <p:ext uri="{BB962C8B-B14F-4D97-AF65-F5344CB8AC3E}">
        <p14:creationId xmlns:p14="http://schemas.microsoft.com/office/powerpoint/2010/main" val="157641216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Block and inline </a:t>
            </a:r>
            <a:r>
              <a:rPr lang="en-US" b="1" dirty="0" smtClean="0"/>
              <a:t>elements</a:t>
            </a:r>
            <a:endParaRPr lang="en-US" dirty="0"/>
          </a:p>
        </p:txBody>
      </p:sp>
      <p:sp>
        <p:nvSpPr>
          <p:cNvPr id="3" name="Content Placeholder 2"/>
          <p:cNvSpPr>
            <a:spLocks noGrp="1"/>
          </p:cNvSpPr>
          <p:nvPr>
            <p:ph idx="1"/>
          </p:nvPr>
        </p:nvSpPr>
        <p:spPr>
          <a:xfrm>
            <a:off x="1097280" y="2996610"/>
            <a:ext cx="10058400" cy="3861390"/>
          </a:xfrm>
        </p:spPr>
        <p:txBody>
          <a:bodyPr/>
          <a:lstStyle/>
          <a:p>
            <a:r>
              <a:rPr lang="en-US" sz="2400" dirty="0">
                <a:hlinkClick r:id="rId2"/>
              </a:rPr>
              <a:t>block</a:t>
            </a:r>
            <a:r>
              <a:rPr lang="en-US" sz="2400" dirty="0"/>
              <a:t> elements contain an entire large region of content </a:t>
            </a:r>
          </a:p>
          <a:p>
            <a:pPr lvl="1"/>
            <a:r>
              <a:rPr lang="en-US" sz="2400" dirty="0"/>
              <a:t>examples: paragraphs, lists, table cells</a:t>
            </a:r>
          </a:p>
          <a:p>
            <a:pPr lvl="1"/>
            <a:r>
              <a:rPr lang="en-US" sz="2400" dirty="0"/>
              <a:t>the browser places a margin of whitespace between block elements for separation</a:t>
            </a:r>
          </a:p>
          <a:p>
            <a:r>
              <a:rPr lang="en-US" sz="2400" dirty="0">
                <a:hlinkClick r:id="rId3"/>
              </a:rPr>
              <a:t>inline</a:t>
            </a:r>
            <a:r>
              <a:rPr lang="en-US" sz="2400" dirty="0"/>
              <a:t> elements affect a small amount of content </a:t>
            </a:r>
          </a:p>
          <a:p>
            <a:pPr lvl="1"/>
            <a:r>
              <a:rPr lang="en-US" sz="2400" dirty="0"/>
              <a:t>examples: bold text, code fragments, images</a:t>
            </a:r>
          </a:p>
          <a:p>
            <a:pPr lvl="1"/>
            <a:r>
              <a:rPr lang="en-US" sz="2400" dirty="0"/>
              <a:t>the browser allows many inline elements to appear on the same line</a:t>
            </a:r>
          </a:p>
          <a:p>
            <a:pPr lvl="1"/>
            <a:r>
              <a:rPr lang="en-US" sz="2400" dirty="0"/>
              <a:t>must be nested inside a block element</a:t>
            </a:r>
          </a:p>
          <a:p>
            <a:endParaRPr lang="en-US" dirty="0"/>
          </a:p>
        </p:txBody>
      </p:sp>
      <p:pic>
        <p:nvPicPr>
          <p:cNvPr id="4098" name="Picture 2" descr="element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6480" y="1777409"/>
            <a:ext cx="7620000" cy="121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46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Quotations &lt;</a:t>
            </a:r>
            <a:r>
              <a:rPr lang="en-US" b="1" dirty="0" err="1"/>
              <a:t>blockquote</a:t>
            </a:r>
            <a:r>
              <a:rPr lang="en-US" b="1" dirty="0"/>
              <a:t>&gt;</a:t>
            </a:r>
          </a:p>
        </p:txBody>
      </p:sp>
      <p:sp>
        <p:nvSpPr>
          <p:cNvPr id="4" name="Content Placeholder 2"/>
          <p:cNvSpPr>
            <a:spLocks noGrp="1"/>
          </p:cNvSpPr>
          <p:nvPr>
            <p:ph sz="quarter" idx="1"/>
          </p:nvPr>
        </p:nvSpPr>
        <p:spPr>
          <a:xfrm>
            <a:off x="1097280" y="1737360"/>
            <a:ext cx="10058400" cy="556591"/>
          </a:xfrm>
        </p:spPr>
        <p:txBody>
          <a:bodyPr/>
          <a:lstStyle/>
          <a:p>
            <a:pPr algn="ctr"/>
            <a:r>
              <a:rPr lang="en-US" i="1" dirty="0"/>
              <a:t>a </a:t>
            </a:r>
            <a:r>
              <a:rPr lang="en-US" i="1" dirty="0" smtClean="0"/>
              <a:t>lengthy quotation (block) </a:t>
            </a:r>
            <a:endParaRPr lang="en-US" i="1" dirty="0"/>
          </a:p>
        </p:txBody>
      </p:sp>
      <p:sp>
        <p:nvSpPr>
          <p:cNvPr id="5" name="TextBox 4"/>
          <p:cNvSpPr txBox="1"/>
          <p:nvPr/>
        </p:nvSpPr>
        <p:spPr>
          <a:xfrm>
            <a:off x="1131073" y="2736574"/>
            <a:ext cx="10058400" cy="1754326"/>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&lt;p&gt;As Lincoln said in his famous Gettysburg Address:&lt;/p&gt;</a:t>
            </a:r>
          </a:p>
          <a:p>
            <a:r>
              <a:rPr lang="en-US" dirty="0" smtClean="0">
                <a:latin typeface="Courier New" pitchFamily="49" charset="0"/>
                <a:cs typeface="Courier New" pitchFamily="49" charset="0"/>
              </a:rPr>
              <a:t>&lt;</a:t>
            </a:r>
            <a:r>
              <a:rPr lang="en-US" dirty="0" err="1">
                <a:latin typeface="Courier New" pitchFamily="49" charset="0"/>
                <a:cs typeface="Courier New" pitchFamily="49" charset="0"/>
              </a:rPr>
              <a:t>blockquote</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p&gt;Fourscore and seven years ago, our fathers brought forth</a:t>
            </a:r>
          </a:p>
          <a:p>
            <a:r>
              <a:rPr lang="en-US" dirty="0" smtClean="0">
                <a:latin typeface="Courier New" pitchFamily="49" charset="0"/>
                <a:cs typeface="Courier New" pitchFamily="49" charset="0"/>
              </a:rPr>
              <a:t>	on </a:t>
            </a:r>
            <a:r>
              <a:rPr lang="en-US" dirty="0">
                <a:latin typeface="Courier New" pitchFamily="49" charset="0"/>
                <a:cs typeface="Courier New" pitchFamily="49" charset="0"/>
              </a:rPr>
              <a:t>this continent a new nation, conceived in liberty, and</a:t>
            </a:r>
          </a:p>
          <a:p>
            <a:r>
              <a:rPr lang="en-US" dirty="0" smtClean="0">
                <a:latin typeface="Courier New" pitchFamily="49" charset="0"/>
                <a:cs typeface="Courier New" pitchFamily="49" charset="0"/>
              </a:rPr>
              <a:t>	dedicated </a:t>
            </a:r>
            <a:r>
              <a:rPr lang="en-US" dirty="0">
                <a:latin typeface="Courier New" pitchFamily="49" charset="0"/>
                <a:cs typeface="Courier New" pitchFamily="49" charset="0"/>
              </a:rPr>
              <a:t>to the proposition that all men are created equal.&lt;/p&gt;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blockquote</a:t>
            </a:r>
            <a:r>
              <a:rPr lang="en-US" dirty="0">
                <a:latin typeface="Courier New" pitchFamily="49" charset="0"/>
                <a:cs typeface="Courier New" pitchFamily="49" charset="0"/>
              </a:rPr>
              <a:t>&gt; </a:t>
            </a:r>
            <a:r>
              <a:rPr lang="en-US" dirty="0" smtClean="0">
                <a:latin typeface="Courier New" pitchFamily="49" charset="0"/>
                <a:cs typeface="Courier New" pitchFamily="49" charset="0"/>
              </a:rPr>
              <a:t>	</a:t>
            </a:r>
            <a:r>
              <a:rPr lang="en-US" dirty="0">
                <a:latin typeface="Courier New" pitchFamily="49" charset="0"/>
                <a:cs typeface="Courier New" pitchFamily="49" charset="0"/>
              </a:rPr>
              <a:t> </a:t>
            </a:r>
            <a:r>
              <a:rPr lang="en-US" dirty="0" smtClean="0">
                <a:latin typeface="Courier New" pitchFamily="49" charset="0"/>
                <a:cs typeface="Courier New" pitchFamily="49" charset="0"/>
              </a:rPr>
              <a:t>                                                  </a:t>
            </a:r>
            <a:r>
              <a:rPr lang="en-US" b="1" dirty="0" smtClean="0">
                <a:solidFill>
                  <a:schemeClr val="bg1">
                    <a:lumMod val="65000"/>
                  </a:schemeClr>
                </a:solidFill>
                <a:latin typeface="Consolas" pitchFamily="49" charset="0"/>
                <a:cs typeface="Consolas" pitchFamily="49" charset="0"/>
              </a:rPr>
              <a:t>HTML</a:t>
            </a:r>
          </a:p>
        </p:txBody>
      </p:sp>
      <p:sp>
        <p:nvSpPr>
          <p:cNvPr id="6" name="TextBox 5"/>
          <p:cNvSpPr txBox="1"/>
          <p:nvPr/>
        </p:nvSpPr>
        <p:spPr>
          <a:xfrm>
            <a:off x="1131073" y="4490900"/>
            <a:ext cx="10058400" cy="1292662"/>
          </a:xfrm>
          <a:prstGeom prst="rect">
            <a:avLst/>
          </a:prstGeom>
          <a:noFill/>
          <a:ln w="19050">
            <a:solidFill>
              <a:schemeClr val="tx1"/>
            </a:solidFill>
          </a:ln>
        </p:spPr>
        <p:txBody>
          <a:bodyPr wrap="square" rtlCol="0">
            <a:spAutoFit/>
          </a:bodyPr>
          <a:lstStyle/>
          <a:p>
            <a:r>
              <a:rPr lang="en-US" sz="2000" dirty="0">
                <a:latin typeface="Times New Roman" pitchFamily="18" charset="0"/>
                <a:cs typeface="Times New Roman" pitchFamily="18" charset="0"/>
              </a:rPr>
              <a:t>As Lincoln said in his famous Gettysburg Address:</a:t>
            </a:r>
          </a:p>
          <a:p>
            <a:r>
              <a:rPr lang="en-US" sz="2000" dirty="0" smtClean="0">
                <a:latin typeface="Times New Roman" pitchFamily="18" charset="0"/>
                <a:cs typeface="Times New Roman" pitchFamily="18" charset="0"/>
              </a:rPr>
              <a:t>	</a:t>
            </a:r>
            <a:r>
              <a:rPr lang="en-US" sz="2000" i="1" dirty="0" smtClean="0">
                <a:latin typeface="Times New Roman" pitchFamily="18" charset="0"/>
                <a:cs typeface="Times New Roman" pitchFamily="18" charset="0"/>
              </a:rPr>
              <a:t>Fourscore </a:t>
            </a:r>
            <a:r>
              <a:rPr lang="en-US" sz="2000" i="1" dirty="0">
                <a:latin typeface="Times New Roman" pitchFamily="18" charset="0"/>
                <a:cs typeface="Times New Roman" pitchFamily="18" charset="0"/>
              </a:rPr>
              <a:t>and seven years ago, our fathers brought forth on </a:t>
            </a:r>
            <a:r>
              <a:rPr lang="en-US" sz="2000" i="1" dirty="0" smtClean="0">
                <a:latin typeface="Times New Roman" pitchFamily="18" charset="0"/>
                <a:cs typeface="Times New Roman" pitchFamily="18" charset="0"/>
              </a:rPr>
              <a:t>this continent </a:t>
            </a:r>
            <a:r>
              <a:rPr lang="en-US" sz="2000" i="1" dirty="0">
                <a:latin typeface="Times New Roman" pitchFamily="18" charset="0"/>
                <a:cs typeface="Times New Roman" pitchFamily="18" charset="0"/>
              </a:rPr>
              <a:t>a new </a:t>
            </a:r>
            <a:r>
              <a:rPr lang="en-US" sz="2000" i="1" dirty="0" smtClean="0">
                <a:latin typeface="Times New Roman" pitchFamily="18" charset="0"/>
                <a:cs typeface="Times New Roman" pitchFamily="18" charset="0"/>
              </a:rPr>
              <a:t>nation, 	conceived </a:t>
            </a:r>
            <a:r>
              <a:rPr lang="en-US" sz="2000" i="1" dirty="0">
                <a:latin typeface="Times New Roman" pitchFamily="18" charset="0"/>
                <a:cs typeface="Times New Roman" pitchFamily="18" charset="0"/>
              </a:rPr>
              <a:t>in liberty, and dedicated to the proposition that all men are created equal. </a:t>
            </a:r>
            <a:r>
              <a:rPr lang="en-US" sz="2000" i="1" dirty="0" smtClean="0">
                <a:latin typeface="Times New Roman" pitchFamily="18" charset="0"/>
                <a:cs typeface="Times New Roman" pitchFamily="18" charset="0"/>
              </a:rPr>
              <a:t>	</a:t>
            </a:r>
            <a:r>
              <a:rPr lang="en-US" i="1" dirty="0" smtClean="0">
                <a:latin typeface="Consolas" pitchFamily="49" charset="0"/>
                <a:cs typeface="Consolas" pitchFamily="49" charset="0"/>
              </a:rPr>
              <a:t>                               		</a:t>
            </a:r>
            <a:r>
              <a:rPr lang="en-US" dirty="0" smtClean="0">
                <a:latin typeface="Consolas" pitchFamily="49" charset="0"/>
                <a:cs typeface="Consolas" pitchFamily="49" charset="0"/>
              </a:rPr>
              <a:t>			                                                      </a:t>
            </a:r>
            <a:r>
              <a:rPr lang="en-US" b="1" dirty="0" smtClean="0">
                <a:solidFill>
                  <a:schemeClr val="bg1">
                    <a:lumMod val="65000"/>
                  </a:schemeClr>
                </a:solidFill>
                <a:latin typeface="Consolas" pitchFamily="49" charset="0"/>
                <a:cs typeface="Consolas" pitchFamily="49" charset="0"/>
              </a:rPr>
              <a:t>output</a:t>
            </a:r>
          </a:p>
        </p:txBody>
      </p:sp>
    </p:spTree>
    <p:extLst>
      <p:ext uri="{BB962C8B-B14F-4D97-AF65-F5344CB8AC3E}">
        <p14:creationId xmlns:p14="http://schemas.microsoft.com/office/powerpoint/2010/main" val="372772616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Inline quotations &lt;q&gt;</a:t>
            </a:r>
          </a:p>
        </p:txBody>
      </p:sp>
      <p:sp>
        <p:nvSpPr>
          <p:cNvPr id="3" name="Content Placeholder 2"/>
          <p:cNvSpPr>
            <a:spLocks noGrp="1"/>
          </p:cNvSpPr>
          <p:nvPr>
            <p:ph idx="1"/>
          </p:nvPr>
        </p:nvSpPr>
        <p:spPr>
          <a:xfrm>
            <a:off x="1097279" y="1779056"/>
            <a:ext cx="10058400" cy="688744"/>
          </a:xfrm>
        </p:spPr>
        <p:txBody>
          <a:bodyPr/>
          <a:lstStyle/>
          <a:p>
            <a:pPr algn="ctr"/>
            <a:r>
              <a:rPr lang="en-US" i="1" dirty="0"/>
              <a:t>a short quotation (inline)</a:t>
            </a:r>
          </a:p>
        </p:txBody>
      </p:sp>
      <p:sp>
        <p:nvSpPr>
          <p:cNvPr id="4" name="TextBox 3"/>
          <p:cNvSpPr txBox="1"/>
          <p:nvPr/>
        </p:nvSpPr>
        <p:spPr>
          <a:xfrm>
            <a:off x="1097280" y="2736574"/>
            <a:ext cx="10058400" cy="461665"/>
          </a:xfrm>
          <a:prstGeom prst="rect">
            <a:avLst/>
          </a:prstGeom>
          <a:solidFill>
            <a:srgbClr val="E5F5FF"/>
          </a:solidFill>
          <a:ln w="19050">
            <a:solidFill>
              <a:schemeClr val="tx1"/>
            </a:solidFill>
          </a:ln>
        </p:spPr>
        <p:txBody>
          <a:bodyPr wrap="square" rtlCol="0">
            <a:spAutoFit/>
          </a:bodyPr>
          <a:lstStyle/>
          <a:p>
            <a:r>
              <a:rPr lang="en-US" sz="2400" dirty="0">
                <a:latin typeface="Courier New" pitchFamily="49" charset="0"/>
                <a:cs typeface="Courier New" pitchFamily="49" charset="0"/>
              </a:rPr>
              <a:t>&lt;</a:t>
            </a:r>
            <a:r>
              <a:rPr lang="en-US" sz="2400" dirty="0" smtClean="0">
                <a:latin typeface="Courier New" pitchFamily="49" charset="0"/>
                <a:cs typeface="Courier New" pitchFamily="49" charset="0"/>
              </a:rPr>
              <a:t>p&gt;Quote </a:t>
            </a:r>
            <a:r>
              <a:rPr lang="en-US" sz="2400" dirty="0">
                <a:latin typeface="Courier New" pitchFamily="49" charset="0"/>
                <a:cs typeface="Courier New" pitchFamily="49" charset="0"/>
              </a:rPr>
              <a:t>the Raven, &lt;q&gt;Nevermore.&lt;/q&gt;&lt;/p</a:t>
            </a:r>
            <a:r>
              <a:rPr lang="en-US" sz="2400" dirty="0" smtClean="0">
                <a:latin typeface="Courier New" pitchFamily="49" charset="0"/>
                <a:cs typeface="Courier New" pitchFamily="49" charset="0"/>
              </a:rPr>
              <a:t>&gt;         </a:t>
            </a:r>
            <a:r>
              <a:rPr lang="en-US" sz="2400" b="1" dirty="0" smtClean="0">
                <a:solidFill>
                  <a:schemeClr val="bg1">
                    <a:lumMod val="65000"/>
                  </a:schemeClr>
                </a:solidFill>
                <a:latin typeface="Consolas" pitchFamily="49" charset="0"/>
                <a:cs typeface="Consolas" pitchFamily="49" charset="0"/>
              </a:rPr>
              <a:t>HTML</a:t>
            </a:r>
          </a:p>
        </p:txBody>
      </p:sp>
      <p:sp>
        <p:nvSpPr>
          <p:cNvPr id="5" name="TextBox 4"/>
          <p:cNvSpPr txBox="1"/>
          <p:nvPr/>
        </p:nvSpPr>
        <p:spPr>
          <a:xfrm>
            <a:off x="1097279" y="3198239"/>
            <a:ext cx="10058400" cy="461665"/>
          </a:xfrm>
          <a:prstGeom prst="rect">
            <a:avLst/>
          </a:prstGeom>
          <a:noFill/>
          <a:ln w="19050">
            <a:solidFill>
              <a:schemeClr val="tx1"/>
            </a:solidFill>
          </a:ln>
        </p:spPr>
        <p:txBody>
          <a:bodyPr wrap="square" rtlCol="0">
            <a:spAutoFit/>
          </a:bodyPr>
          <a:lstStyle/>
          <a:p>
            <a:r>
              <a:rPr lang="en-US" sz="2400" dirty="0" smtClean="0">
                <a:latin typeface="Times New Roman" pitchFamily="18" charset="0"/>
                <a:cs typeface="Times New Roman" pitchFamily="18" charset="0"/>
              </a:rPr>
              <a:t>Quote </a:t>
            </a:r>
            <a:r>
              <a:rPr lang="en-US" sz="2400" dirty="0">
                <a:latin typeface="Times New Roman" pitchFamily="18" charset="0"/>
                <a:cs typeface="Times New Roman" pitchFamily="18" charset="0"/>
              </a:rPr>
              <a:t>the Raven, “Nevermore.” </a:t>
            </a:r>
            <a:r>
              <a:rPr lang="en-US" sz="2400" dirty="0" smtClean="0">
                <a:latin typeface="Times New Roman" pitchFamily="18" charset="0"/>
                <a:cs typeface="Times New Roman" pitchFamily="18" charset="0"/>
              </a:rPr>
              <a:t>	</a:t>
            </a:r>
            <a:r>
              <a:rPr lang="en-US" sz="2400" dirty="0" smtClean="0">
                <a:latin typeface="Consolas" pitchFamily="49" charset="0"/>
                <a:cs typeface="Consolas" pitchFamily="49" charset="0"/>
              </a:rPr>
              <a:t>                            </a:t>
            </a:r>
            <a:r>
              <a:rPr lang="en-US" sz="2400" b="1" dirty="0" smtClean="0">
                <a:solidFill>
                  <a:schemeClr val="bg1">
                    <a:lumMod val="65000"/>
                  </a:schemeClr>
                </a:solidFill>
                <a:latin typeface="Consolas" pitchFamily="49" charset="0"/>
                <a:cs typeface="Consolas" pitchFamily="49" charset="0"/>
              </a:rPr>
              <a:t>output</a:t>
            </a:r>
          </a:p>
        </p:txBody>
      </p:sp>
      <p:sp>
        <p:nvSpPr>
          <p:cNvPr id="6" name="Rectangle 5"/>
          <p:cNvSpPr/>
          <p:nvPr/>
        </p:nvSpPr>
        <p:spPr>
          <a:xfrm>
            <a:off x="1097279" y="4169322"/>
            <a:ext cx="10058401" cy="830997"/>
          </a:xfrm>
          <a:prstGeom prst="rect">
            <a:avLst/>
          </a:prstGeom>
        </p:spPr>
        <p:txBody>
          <a:bodyPr wrap="square">
            <a:spAutoFit/>
          </a:bodyPr>
          <a:lstStyle/>
          <a:p>
            <a:pPr marL="285750" indent="-285750">
              <a:buFont typeface="Arial" panose="020B0604020202020204" pitchFamily="34" charset="0"/>
              <a:buChar char="•"/>
            </a:pPr>
            <a:r>
              <a:rPr lang="en-US" sz="2400" dirty="0"/>
              <a:t>Why not just write the following?</a:t>
            </a:r>
          </a:p>
          <a:p>
            <a:r>
              <a:rPr lang="en-US" sz="2400" dirty="0" smtClean="0"/>
              <a:t>		&lt;</a:t>
            </a:r>
            <a:r>
              <a:rPr lang="en-US" sz="2400" dirty="0" smtClean="0"/>
              <a:t>p&gt;Quote </a:t>
            </a:r>
            <a:r>
              <a:rPr lang="en-US" sz="2400" dirty="0"/>
              <a:t>the Raven, "Nevermore."&lt;/p&gt;</a:t>
            </a:r>
          </a:p>
        </p:txBody>
      </p:sp>
    </p:spTree>
    <p:extLst>
      <p:ext uri="{BB962C8B-B14F-4D97-AF65-F5344CB8AC3E}">
        <p14:creationId xmlns:p14="http://schemas.microsoft.com/office/powerpoint/2010/main" val="14198891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Computer code &lt;code&gt;</a:t>
            </a:r>
          </a:p>
        </p:txBody>
      </p:sp>
      <p:sp>
        <p:nvSpPr>
          <p:cNvPr id="4" name="TextBox 3"/>
          <p:cNvSpPr txBox="1"/>
          <p:nvPr/>
        </p:nvSpPr>
        <p:spPr>
          <a:xfrm>
            <a:off x="1114182" y="2806149"/>
            <a:ext cx="10044545" cy="1446550"/>
          </a:xfrm>
          <a:prstGeom prst="rect">
            <a:avLst/>
          </a:prstGeom>
          <a:solidFill>
            <a:srgbClr val="E5F5FF"/>
          </a:solidFill>
          <a:ln w="19050">
            <a:solidFill>
              <a:schemeClr val="tx1"/>
            </a:solidFill>
          </a:ln>
        </p:spPr>
        <p:txBody>
          <a:bodyPr wrap="square" rtlCol="0">
            <a:spAutoFit/>
          </a:bodyPr>
          <a:lstStyle/>
          <a:p>
            <a:r>
              <a:rPr lang="en-US" sz="2200" dirty="0">
                <a:latin typeface="Courier New" pitchFamily="49" charset="0"/>
                <a:cs typeface="Courier New" pitchFamily="49" charset="0"/>
              </a:rPr>
              <a:t>&lt;p&gt;</a:t>
            </a:r>
          </a:p>
          <a:p>
            <a:r>
              <a:rPr lang="en-US" sz="2200" dirty="0" smtClean="0">
                <a:latin typeface="Courier New" pitchFamily="49" charset="0"/>
                <a:cs typeface="Courier New" pitchFamily="49" charset="0"/>
              </a:rPr>
              <a:t>	The </a:t>
            </a:r>
            <a:r>
              <a:rPr lang="en-US" sz="2200" dirty="0">
                <a:latin typeface="Courier New" pitchFamily="49" charset="0"/>
                <a:cs typeface="Courier New" pitchFamily="49" charset="0"/>
              </a:rPr>
              <a:t>&lt;code&gt;</a:t>
            </a:r>
            <a:r>
              <a:rPr lang="en-US" sz="2200" dirty="0" err="1">
                <a:latin typeface="Courier New" pitchFamily="49" charset="0"/>
                <a:cs typeface="Courier New" pitchFamily="49" charset="0"/>
              </a:rPr>
              <a:t>ul</a:t>
            </a:r>
            <a:r>
              <a:rPr lang="en-US" sz="2200" dirty="0">
                <a:latin typeface="Courier New" pitchFamily="49" charset="0"/>
                <a:cs typeface="Courier New" pitchFamily="49" charset="0"/>
              </a:rPr>
              <a:t>&lt;/code&gt; and &lt;code&gt;</a:t>
            </a:r>
            <a:r>
              <a:rPr lang="en-US" sz="2200" dirty="0" err="1">
                <a:latin typeface="Courier New" pitchFamily="49" charset="0"/>
                <a:cs typeface="Courier New" pitchFamily="49" charset="0"/>
              </a:rPr>
              <a:t>ol</a:t>
            </a:r>
            <a:r>
              <a:rPr lang="en-US" sz="2200" dirty="0">
                <a:latin typeface="Courier New" pitchFamily="49" charset="0"/>
                <a:cs typeface="Courier New" pitchFamily="49" charset="0"/>
              </a:rPr>
              <a:t>&lt;/code&gt;</a:t>
            </a:r>
          </a:p>
          <a:p>
            <a:r>
              <a:rPr lang="en-US" sz="2200" dirty="0" smtClean="0">
                <a:latin typeface="Courier New" pitchFamily="49" charset="0"/>
                <a:cs typeface="Courier New" pitchFamily="49" charset="0"/>
              </a:rPr>
              <a:t>	tags </a:t>
            </a:r>
            <a:r>
              <a:rPr lang="en-US" sz="2200" dirty="0">
                <a:latin typeface="Courier New" pitchFamily="49" charset="0"/>
                <a:cs typeface="Courier New" pitchFamily="49" charset="0"/>
              </a:rPr>
              <a:t>make lists.</a:t>
            </a:r>
          </a:p>
          <a:p>
            <a:r>
              <a:rPr lang="en-US" sz="2200" dirty="0">
                <a:latin typeface="Courier New" pitchFamily="49" charset="0"/>
                <a:cs typeface="Courier New" pitchFamily="49" charset="0"/>
              </a:rPr>
              <a:t>&lt;/p&gt;</a:t>
            </a:r>
            <a:r>
              <a:rPr lang="en-US" sz="2200" dirty="0" smtClean="0">
                <a:latin typeface="Courier New" pitchFamily="49" charset="0"/>
                <a:cs typeface="Courier New" pitchFamily="49" charset="0"/>
              </a:rPr>
              <a:t>                                                  </a:t>
            </a:r>
            <a:r>
              <a:rPr lang="en-US" sz="2200" b="1" dirty="0" smtClean="0">
                <a:solidFill>
                  <a:schemeClr val="bg1">
                    <a:lumMod val="65000"/>
                  </a:schemeClr>
                </a:solidFill>
                <a:latin typeface="Consolas" pitchFamily="49" charset="0"/>
                <a:cs typeface="Consolas" pitchFamily="49" charset="0"/>
              </a:rPr>
              <a:t>HTML</a:t>
            </a:r>
          </a:p>
        </p:txBody>
      </p:sp>
      <p:sp>
        <p:nvSpPr>
          <p:cNvPr id="5" name="TextBox 4"/>
          <p:cNvSpPr txBox="1"/>
          <p:nvPr/>
        </p:nvSpPr>
        <p:spPr>
          <a:xfrm>
            <a:off x="1114182" y="4241339"/>
            <a:ext cx="10044545" cy="430887"/>
          </a:xfrm>
          <a:prstGeom prst="rect">
            <a:avLst/>
          </a:prstGeom>
          <a:noFill/>
          <a:ln w="19050">
            <a:solidFill>
              <a:schemeClr val="tx1"/>
            </a:solidFill>
          </a:ln>
        </p:spPr>
        <p:txBody>
          <a:bodyPr wrap="square" rtlCol="0">
            <a:spAutoFit/>
          </a:bodyPr>
          <a:lstStyle/>
          <a:p>
            <a:r>
              <a:rPr lang="en-US" sz="2200" dirty="0">
                <a:latin typeface="Times New Roman" pitchFamily="18" charset="0"/>
                <a:cs typeface="Times New Roman" pitchFamily="18" charset="0"/>
              </a:rPr>
              <a:t>The </a:t>
            </a:r>
            <a:r>
              <a:rPr lang="en-US" sz="2200" dirty="0" err="1">
                <a:latin typeface="Courier New" pitchFamily="49" charset="0"/>
                <a:cs typeface="Courier New" pitchFamily="49" charset="0"/>
              </a:rPr>
              <a:t>ul</a:t>
            </a:r>
            <a:r>
              <a:rPr lang="en-US" sz="2200" dirty="0">
                <a:latin typeface="Times New Roman" pitchFamily="18" charset="0"/>
                <a:cs typeface="Times New Roman" pitchFamily="18" charset="0"/>
              </a:rPr>
              <a:t> and </a:t>
            </a:r>
            <a:r>
              <a:rPr lang="en-US" sz="2200" dirty="0" err="1">
                <a:latin typeface="Courier New" pitchFamily="49" charset="0"/>
                <a:cs typeface="Courier New" pitchFamily="49" charset="0"/>
              </a:rPr>
              <a:t>ol</a:t>
            </a:r>
            <a:r>
              <a:rPr lang="en-US" sz="2200" dirty="0">
                <a:latin typeface="Times New Roman" pitchFamily="18" charset="0"/>
                <a:cs typeface="Times New Roman" pitchFamily="18" charset="0"/>
              </a:rPr>
              <a:t> tags make lists.</a:t>
            </a:r>
            <a:r>
              <a:rPr lang="en-US" sz="2200" dirty="0" smtClean="0">
                <a:latin typeface="Times New Roman" pitchFamily="18" charset="0"/>
                <a:cs typeface="Times New Roman" pitchFamily="18" charset="0"/>
              </a:rPr>
              <a:t>	</a:t>
            </a:r>
            <a:r>
              <a:rPr lang="en-US" sz="2200" dirty="0" smtClean="0">
                <a:latin typeface="Consolas" pitchFamily="49" charset="0"/>
                <a:cs typeface="Consolas" pitchFamily="49" charset="0"/>
              </a:rPr>
              <a:t>                               	</a:t>
            </a:r>
            <a:r>
              <a:rPr lang="en-US" sz="2200" b="1" dirty="0" smtClean="0">
                <a:solidFill>
                  <a:schemeClr val="bg1">
                    <a:lumMod val="65000"/>
                  </a:schemeClr>
                </a:solidFill>
                <a:latin typeface="Consolas" pitchFamily="49" charset="0"/>
                <a:cs typeface="Consolas" pitchFamily="49" charset="0"/>
              </a:rPr>
              <a:t>output</a:t>
            </a:r>
          </a:p>
        </p:txBody>
      </p:sp>
      <p:sp>
        <p:nvSpPr>
          <p:cNvPr id="6" name="Content Placeholder 2"/>
          <p:cNvSpPr>
            <a:spLocks noGrp="1"/>
          </p:cNvSpPr>
          <p:nvPr>
            <p:ph sz="quarter" idx="1"/>
          </p:nvPr>
        </p:nvSpPr>
        <p:spPr>
          <a:xfrm>
            <a:off x="1114182" y="1927198"/>
            <a:ext cx="10044545" cy="689113"/>
          </a:xfrm>
        </p:spPr>
        <p:txBody>
          <a:bodyPr>
            <a:normAutofit/>
          </a:bodyPr>
          <a:lstStyle/>
          <a:p>
            <a:pPr algn="ctr"/>
            <a:r>
              <a:rPr lang="en-US" sz="2400" i="1" dirty="0"/>
              <a:t>a short section of computer code (usually shown in a fixed-width font) </a:t>
            </a:r>
          </a:p>
        </p:txBody>
      </p:sp>
    </p:spTree>
    <p:extLst>
      <p:ext uri="{BB962C8B-B14F-4D97-AF65-F5344CB8AC3E}">
        <p14:creationId xmlns:p14="http://schemas.microsoft.com/office/powerpoint/2010/main" val="42540403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76664"/>
            <a:ext cx="10058400" cy="1450757"/>
          </a:xfrm>
        </p:spPr>
        <p:txBody>
          <a:bodyPr/>
          <a:lstStyle/>
          <a:p>
            <a:r>
              <a:rPr lang="en-US" b="1" dirty="0"/>
              <a:t>Preformatted text &lt;pre&gt;</a:t>
            </a:r>
          </a:p>
        </p:txBody>
      </p:sp>
      <p:sp>
        <p:nvSpPr>
          <p:cNvPr id="3" name="Content Placeholder 2"/>
          <p:cNvSpPr>
            <a:spLocks noGrp="1"/>
          </p:cNvSpPr>
          <p:nvPr>
            <p:ph idx="1"/>
          </p:nvPr>
        </p:nvSpPr>
        <p:spPr>
          <a:xfrm>
            <a:off x="1097280" y="1845734"/>
            <a:ext cx="10058400" cy="609231"/>
          </a:xfrm>
        </p:spPr>
        <p:txBody>
          <a:bodyPr>
            <a:normAutofit/>
          </a:bodyPr>
          <a:lstStyle/>
          <a:p>
            <a:pPr algn="ctr"/>
            <a:r>
              <a:rPr lang="en-US" sz="2200" i="1" dirty="0"/>
              <a:t>a large section of pre-formatted text (block)</a:t>
            </a:r>
          </a:p>
        </p:txBody>
      </p:sp>
      <p:sp>
        <p:nvSpPr>
          <p:cNvPr id="4" name="TextBox 3"/>
          <p:cNvSpPr txBox="1"/>
          <p:nvPr/>
        </p:nvSpPr>
        <p:spPr>
          <a:xfrm>
            <a:off x="1111135" y="2454965"/>
            <a:ext cx="10120082" cy="1477328"/>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&lt;pre&gt;</a:t>
            </a:r>
          </a:p>
          <a:p>
            <a:r>
              <a:rPr lang="en-US" dirty="0" smtClean="0">
                <a:latin typeface="Courier New" pitchFamily="49" charset="0"/>
                <a:cs typeface="Courier New" pitchFamily="49" charset="0"/>
              </a:rPr>
              <a:t>		Bill Gates </a:t>
            </a:r>
            <a:r>
              <a:rPr lang="en-US" dirty="0">
                <a:latin typeface="Courier New" pitchFamily="49" charset="0"/>
                <a:cs typeface="Courier New" pitchFamily="49" charset="0"/>
              </a:rPr>
              <a:t>speaks </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    		You will be assimilated </a:t>
            </a:r>
            <a:endParaRPr lang="en-US" dirty="0">
              <a:latin typeface="Courier New" pitchFamily="49" charset="0"/>
              <a:cs typeface="Courier New" pitchFamily="49" charset="0"/>
            </a:endParaRPr>
          </a:p>
          <a:p>
            <a:r>
              <a:rPr lang="en-US" dirty="0" smtClean="0">
                <a:latin typeface="Courier New" pitchFamily="49" charset="0"/>
                <a:cs typeface="Courier New" pitchFamily="49" charset="0"/>
              </a:rPr>
              <a:t>  		  Microsoft fans delirious</a:t>
            </a:r>
            <a:endParaRPr lang="en-US" dirty="0">
              <a:latin typeface="Courier New" pitchFamily="49" charset="0"/>
              <a:cs typeface="Courier New" pitchFamily="49" charset="0"/>
            </a:endParaRPr>
          </a:p>
          <a:p>
            <a:r>
              <a:rPr lang="en-US" dirty="0">
                <a:latin typeface="Courier New" pitchFamily="49" charset="0"/>
                <a:cs typeface="Courier New" pitchFamily="49" charset="0"/>
              </a:rPr>
              <a:t>&lt;/pre</a:t>
            </a:r>
            <a:r>
              <a:rPr lang="en-US" dirty="0" smtClean="0">
                <a:latin typeface="Courier New" pitchFamily="49" charset="0"/>
                <a:cs typeface="Courier New" pitchFamily="49" charset="0"/>
              </a:rPr>
              <a:t>&gt;                                                             </a:t>
            </a:r>
            <a:r>
              <a:rPr lang="en-US" b="1" dirty="0" smtClean="0">
                <a:solidFill>
                  <a:schemeClr val="bg1">
                    <a:lumMod val="65000"/>
                  </a:schemeClr>
                </a:solidFill>
                <a:latin typeface="Consolas" pitchFamily="49" charset="0"/>
                <a:cs typeface="Consolas" pitchFamily="49" charset="0"/>
              </a:rPr>
              <a:t>HTML</a:t>
            </a:r>
          </a:p>
        </p:txBody>
      </p:sp>
      <p:sp>
        <p:nvSpPr>
          <p:cNvPr id="5" name="TextBox 4"/>
          <p:cNvSpPr txBox="1"/>
          <p:nvPr/>
        </p:nvSpPr>
        <p:spPr>
          <a:xfrm>
            <a:off x="1111135" y="3932293"/>
            <a:ext cx="10120082" cy="954107"/>
          </a:xfrm>
          <a:prstGeom prst="rect">
            <a:avLst/>
          </a:prstGeom>
          <a:noFill/>
          <a:ln w="19050">
            <a:solidFill>
              <a:schemeClr val="tx1"/>
            </a:solidFill>
          </a:ln>
        </p:spPr>
        <p:txBody>
          <a:bodyPr wrap="square" rtlCol="0">
            <a:spAutoFit/>
          </a:bodyPr>
          <a:lstStyle/>
          <a:p>
            <a:r>
              <a:rPr lang="en-US" dirty="0" smtClean="0">
                <a:latin typeface="Courier New" pitchFamily="49" charset="0"/>
                <a:cs typeface="Courier New" pitchFamily="49" charset="0"/>
              </a:rPr>
              <a:t>		Bill Gates speaks </a:t>
            </a:r>
          </a:p>
          <a:p>
            <a:r>
              <a:rPr lang="en-US" dirty="0" smtClean="0">
                <a:latin typeface="Courier New" pitchFamily="49" charset="0"/>
                <a:cs typeface="Courier New" pitchFamily="49" charset="0"/>
              </a:rPr>
              <a:t>    		You will be assimilated </a:t>
            </a:r>
          </a:p>
          <a:p>
            <a:r>
              <a:rPr lang="en-US" dirty="0" smtClean="0">
                <a:latin typeface="Courier New" pitchFamily="49" charset="0"/>
                <a:cs typeface="Courier New" pitchFamily="49" charset="0"/>
              </a:rPr>
              <a:t>  		  Microsoft fans delirious</a:t>
            </a:r>
            <a:r>
              <a:rPr lang="en-US" sz="2000" dirty="0" smtClean="0">
                <a:latin typeface="Times New Roman" pitchFamily="18" charset="0"/>
                <a:cs typeface="Times New Roman" pitchFamily="18" charset="0"/>
              </a:rPr>
              <a:t>	</a:t>
            </a:r>
            <a:r>
              <a:rPr lang="en-US" dirty="0" smtClean="0">
                <a:latin typeface="Consolas" pitchFamily="49" charset="0"/>
                <a:cs typeface="Consolas" pitchFamily="49" charset="0"/>
              </a:rPr>
              <a:t>                               </a:t>
            </a:r>
            <a:r>
              <a:rPr lang="en-US" dirty="0">
                <a:latin typeface="Consolas" pitchFamily="49" charset="0"/>
                <a:cs typeface="Consolas" pitchFamily="49" charset="0"/>
              </a:rPr>
              <a:t> </a:t>
            </a:r>
            <a:r>
              <a:rPr lang="en-US" dirty="0" smtClean="0">
                <a:latin typeface="Consolas" pitchFamily="49" charset="0"/>
                <a:cs typeface="Consolas" pitchFamily="49" charset="0"/>
              </a:rPr>
              <a:t>    </a:t>
            </a:r>
            <a:r>
              <a:rPr lang="en-US" b="1" dirty="0" smtClean="0">
                <a:solidFill>
                  <a:schemeClr val="bg1">
                    <a:lumMod val="65000"/>
                  </a:schemeClr>
                </a:solidFill>
                <a:latin typeface="Consolas" pitchFamily="49" charset="0"/>
                <a:cs typeface="Consolas" pitchFamily="49" charset="0"/>
              </a:rPr>
              <a:t>output</a:t>
            </a:r>
          </a:p>
        </p:txBody>
      </p:sp>
      <p:sp>
        <p:nvSpPr>
          <p:cNvPr id="6" name="Content Placeholder 2"/>
          <p:cNvSpPr txBox="1">
            <a:spLocks/>
          </p:cNvSpPr>
          <p:nvPr/>
        </p:nvSpPr>
        <p:spPr>
          <a:xfrm>
            <a:off x="1111135" y="5257800"/>
            <a:ext cx="10120082" cy="16002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200" dirty="0" smtClean="0"/>
              <a:t>  Displayed with exactly the whitespace / line breaks given in the text</a:t>
            </a:r>
          </a:p>
          <a:p>
            <a:pPr>
              <a:buFont typeface="Arial" panose="020B0604020202020204" pitchFamily="34" charset="0"/>
              <a:buChar char="•"/>
            </a:pPr>
            <a:r>
              <a:rPr lang="en-US" sz="2200" dirty="0" smtClean="0"/>
              <a:t>  Shown in a fixed-width font by default</a:t>
            </a:r>
            <a:endParaRPr lang="en-US" sz="2200" dirty="0"/>
          </a:p>
        </p:txBody>
      </p:sp>
    </p:spTree>
    <p:extLst>
      <p:ext uri="{BB962C8B-B14F-4D97-AF65-F5344CB8AC3E}">
        <p14:creationId xmlns:p14="http://schemas.microsoft.com/office/powerpoint/2010/main" val="489136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Line break: </a:t>
            </a:r>
            <a:r>
              <a:rPr lang="en-US" b="1" dirty="0">
                <a:solidFill>
                  <a:srgbClr val="84B93F"/>
                </a:solidFill>
              </a:rPr>
              <a:t>&lt;</a:t>
            </a:r>
            <a:r>
              <a:rPr lang="en-US" b="1" dirty="0" err="1">
                <a:solidFill>
                  <a:srgbClr val="84B93F"/>
                </a:solidFill>
              </a:rPr>
              <a:t>br</a:t>
            </a:r>
            <a:r>
              <a:rPr lang="en-US" b="1" dirty="0">
                <a:solidFill>
                  <a:srgbClr val="84B93F"/>
                </a:solidFill>
              </a:rPr>
              <a:t>&gt;</a:t>
            </a:r>
          </a:p>
        </p:txBody>
      </p:sp>
      <p:sp>
        <p:nvSpPr>
          <p:cNvPr id="3" name="Content Placeholder 2"/>
          <p:cNvSpPr>
            <a:spLocks noGrp="1"/>
          </p:cNvSpPr>
          <p:nvPr>
            <p:ph idx="1"/>
          </p:nvPr>
        </p:nvSpPr>
        <p:spPr>
          <a:xfrm>
            <a:off x="1097280" y="1845734"/>
            <a:ext cx="10058400" cy="4714092"/>
          </a:xfrm>
        </p:spPr>
        <p:txBody>
          <a:bodyPr>
            <a:normAutofit/>
          </a:bodyPr>
          <a:lstStyle/>
          <a:p>
            <a:pPr algn="ctr"/>
            <a:r>
              <a:rPr lang="en-US" sz="2200" i="1" dirty="0"/>
              <a:t>forces a line break in the middle of a block element (inline</a:t>
            </a:r>
            <a:r>
              <a:rPr lang="en-US" sz="2200" i="1" dirty="0" smtClean="0"/>
              <a:t>)</a:t>
            </a:r>
            <a:endParaRPr lang="en-US" sz="2200" dirty="0"/>
          </a:p>
          <a:p>
            <a:pPr>
              <a:spcBef>
                <a:spcPts val="200"/>
              </a:spcBef>
            </a:pPr>
            <a:r>
              <a:rPr lang="en-US" sz="1800" dirty="0">
                <a:latin typeface="Courier New" panose="02070309020205020404" pitchFamily="49" charset="0"/>
                <a:cs typeface="Courier New" panose="02070309020205020404" pitchFamily="49" charset="0"/>
              </a:rPr>
              <a:t>&lt;</a:t>
            </a:r>
            <a:r>
              <a:rPr lang="en-US" sz="1800" dirty="0" smtClean="0">
                <a:latin typeface="Courier New" panose="02070309020205020404" pitchFamily="49" charset="0"/>
                <a:cs typeface="Courier New" panose="02070309020205020404" pitchFamily="49" charset="0"/>
              </a:rPr>
              <a:t>p&gt;</a:t>
            </a:r>
          </a:p>
          <a:p>
            <a:pPr marL="201168" lvl="1" indent="0">
              <a:buNone/>
            </a:pPr>
            <a:r>
              <a:rPr lang="en-US" sz="1600" dirty="0" smtClean="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The </a:t>
            </a:r>
            <a:r>
              <a:rPr lang="en-US" dirty="0">
                <a:latin typeface="Courier New" panose="02070309020205020404" pitchFamily="49" charset="0"/>
                <a:cs typeface="Courier New" panose="02070309020205020404" pitchFamily="49" charset="0"/>
              </a:rPr>
              <a:t>woods are lovely, dark and deep, &lt;</a:t>
            </a:r>
            <a:r>
              <a:rPr lang="en-US" dirty="0" err="1">
                <a:latin typeface="Courier New" panose="02070309020205020404" pitchFamily="49" charset="0"/>
                <a:cs typeface="Courier New" panose="02070309020205020404" pitchFamily="49" charset="0"/>
              </a:rPr>
              <a:t>br</a:t>
            </a:r>
            <a:r>
              <a:rPr lang="en-US" dirty="0">
                <a:latin typeface="Courier New" panose="02070309020205020404" pitchFamily="49" charset="0"/>
                <a:cs typeface="Courier New" panose="02070309020205020404" pitchFamily="49" charset="0"/>
              </a:rPr>
              <a:t> /&gt; </a:t>
            </a:r>
            <a:r>
              <a:rPr lang="en-US" dirty="0" smtClean="0">
                <a:latin typeface="Courier New" panose="02070309020205020404" pitchFamily="49" charset="0"/>
                <a:cs typeface="Courier New" panose="02070309020205020404" pitchFamily="49" charset="0"/>
              </a:rPr>
              <a:t>But </a:t>
            </a:r>
            <a:r>
              <a:rPr lang="en-US" dirty="0">
                <a:latin typeface="Courier New" panose="02070309020205020404" pitchFamily="49" charset="0"/>
                <a:cs typeface="Courier New" panose="02070309020205020404" pitchFamily="49" charset="0"/>
              </a:rPr>
              <a:t>I have promises </a:t>
            </a:r>
            <a:r>
              <a:rPr lang="en-US" dirty="0" smtClean="0">
                <a:latin typeface="Courier New" panose="02070309020205020404" pitchFamily="49" charset="0"/>
                <a:cs typeface="Courier New" panose="02070309020205020404" pitchFamily="49" charset="0"/>
              </a:rPr>
              <a:t>to</a:t>
            </a:r>
          </a:p>
          <a:p>
            <a:pPr marL="201168" lvl="1" indent="0">
              <a:buNone/>
            </a:pP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keep, &lt;</a:t>
            </a:r>
            <a:r>
              <a:rPr lang="en-US" dirty="0" err="1">
                <a:latin typeface="Courier New" panose="02070309020205020404" pitchFamily="49" charset="0"/>
                <a:cs typeface="Courier New" panose="02070309020205020404" pitchFamily="49" charset="0"/>
              </a:rPr>
              <a:t>br</a:t>
            </a:r>
            <a:r>
              <a:rPr lang="en-US" dirty="0">
                <a:latin typeface="Courier New" panose="02070309020205020404" pitchFamily="49" charset="0"/>
                <a:cs typeface="Courier New" panose="02070309020205020404" pitchFamily="49" charset="0"/>
              </a:rPr>
              <a:t> /&gt; </a:t>
            </a:r>
            <a:r>
              <a:rPr lang="en-US" dirty="0" smtClean="0">
                <a:latin typeface="Courier New" panose="02070309020205020404" pitchFamily="49" charset="0"/>
                <a:cs typeface="Courier New" panose="02070309020205020404" pitchFamily="49" charset="0"/>
              </a:rPr>
              <a:t>And </a:t>
            </a:r>
            <a:r>
              <a:rPr lang="en-US" dirty="0">
                <a:latin typeface="Courier New" panose="02070309020205020404" pitchFamily="49" charset="0"/>
                <a:cs typeface="Courier New" panose="02070309020205020404" pitchFamily="49" charset="0"/>
              </a:rPr>
              <a:t>miles to go before I sleep, &lt;</a:t>
            </a:r>
            <a:r>
              <a:rPr lang="en-US" dirty="0" err="1">
                <a:latin typeface="Courier New" panose="02070309020205020404" pitchFamily="49" charset="0"/>
                <a:cs typeface="Courier New" panose="02070309020205020404" pitchFamily="49" charset="0"/>
              </a:rPr>
              <a:t>br</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/&gt; And </a:t>
            </a:r>
            <a:r>
              <a:rPr lang="en-US" dirty="0">
                <a:latin typeface="Courier New" panose="02070309020205020404" pitchFamily="49" charset="0"/>
                <a:cs typeface="Courier New" panose="02070309020205020404" pitchFamily="49" charset="0"/>
              </a:rPr>
              <a:t>miles to </a:t>
            </a:r>
            <a:r>
              <a:rPr lang="en-US" dirty="0" smtClean="0">
                <a:latin typeface="Courier New" panose="02070309020205020404" pitchFamily="49" charset="0"/>
                <a:cs typeface="Courier New" panose="02070309020205020404" pitchFamily="49" charset="0"/>
              </a:rPr>
              <a:t>go</a:t>
            </a:r>
          </a:p>
          <a:p>
            <a:pPr marL="201168" lvl="1" indent="0">
              <a:buNone/>
            </a:pP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before I </a:t>
            </a:r>
            <a:r>
              <a:rPr lang="en-US" dirty="0">
                <a:latin typeface="Courier New" panose="02070309020205020404" pitchFamily="49" charset="0"/>
                <a:cs typeface="Courier New" panose="02070309020205020404" pitchFamily="49" charset="0"/>
              </a:rPr>
              <a:t>sleep</a:t>
            </a:r>
            <a:r>
              <a:rPr lang="en-US" dirty="0" smtClean="0">
                <a:latin typeface="Courier New" panose="02070309020205020404" pitchFamily="49" charset="0"/>
                <a:cs typeface="Courier New" panose="02070309020205020404" pitchFamily="49" charset="0"/>
              </a:rPr>
              <a:t>.</a:t>
            </a:r>
          </a:p>
          <a:p>
            <a:pPr marL="201168" lvl="1" indent="0">
              <a:buNone/>
            </a:pPr>
            <a:r>
              <a:rPr lang="en-US" sz="1800" dirty="0" smtClean="0">
                <a:latin typeface="Courier New" panose="02070309020205020404" pitchFamily="49" charset="0"/>
                <a:cs typeface="Courier New" panose="02070309020205020404" pitchFamily="49" charset="0"/>
              </a:rPr>
              <a:t>&lt;/</a:t>
            </a:r>
            <a:r>
              <a:rPr lang="en-US" sz="1800" dirty="0">
                <a:latin typeface="Courier New" panose="02070309020205020404" pitchFamily="49" charset="0"/>
                <a:cs typeface="Courier New" panose="02070309020205020404" pitchFamily="49" charset="0"/>
              </a:rPr>
              <a:t>p&gt;</a:t>
            </a:r>
          </a:p>
          <a:p>
            <a:pPr>
              <a:spcBef>
                <a:spcPts val="200"/>
              </a:spcBef>
            </a:pPr>
            <a:endParaRPr lang="en-US" sz="1400" dirty="0"/>
          </a:p>
          <a:p>
            <a:pPr>
              <a:spcBef>
                <a:spcPts val="200"/>
              </a:spcBef>
            </a:pPr>
            <a:r>
              <a:rPr lang="en-US" sz="2200" dirty="0"/>
              <a:t>The woods are lovely, dark and deep,</a:t>
            </a:r>
          </a:p>
          <a:p>
            <a:pPr>
              <a:spcBef>
                <a:spcPts val="200"/>
              </a:spcBef>
            </a:pPr>
            <a:r>
              <a:rPr lang="en-US" sz="2200" dirty="0"/>
              <a:t>But I have promises to keep,</a:t>
            </a:r>
          </a:p>
          <a:p>
            <a:pPr>
              <a:spcBef>
                <a:spcPts val="200"/>
              </a:spcBef>
            </a:pPr>
            <a:r>
              <a:rPr lang="en-US" sz="2200" dirty="0"/>
              <a:t>And miles to go before I sleep,</a:t>
            </a:r>
          </a:p>
          <a:p>
            <a:pPr>
              <a:spcBef>
                <a:spcPts val="200"/>
              </a:spcBef>
            </a:pPr>
            <a:r>
              <a:rPr lang="en-US" sz="2200" dirty="0"/>
              <a:t>And miles to go before I sleep</a:t>
            </a:r>
            <a:r>
              <a:rPr lang="en-US" sz="2200" dirty="0" smtClean="0"/>
              <a:t>.</a:t>
            </a:r>
          </a:p>
          <a:p>
            <a:pPr>
              <a:spcBef>
                <a:spcPts val="200"/>
              </a:spcBef>
            </a:pPr>
            <a:endParaRPr lang="en-US" sz="2200" dirty="0"/>
          </a:p>
          <a:p>
            <a:pPr>
              <a:buFont typeface="Arial" panose="020B0604020202020204" pitchFamily="34" charset="0"/>
              <a:buChar char="•"/>
            </a:pPr>
            <a:r>
              <a:rPr lang="en-US" sz="2200" dirty="0"/>
              <a:t>    </a:t>
            </a:r>
            <a:r>
              <a:rPr lang="en-US" sz="2200" dirty="0">
                <a:solidFill>
                  <a:srgbClr val="FF0000"/>
                </a:solidFill>
              </a:rPr>
              <a:t>Warning</a:t>
            </a:r>
            <a:r>
              <a:rPr lang="en-US" sz="2200" dirty="0"/>
              <a:t>: Don't over-use </a:t>
            </a:r>
            <a:r>
              <a:rPr lang="en-US" sz="2200" dirty="0" err="1"/>
              <a:t>br</a:t>
            </a:r>
            <a:r>
              <a:rPr lang="en-US" sz="2200" dirty="0"/>
              <a:t> (guideline: &gt;= 2 in a row is bad)</a:t>
            </a:r>
          </a:p>
          <a:p>
            <a:endParaRPr lang="en-US" dirty="0"/>
          </a:p>
        </p:txBody>
      </p:sp>
    </p:spTree>
    <p:extLst>
      <p:ext uri="{BB962C8B-B14F-4D97-AF65-F5344CB8AC3E}">
        <p14:creationId xmlns:p14="http://schemas.microsoft.com/office/powerpoint/2010/main" val="3227690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Character Entities</a:t>
            </a:r>
          </a:p>
        </p:txBody>
      </p:sp>
      <p:sp>
        <p:nvSpPr>
          <p:cNvPr id="3" name="Content Placeholder 2"/>
          <p:cNvSpPr>
            <a:spLocks noGrp="1"/>
          </p:cNvSpPr>
          <p:nvPr>
            <p:ph idx="1"/>
          </p:nvPr>
        </p:nvSpPr>
        <p:spPr>
          <a:xfrm>
            <a:off x="433271" y="1833377"/>
            <a:ext cx="8396349" cy="440266"/>
          </a:xfrm>
        </p:spPr>
        <p:txBody>
          <a:bodyPr/>
          <a:lstStyle/>
          <a:p>
            <a:pPr algn="ctr">
              <a:buFont typeface="Wingdings" panose="05000000000000000000" pitchFamily="2" charset="2"/>
              <a:buChar char="§"/>
            </a:pPr>
            <a:r>
              <a:rPr lang="en-US" i="1" dirty="0"/>
              <a:t>a way of representing any </a:t>
            </a:r>
            <a:r>
              <a:rPr lang="en-US" b="1" i="1" dirty="0"/>
              <a:t>Unicode</a:t>
            </a:r>
            <a:r>
              <a:rPr lang="en-US" i="1" dirty="0"/>
              <a:t> character within a web </a:t>
            </a:r>
            <a:r>
              <a:rPr lang="en-US" i="1" dirty="0" smtClean="0"/>
              <a:t>page</a:t>
            </a:r>
          </a:p>
          <a:p>
            <a:pPr algn="ct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80713629"/>
              </p:ext>
            </p:extLst>
          </p:nvPr>
        </p:nvGraphicFramePr>
        <p:xfrm>
          <a:off x="2520778" y="3285941"/>
          <a:ext cx="6261652" cy="2702560"/>
        </p:xfrm>
        <a:graphic>
          <a:graphicData uri="http://schemas.openxmlformats.org/drawingml/2006/table">
            <a:tbl>
              <a:tblPr>
                <a:tableStyleId>{2D5ABB26-0587-4C30-8999-92F81FD0307C}</a:tableStyleId>
              </a:tblPr>
              <a:tblGrid>
                <a:gridCol w="1838739"/>
                <a:gridCol w="4422913"/>
              </a:tblGrid>
              <a:tr h="0">
                <a:tc>
                  <a:txBody>
                    <a:bodyPr/>
                    <a:lstStyle/>
                    <a:p>
                      <a:pPr fontAlgn="t"/>
                      <a:r>
                        <a:rPr lang="en-US" sz="2200" b="1" dirty="0">
                          <a:effectLst/>
                        </a:rPr>
                        <a:t>character(s)</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b="1" dirty="0">
                          <a:effectLst/>
                        </a:rPr>
                        <a:t>entity</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en-US" sz="2200">
                          <a:effectLst/>
                          <a:latin typeface="Consolas" panose="020B0609020204030204" pitchFamily="49" charset="0"/>
                          <a:cs typeface="Consolas" panose="020B0609020204030204" pitchFamily="49" charset="0"/>
                        </a:rPr>
                        <a:t>&lt; &gt;</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a:effectLst/>
                          <a:latin typeface="Consolas" panose="020B0609020204030204" pitchFamily="49" charset="0"/>
                          <a:cs typeface="Consolas" panose="020B0609020204030204" pitchFamily="49" charset="0"/>
                        </a:rPr>
                        <a:t>&amp;lt; &amp;gt;</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en-US" sz="2200">
                          <a:effectLst/>
                          <a:latin typeface="Consolas" panose="020B0609020204030204" pitchFamily="49" charset="0"/>
                          <a:cs typeface="Consolas" panose="020B0609020204030204" pitchFamily="49" charset="0"/>
                        </a:rPr>
                        <a:t>é è ñ</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a:effectLst/>
                          <a:latin typeface="Consolas" panose="020B0609020204030204" pitchFamily="49" charset="0"/>
                          <a:cs typeface="Consolas" panose="020B0609020204030204" pitchFamily="49" charset="0"/>
                        </a:rPr>
                        <a:t>&amp;eacute; &amp;egrave; &amp;ntilde;</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en-US" sz="2200">
                          <a:effectLst/>
                          <a:latin typeface="Consolas" panose="020B0609020204030204" pitchFamily="49" charset="0"/>
                          <a:cs typeface="Consolas" panose="020B0609020204030204" pitchFamily="49" charset="0"/>
                        </a:rPr>
                        <a:t>™ ©</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a:effectLst/>
                          <a:latin typeface="Consolas" panose="020B0609020204030204" pitchFamily="49" charset="0"/>
                          <a:cs typeface="Consolas" panose="020B0609020204030204" pitchFamily="49" charset="0"/>
                        </a:rPr>
                        <a:t>&amp;trade; &amp;copy;</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el-GR" sz="2200">
                          <a:effectLst/>
                          <a:latin typeface="Consolas" panose="020B0609020204030204" pitchFamily="49" charset="0"/>
                          <a:cs typeface="Consolas" panose="020B0609020204030204" pitchFamily="49" charset="0"/>
                        </a:rPr>
                        <a:t>π δ Δ</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a:effectLst/>
                          <a:latin typeface="Consolas" panose="020B0609020204030204" pitchFamily="49" charset="0"/>
                          <a:cs typeface="Consolas" panose="020B0609020204030204" pitchFamily="49" charset="0"/>
                        </a:rPr>
                        <a:t>&amp;pi; &amp;delta; &amp;Delta;</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az-Cyrl-AZ" sz="2200">
                          <a:effectLst/>
                          <a:latin typeface="Consolas" panose="020B0609020204030204" pitchFamily="49" charset="0"/>
                          <a:cs typeface="Consolas" panose="020B0609020204030204" pitchFamily="49" charset="0"/>
                        </a:rPr>
                        <a:t>И</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a:effectLst/>
                          <a:latin typeface="Consolas" panose="020B0609020204030204" pitchFamily="49" charset="0"/>
                          <a:cs typeface="Consolas" panose="020B0609020204030204" pitchFamily="49" charset="0"/>
                        </a:rPr>
                        <a:t>&amp;#1048;</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fontAlgn="t"/>
                      <a:r>
                        <a:rPr lang="en-US" sz="2200">
                          <a:effectLst/>
                          <a:latin typeface="Consolas" panose="020B0609020204030204" pitchFamily="49" charset="0"/>
                          <a:cs typeface="Consolas" panose="020B0609020204030204" pitchFamily="49" charset="0"/>
                        </a:rPr>
                        <a:t>" &amp;</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2200" dirty="0">
                          <a:effectLst/>
                          <a:latin typeface="Consolas" panose="020B0609020204030204" pitchFamily="49" charset="0"/>
                          <a:cs typeface="Consolas" panose="020B0609020204030204" pitchFamily="49" charset="0"/>
                        </a:rPr>
                        <a:t>&amp;</a:t>
                      </a:r>
                      <a:r>
                        <a:rPr lang="en-US" sz="2200" dirty="0" err="1">
                          <a:effectLst/>
                          <a:latin typeface="Consolas" panose="020B0609020204030204" pitchFamily="49" charset="0"/>
                          <a:cs typeface="Consolas" panose="020B0609020204030204" pitchFamily="49" charset="0"/>
                        </a:rPr>
                        <a:t>quot</a:t>
                      </a:r>
                      <a:r>
                        <a:rPr lang="en-US" sz="2200" dirty="0">
                          <a:effectLst/>
                          <a:latin typeface="Consolas" panose="020B0609020204030204" pitchFamily="49" charset="0"/>
                          <a:cs typeface="Consolas" panose="020B0609020204030204" pitchFamily="49" charset="0"/>
                        </a:rPr>
                        <a:t>; &amp;amp;</a:t>
                      </a:r>
                    </a:p>
                  </a:txBody>
                  <a:tcPr marL="63500" marR="63500" marT="25400" marB="254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ectangle 5"/>
          <p:cNvSpPr/>
          <p:nvPr/>
        </p:nvSpPr>
        <p:spPr>
          <a:xfrm>
            <a:off x="887216" y="5988501"/>
            <a:ext cx="3991093" cy="430887"/>
          </a:xfrm>
          <a:prstGeom prst="rect">
            <a:avLst/>
          </a:prstGeom>
        </p:spPr>
        <p:txBody>
          <a:bodyPr wrap="none">
            <a:spAutoFit/>
          </a:bodyPr>
          <a:lstStyle/>
          <a:p>
            <a:pPr marL="342900" indent="-342900">
              <a:buFont typeface="Wingdings" panose="05000000000000000000" pitchFamily="2" charset="2"/>
              <a:buChar char="§"/>
            </a:pPr>
            <a:r>
              <a:rPr lang="en-US" sz="2200" dirty="0">
                <a:solidFill>
                  <a:srgbClr val="335177"/>
                </a:solidFill>
                <a:latin typeface="Calibri" panose="020F0502020204030204" pitchFamily="34" charset="0"/>
                <a:hlinkClick r:id="rId2" action="ppaction://hlinkfile"/>
              </a:rPr>
              <a:t>Complete list of HTML entities</a:t>
            </a:r>
            <a:endParaRPr lang="en-US" sz="2200" b="0" i="0" dirty="0">
              <a:solidFill>
                <a:srgbClr val="000000"/>
              </a:solidFill>
              <a:effectLst/>
              <a:latin typeface="Calibri" panose="020F0502020204030204" pitchFamily="34" charset="0"/>
            </a:endParaRPr>
          </a:p>
        </p:txBody>
      </p:sp>
      <p:sp>
        <p:nvSpPr>
          <p:cNvPr id="5" name="Rectangle 4"/>
          <p:cNvSpPr/>
          <p:nvPr/>
        </p:nvSpPr>
        <p:spPr>
          <a:xfrm>
            <a:off x="2491946" y="2169286"/>
            <a:ext cx="6096000" cy="923330"/>
          </a:xfrm>
          <a:prstGeom prst="rect">
            <a:avLst/>
          </a:prstGeom>
        </p:spPr>
        <p:txBody>
          <a:bodyPr>
            <a:spAutoFit/>
          </a:bodyPr>
          <a:lstStyle/>
          <a:p>
            <a:r>
              <a:rPr lang="en-US" b="1" dirty="0"/>
              <a:t>Unicode</a:t>
            </a:r>
            <a:r>
              <a:rPr lang="en-US" dirty="0"/>
              <a:t> is a computing industry standard for the consistent encoding, representation, and handling of text expressed in most of the world's writing systems. </a:t>
            </a:r>
          </a:p>
        </p:txBody>
      </p:sp>
    </p:spTree>
    <p:extLst>
      <p:ext uri="{BB962C8B-B14F-4D97-AF65-F5344CB8AC3E}">
        <p14:creationId xmlns:p14="http://schemas.microsoft.com/office/powerpoint/2010/main" val="38230867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Unicode</a:t>
            </a:r>
            <a:endParaRPr lang="en-GB" dirty="0"/>
          </a:p>
        </p:txBody>
      </p:sp>
      <p:sp>
        <p:nvSpPr>
          <p:cNvPr id="3" name="Content Placeholder 2"/>
          <p:cNvSpPr>
            <a:spLocks noGrp="1"/>
          </p:cNvSpPr>
          <p:nvPr>
            <p:ph idx="1"/>
          </p:nvPr>
        </p:nvSpPr>
        <p:spPr/>
        <p:txBody>
          <a:bodyPr/>
          <a:lstStyle/>
          <a:p>
            <a:r>
              <a:rPr lang="en-US" dirty="0"/>
              <a:t>Unicode is a computing industry standard for the consistent encoding, representation, and handling of text expressed in most of the world's writing systems. </a:t>
            </a:r>
            <a:endParaRPr lang="en-US" dirty="0" smtClean="0"/>
          </a:p>
          <a:p>
            <a:r>
              <a:rPr lang="en-US" dirty="0" smtClean="0"/>
              <a:t>The </a:t>
            </a:r>
            <a:r>
              <a:rPr lang="en-US" dirty="0"/>
              <a:t>standard is maintained by the </a:t>
            </a:r>
            <a:r>
              <a:rPr lang="en-US" b="1" dirty="0"/>
              <a:t>Unicode Consortium</a:t>
            </a:r>
            <a:r>
              <a:rPr lang="en-US" dirty="0"/>
              <a:t>, </a:t>
            </a:r>
            <a:endParaRPr lang="en-US" dirty="0" smtClean="0"/>
          </a:p>
          <a:p>
            <a:r>
              <a:rPr lang="en-US" dirty="0" smtClean="0"/>
              <a:t>As </a:t>
            </a:r>
            <a:r>
              <a:rPr lang="en-US" dirty="0"/>
              <a:t>of June 2018 the most recent version, Unicode 11.0, contains a repertoire of 137,439 characters covering 146 modern and historic scripts, as well as </a:t>
            </a:r>
            <a:r>
              <a:rPr lang="en-US" b="1" dirty="0"/>
              <a:t>multiple symbol sets </a:t>
            </a:r>
            <a:r>
              <a:rPr lang="en-US" dirty="0"/>
              <a:t>and </a:t>
            </a:r>
            <a:r>
              <a:rPr lang="en-US" b="1" dirty="0"/>
              <a:t>emoji</a:t>
            </a:r>
            <a:r>
              <a:rPr lang="en-US" dirty="0"/>
              <a:t>.</a:t>
            </a:r>
            <a:endParaRPr lang="en-GB" dirty="0"/>
          </a:p>
        </p:txBody>
      </p:sp>
    </p:spTree>
    <p:extLst>
      <p:ext uri="{BB962C8B-B14F-4D97-AF65-F5344CB8AC3E}">
        <p14:creationId xmlns:p14="http://schemas.microsoft.com/office/powerpoint/2010/main" val="31566600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Deletions and insertions: &lt;del&gt;, &lt;ins&gt;</a:t>
            </a:r>
          </a:p>
        </p:txBody>
      </p:sp>
      <p:sp>
        <p:nvSpPr>
          <p:cNvPr id="3" name="Content Placeholder 2"/>
          <p:cNvSpPr>
            <a:spLocks noGrp="1"/>
          </p:cNvSpPr>
          <p:nvPr>
            <p:ph idx="1"/>
          </p:nvPr>
        </p:nvSpPr>
        <p:spPr>
          <a:xfrm>
            <a:off x="1097280" y="1737360"/>
            <a:ext cx="10058400" cy="450205"/>
          </a:xfrm>
        </p:spPr>
        <p:txBody>
          <a:bodyPr/>
          <a:lstStyle/>
          <a:p>
            <a:pPr algn="ctr"/>
            <a:r>
              <a:rPr lang="en-US" i="1" dirty="0"/>
              <a:t>content that should be considered deleted or added to the document (inline)</a:t>
            </a:r>
          </a:p>
        </p:txBody>
      </p:sp>
      <p:sp>
        <p:nvSpPr>
          <p:cNvPr id="5" name="Rectangle 2"/>
          <p:cNvSpPr>
            <a:spLocks noChangeArrowheads="1"/>
          </p:cNvSpPr>
          <p:nvPr/>
        </p:nvSpPr>
        <p:spPr bwMode="auto">
          <a:xfrm>
            <a:off x="1097280" y="2735542"/>
            <a:ext cx="10058400" cy="1446550"/>
          </a:xfrm>
          <a:prstGeom prst="rect">
            <a:avLst/>
          </a:prstGeom>
          <a:solidFill>
            <a:srgbClr val="E5F5FF"/>
          </a:solidFill>
          <a:ln w="19050">
            <a:solidFill>
              <a:schemeClr val="tx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a:p>
            <a:pPr marL="0" marR="0" lvl="0" indent="0" algn="l" defTabSz="914400" rtl="0" eaLnBrk="0" fontAlgn="base" latinLnBrk="0" hangingPunct="0">
              <a:lnSpc>
                <a:spcPct val="100000"/>
              </a:lnSpc>
              <a:spcBef>
                <a:spcPct val="0"/>
              </a:spcBef>
              <a:spcAft>
                <a:spcPct val="0"/>
              </a:spcAft>
              <a:buClrTx/>
              <a:buSzTx/>
              <a:buFontTx/>
              <a:buNone/>
              <a:tabLst/>
            </a:pPr>
            <a:r>
              <a:rPr lang="en-US" sz="2200" dirty="0">
                <a:latin typeface="Courier New" panose="02070309020205020404" pitchFamily="49" charset="0"/>
                <a:cs typeface="Courier New" panose="02070309020205020404" pitchFamily="49" charset="0"/>
              </a:rPr>
              <a:t>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&lt;del&gt;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Final Exam</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&lt;/del&gt;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&lt;ins&gt;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Midterm</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&lt;/ins&gt;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is on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&lt;del&gt;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Aug 29</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&lt;/del&gt;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&lt;ins&gt;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Apr 17</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&lt;/ins&gt;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r>
              <a:rPr kumimoji="0" lang="en-US" sz="2200" b="1" i="0" u="none" strike="noStrike" cap="none" normalizeH="0" baseline="0" dirty="0" smtClean="0">
                <a:ln>
                  <a:noFill/>
                </a:ln>
                <a:solidFill>
                  <a:schemeClr val="bg1">
                    <a:lumMod val="65000"/>
                  </a:schemeClr>
                </a:solidFill>
                <a:effectLst/>
                <a:latin typeface="Courier New" panose="02070309020205020404" pitchFamily="49" charset="0"/>
                <a:cs typeface="Courier New" panose="02070309020205020404" pitchFamily="49" charset="0"/>
              </a:rPr>
              <a:t>HTML</a:t>
            </a:r>
          </a:p>
        </p:txBody>
      </p:sp>
      <p:sp>
        <p:nvSpPr>
          <p:cNvPr id="6" name="Rectangle 3"/>
          <p:cNvSpPr>
            <a:spLocks noChangeArrowheads="1"/>
          </p:cNvSpPr>
          <p:nvPr/>
        </p:nvSpPr>
        <p:spPr bwMode="auto">
          <a:xfrm>
            <a:off x="1097280" y="4182092"/>
            <a:ext cx="10058400" cy="43088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sngStrike" cap="none" normalizeH="0" baseline="0" dirty="0" smtClean="0">
                <a:ln>
                  <a:noFill/>
                </a:ln>
                <a:solidFill>
                  <a:srgbClr val="FF0000"/>
                </a:solidFill>
                <a:effectLst/>
                <a:latin typeface="Arial" panose="020B0604020202020204" pitchFamily="34" charset="0"/>
              </a:rPr>
              <a:t>Final Exam </a:t>
            </a:r>
            <a:r>
              <a:rPr kumimoji="0" lang="en-US" sz="2200" b="0" i="0" u="none" strike="noStrike" cap="none" normalizeH="0" baseline="0" dirty="0" smtClean="0">
                <a:ln>
                  <a:noFill/>
                </a:ln>
                <a:solidFill>
                  <a:srgbClr val="00B050"/>
                </a:solidFill>
                <a:effectLst/>
                <a:latin typeface="Arial" panose="020B0604020202020204" pitchFamily="34" charset="0"/>
              </a:rPr>
              <a:t>Midterm</a:t>
            </a:r>
            <a:r>
              <a:rPr kumimoji="0" lang="en-US" sz="2200" b="0" i="0" u="none" strike="noStrike" cap="none" normalizeH="0" baseline="0" dirty="0" smtClean="0">
                <a:ln>
                  <a:noFill/>
                </a:ln>
                <a:solidFill>
                  <a:schemeClr val="tx1"/>
                </a:solidFill>
                <a:effectLst/>
                <a:latin typeface="Arial" panose="020B0604020202020204" pitchFamily="34" charset="0"/>
              </a:rPr>
              <a:t> is on </a:t>
            </a:r>
            <a:r>
              <a:rPr kumimoji="0" lang="en-US" sz="2200" b="0" i="0" u="none" strike="sngStrike" cap="none" normalizeH="0" baseline="0" dirty="0" smtClean="0">
                <a:ln>
                  <a:noFill/>
                </a:ln>
                <a:solidFill>
                  <a:srgbClr val="FF0000"/>
                </a:solidFill>
                <a:effectLst/>
                <a:latin typeface="Arial" panose="020B0604020202020204" pitchFamily="34" charset="0"/>
              </a:rPr>
              <a:t>Aug 29 </a:t>
            </a:r>
            <a:r>
              <a:rPr kumimoji="0" lang="en-US" sz="2200" b="0" i="0" u="none" strike="noStrike" cap="none" normalizeH="0" baseline="0" dirty="0" smtClean="0">
                <a:ln>
                  <a:noFill/>
                </a:ln>
                <a:solidFill>
                  <a:srgbClr val="00B050"/>
                </a:solidFill>
                <a:effectLst/>
                <a:latin typeface="Arial" panose="020B0604020202020204" pitchFamily="34" charset="0"/>
              </a:rPr>
              <a:t>Apr 17</a:t>
            </a:r>
            <a:r>
              <a:rPr kumimoji="0" lang="en-US" sz="2200" b="0" i="0" u="none" strike="noStrike" cap="none" normalizeH="0" baseline="0" dirty="0" smtClean="0">
                <a:ln>
                  <a:noFill/>
                </a:ln>
                <a:solidFill>
                  <a:schemeClr val="tx1"/>
                </a:solidFill>
                <a:effectLst/>
                <a:latin typeface="Arial" panose="020B0604020202020204" pitchFamily="34" charset="0"/>
              </a:rPr>
              <a:t>.                                                  </a:t>
            </a:r>
            <a:r>
              <a:rPr kumimoji="0" lang="en-US" sz="2200" b="1" i="0" u="none" strike="noStrike" cap="none" normalizeH="0" baseline="0" dirty="0" smtClean="0">
                <a:ln>
                  <a:noFill/>
                </a:ln>
                <a:solidFill>
                  <a:schemeClr val="bg1">
                    <a:lumMod val="65000"/>
                  </a:schemeClr>
                </a:solidFill>
                <a:effectLst/>
                <a:latin typeface="Arial" panose="020B0604020202020204" pitchFamily="34" charset="0"/>
              </a:rPr>
              <a:t>output</a:t>
            </a:r>
            <a:r>
              <a:rPr kumimoji="0" lang="en-US" sz="22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847216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Abbreviations: &lt;</a:t>
            </a:r>
            <a:r>
              <a:rPr lang="en-US" b="1" dirty="0" err="1"/>
              <a:t>abbr</a:t>
            </a:r>
            <a:r>
              <a:rPr lang="en-US" b="1" dirty="0"/>
              <a:t>&gt;</a:t>
            </a:r>
          </a:p>
        </p:txBody>
      </p:sp>
      <p:sp>
        <p:nvSpPr>
          <p:cNvPr id="3" name="Content Placeholder 2"/>
          <p:cNvSpPr>
            <a:spLocks noGrp="1"/>
          </p:cNvSpPr>
          <p:nvPr>
            <p:ph idx="1"/>
          </p:nvPr>
        </p:nvSpPr>
        <p:spPr>
          <a:xfrm>
            <a:off x="1097280" y="1845734"/>
            <a:ext cx="10058400" cy="589353"/>
          </a:xfrm>
        </p:spPr>
        <p:txBody>
          <a:bodyPr/>
          <a:lstStyle/>
          <a:p>
            <a:pPr algn="ctr"/>
            <a:r>
              <a:rPr lang="en-US" i="1" dirty="0"/>
              <a:t>an abbreviation, acronym, or slang term (inline)</a:t>
            </a:r>
          </a:p>
        </p:txBody>
      </p:sp>
      <p:sp>
        <p:nvSpPr>
          <p:cNvPr id="4" name="Rectangle 1"/>
          <p:cNvSpPr>
            <a:spLocks noChangeArrowheads="1"/>
          </p:cNvSpPr>
          <p:nvPr/>
        </p:nvSpPr>
        <p:spPr bwMode="auto">
          <a:xfrm>
            <a:off x="1097280" y="2435087"/>
            <a:ext cx="10058400" cy="1785104"/>
          </a:xfrm>
          <a:prstGeom prst="rect">
            <a:avLst/>
          </a:prstGeom>
          <a:solidFill>
            <a:srgbClr val="E5F5FF"/>
          </a:solidFill>
          <a:ln w="19050">
            <a:solidFill>
              <a:schemeClr val="tx1"/>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a:p>
            <a:pPr marL="0" marR="0" lvl="0" indent="0" algn="l" defTabSz="914400" rtl="0" eaLnBrk="0" fontAlgn="base" latinLnBrk="0" hangingPunct="0">
              <a:lnSpc>
                <a:spcPct val="100000"/>
              </a:lnSpc>
              <a:spcBef>
                <a:spcPct val="0"/>
              </a:spcBef>
              <a:spcAft>
                <a:spcPct val="0"/>
              </a:spcAft>
              <a:buClrTx/>
              <a:buSzTx/>
              <a:buFontTx/>
              <a:buNone/>
              <a:tabLst/>
            </a:pPr>
            <a:r>
              <a:rPr lang="en-US" sz="2200" dirty="0">
                <a:latin typeface="Courier New" panose="02070309020205020404" pitchFamily="49" charset="0"/>
                <a:cs typeface="Courier New" panose="02070309020205020404" pitchFamily="49" charset="0"/>
              </a:rPr>
              <a:t>	</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Safe divers always remember to check their </a:t>
            </a:r>
          </a:p>
          <a:p>
            <a:pPr marL="0" marR="0" lvl="0" indent="0" algn="l" defTabSz="914400" rtl="0" eaLnBrk="0" fontAlgn="base" latinLnBrk="0" hangingPunct="0">
              <a:lnSpc>
                <a:spcPct val="100000"/>
              </a:lnSpc>
              <a:spcBef>
                <a:spcPct val="0"/>
              </a:spcBef>
              <a:spcAft>
                <a:spcPct val="0"/>
              </a:spcAft>
              <a:buClrTx/>
              <a:buSzTx/>
              <a:buFontTx/>
              <a:buNone/>
              <a:tabLst/>
            </a:pPr>
            <a:r>
              <a:rPr lang="en-US" sz="2200" dirty="0">
                <a:latin typeface="Courier New" panose="02070309020205020404" pitchFamily="49" charset="0"/>
                <a:cs typeface="Courier New" panose="02070309020205020404" pitchFamily="49" charset="0"/>
              </a:rPr>
              <a:t>	</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22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abbr</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title="Self-Contained Underwater Breathing 	Apparatus"&gt;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SCUBA</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22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abbr</a:t>
            </a:r>
            <a:r>
              <a:rPr kumimoji="0" lang="en-US" sz="22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gear.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r>
              <a:rPr kumimoji="0" lang="en-US" sz="2200" b="1" i="0" u="none" strike="noStrike" cap="none" normalizeH="0" baseline="0" dirty="0" smtClean="0">
                <a:ln>
                  <a:noFill/>
                </a:ln>
                <a:solidFill>
                  <a:schemeClr val="bg1">
                    <a:lumMod val="65000"/>
                  </a:schemeClr>
                </a:solidFill>
                <a:effectLst/>
                <a:latin typeface="Courier New" panose="02070309020205020404" pitchFamily="49" charset="0"/>
                <a:cs typeface="Courier New" panose="02070309020205020404" pitchFamily="49" charset="0"/>
              </a:rPr>
              <a:t>HTML</a:t>
            </a:r>
          </a:p>
        </p:txBody>
      </p:sp>
      <p:sp>
        <p:nvSpPr>
          <p:cNvPr id="5" name="Rectangle 2"/>
          <p:cNvSpPr>
            <a:spLocks noChangeArrowheads="1"/>
          </p:cNvSpPr>
          <p:nvPr/>
        </p:nvSpPr>
        <p:spPr bwMode="auto">
          <a:xfrm>
            <a:off x="1097280" y="4220191"/>
            <a:ext cx="10058400" cy="430887"/>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200" b="0" i="0" u="none" strike="noStrike" cap="none" normalizeH="0" baseline="0" dirty="0" smtClean="0">
                <a:ln>
                  <a:noFill/>
                </a:ln>
                <a:solidFill>
                  <a:schemeClr val="tx1"/>
                </a:solidFill>
                <a:effectLst/>
                <a:latin typeface="Arial" panose="020B0604020202020204" pitchFamily="34" charset="0"/>
              </a:rPr>
              <a:t>Safe divers always remember to check their </a:t>
            </a:r>
            <a:r>
              <a:rPr kumimoji="0" lang="en-US" sz="2200" b="0" i="0" strike="noStrike" cap="none" normalizeH="0" baseline="0" dirty="0" smtClean="0">
                <a:ln>
                  <a:noFill/>
                </a:ln>
                <a:solidFill>
                  <a:schemeClr val="tx1"/>
                </a:solidFill>
                <a:effectLst/>
                <a:latin typeface="Arial" panose="020B0604020202020204" pitchFamily="34" charset="0"/>
              </a:rPr>
              <a:t>SCUBA</a:t>
            </a:r>
            <a:r>
              <a:rPr kumimoji="0" lang="en-US" sz="2200" b="0" i="0" u="none" strike="noStrike" cap="none" normalizeH="0" baseline="0" dirty="0" smtClean="0">
                <a:ln>
                  <a:noFill/>
                </a:ln>
                <a:solidFill>
                  <a:schemeClr val="tx1"/>
                </a:solidFill>
                <a:effectLst/>
                <a:latin typeface="Arial" panose="020B0604020202020204" pitchFamily="34" charset="0"/>
              </a:rPr>
              <a:t> gear.                       </a:t>
            </a:r>
            <a:r>
              <a:rPr kumimoji="0" lang="en-US" sz="2200" b="1" i="0" u="none" strike="noStrike" cap="none" normalizeH="0" baseline="0" dirty="0" smtClean="0">
                <a:ln>
                  <a:noFill/>
                </a:ln>
                <a:solidFill>
                  <a:schemeClr val="bg1">
                    <a:lumMod val="65000"/>
                  </a:schemeClr>
                </a:solidFill>
                <a:effectLst/>
                <a:latin typeface="Arial" panose="020B0604020202020204" pitchFamily="34" charset="0"/>
              </a:rPr>
              <a:t>output </a:t>
            </a:r>
          </a:p>
        </p:txBody>
      </p:sp>
      <p:sp>
        <p:nvSpPr>
          <p:cNvPr id="6" name="TextBox 5"/>
          <p:cNvSpPr txBox="1"/>
          <p:nvPr/>
        </p:nvSpPr>
        <p:spPr>
          <a:xfrm>
            <a:off x="1097280" y="4897299"/>
            <a:ext cx="9943106" cy="110799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200" dirty="0" smtClean="0"/>
              <a:t>The title will appear when the abbreviated word is hovered over</a:t>
            </a:r>
          </a:p>
          <a:p>
            <a:pPr marL="285750" indent="-285750">
              <a:lnSpc>
                <a:spcPct val="150000"/>
              </a:lnSpc>
              <a:buFont typeface="Arial" panose="020B0604020202020204" pitchFamily="34" charset="0"/>
              <a:buChar char="•"/>
            </a:pPr>
            <a:r>
              <a:rPr lang="en-US" sz="2200" dirty="0" smtClean="0"/>
              <a:t>In some browsers the abbreviated word will have a dashed underline</a:t>
            </a:r>
            <a:endParaRPr lang="en-US" sz="2200" dirty="0"/>
          </a:p>
        </p:txBody>
      </p:sp>
    </p:spTree>
    <p:extLst>
      <p:ext uri="{BB962C8B-B14F-4D97-AF65-F5344CB8AC3E}">
        <p14:creationId xmlns:p14="http://schemas.microsoft.com/office/powerpoint/2010/main" val="136231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Phrase elements </a:t>
            </a:r>
            <a:r>
              <a:rPr lang="en-US" b="1" dirty="0"/>
              <a:t>: </a:t>
            </a:r>
            <a:r>
              <a:rPr lang="en-US" b="1" dirty="0">
                <a:solidFill>
                  <a:srgbClr val="84B93F"/>
                </a:solidFill>
              </a:rPr>
              <a:t>&lt;</a:t>
            </a:r>
            <a:r>
              <a:rPr lang="en-US" b="1" dirty="0" err="1">
                <a:solidFill>
                  <a:srgbClr val="84B93F"/>
                </a:solidFill>
              </a:rPr>
              <a:t>em</a:t>
            </a:r>
            <a:r>
              <a:rPr lang="en-US" b="1" dirty="0">
                <a:solidFill>
                  <a:srgbClr val="84B93F"/>
                </a:solidFill>
              </a:rPr>
              <a:t>&gt;</a:t>
            </a:r>
            <a:r>
              <a:rPr lang="en-US" b="1" dirty="0"/>
              <a:t>, </a:t>
            </a:r>
            <a:r>
              <a:rPr lang="en-US" b="1" dirty="0">
                <a:solidFill>
                  <a:srgbClr val="84B93F"/>
                </a:solidFill>
              </a:rPr>
              <a:t>&lt;strong&gt;</a:t>
            </a:r>
          </a:p>
        </p:txBody>
      </p:sp>
      <p:sp>
        <p:nvSpPr>
          <p:cNvPr id="3" name="Content Placeholder 2"/>
          <p:cNvSpPr>
            <a:spLocks noGrp="1"/>
          </p:cNvSpPr>
          <p:nvPr>
            <p:ph idx="1"/>
          </p:nvPr>
        </p:nvSpPr>
        <p:spPr/>
        <p:txBody>
          <a:bodyPr>
            <a:normAutofit/>
          </a:bodyPr>
          <a:lstStyle/>
          <a:p>
            <a:pPr algn="ctr">
              <a:spcBef>
                <a:spcPts val="200"/>
              </a:spcBef>
            </a:pPr>
            <a:r>
              <a:rPr lang="en-US" i="1" dirty="0" smtClean="0"/>
              <a:t> </a:t>
            </a:r>
            <a:r>
              <a:rPr lang="en-US" i="1" dirty="0" err="1" smtClean="0"/>
              <a:t>em</a:t>
            </a:r>
            <a:r>
              <a:rPr lang="en-US" i="1" dirty="0" smtClean="0"/>
              <a:t>: emphasized text (usually rendered in italic)</a:t>
            </a:r>
          </a:p>
          <a:p>
            <a:pPr algn="ctr">
              <a:spcBef>
                <a:spcPts val="200"/>
              </a:spcBef>
            </a:pPr>
            <a:r>
              <a:rPr lang="en-US" i="1" dirty="0" smtClean="0"/>
              <a:t>strong: strongly emphasized text (usually rendered in bold)</a:t>
            </a:r>
          </a:p>
          <a:p>
            <a:pPr>
              <a:spcBef>
                <a:spcPts val="200"/>
              </a:spcBef>
            </a:pPr>
            <a:endParaRPr lang="en-US" dirty="0" smtClean="0"/>
          </a:p>
          <a:p>
            <a:pPr>
              <a:spcBef>
                <a:spcPts val="200"/>
              </a:spcBef>
            </a:pPr>
            <a:r>
              <a:rPr lang="en-US" dirty="0" smtClean="0">
                <a:latin typeface="Courier New" panose="02070309020205020404" pitchFamily="49" charset="0"/>
                <a:cs typeface="Courier New" panose="02070309020205020404" pitchFamily="49" charset="0"/>
              </a:rPr>
              <a:t>&lt;p&gt;</a:t>
            </a:r>
          </a:p>
          <a:p>
            <a:pPr>
              <a:spcBef>
                <a:spcPts val="200"/>
              </a:spcBef>
            </a:pPr>
            <a:r>
              <a:rPr lang="en-US" dirty="0" smtClean="0">
                <a:latin typeface="Courier New" panose="02070309020205020404" pitchFamily="49" charset="0"/>
                <a:cs typeface="Courier New" panose="02070309020205020404" pitchFamily="49" charset="0"/>
              </a:rPr>
              <a:t>  HTML is &lt;</a:t>
            </a:r>
            <a:r>
              <a:rPr lang="en-US" dirty="0" err="1" smtClean="0">
                <a:latin typeface="Courier New" panose="02070309020205020404" pitchFamily="49" charset="0"/>
                <a:cs typeface="Courier New" panose="02070309020205020404" pitchFamily="49" charset="0"/>
              </a:rPr>
              <a:t>em</a:t>
            </a:r>
            <a:r>
              <a:rPr lang="en-US" dirty="0" smtClean="0">
                <a:latin typeface="Courier New" panose="02070309020205020404" pitchFamily="49" charset="0"/>
                <a:cs typeface="Courier New" panose="02070309020205020404" pitchFamily="49" charset="0"/>
              </a:rPr>
              <a:t>&gt;really&lt;/</a:t>
            </a:r>
            <a:r>
              <a:rPr lang="en-US" dirty="0" err="1" smtClean="0">
                <a:latin typeface="Courier New" panose="02070309020205020404" pitchFamily="49" charset="0"/>
                <a:cs typeface="Courier New" panose="02070309020205020404" pitchFamily="49" charset="0"/>
              </a:rPr>
              <a:t>em</a:t>
            </a:r>
            <a:r>
              <a:rPr lang="en-US" dirty="0" smtClean="0">
                <a:latin typeface="Courier New" panose="02070309020205020404" pitchFamily="49" charset="0"/>
                <a:cs typeface="Courier New" panose="02070309020205020404" pitchFamily="49" charset="0"/>
              </a:rPr>
              <a:t>&gt;,</a:t>
            </a:r>
          </a:p>
          <a:p>
            <a:pPr>
              <a:spcBef>
                <a:spcPts val="200"/>
              </a:spcBef>
            </a:pPr>
            <a:r>
              <a:rPr lang="en-US" dirty="0" smtClean="0">
                <a:latin typeface="Courier New" panose="02070309020205020404" pitchFamily="49" charset="0"/>
                <a:cs typeface="Courier New" panose="02070309020205020404" pitchFamily="49" charset="0"/>
              </a:rPr>
              <a:t>  &lt;strong&gt;REALLY&lt;/strong&gt; fun!</a:t>
            </a:r>
          </a:p>
          <a:p>
            <a:pPr>
              <a:spcBef>
                <a:spcPts val="200"/>
              </a:spcBef>
            </a:pPr>
            <a:r>
              <a:rPr lang="en-US" dirty="0" smtClean="0">
                <a:latin typeface="Courier New" panose="02070309020205020404" pitchFamily="49" charset="0"/>
                <a:cs typeface="Courier New" panose="02070309020205020404" pitchFamily="49" charset="0"/>
              </a:rPr>
              <a:t>&lt;/p&gt;</a:t>
            </a:r>
          </a:p>
          <a:p>
            <a:pPr>
              <a:spcBef>
                <a:spcPts val="200"/>
              </a:spcBef>
            </a:pPr>
            <a:endParaRPr lang="en-US" dirty="0" smtClean="0"/>
          </a:p>
          <a:p>
            <a:pPr>
              <a:spcBef>
                <a:spcPts val="200"/>
              </a:spcBef>
            </a:pPr>
            <a:r>
              <a:rPr lang="en-US" dirty="0" smtClean="0"/>
              <a:t>HTML is </a:t>
            </a:r>
            <a:r>
              <a:rPr lang="en-US" i="1" dirty="0" smtClean="0"/>
              <a:t>really</a:t>
            </a:r>
            <a:r>
              <a:rPr lang="en-US" dirty="0" smtClean="0"/>
              <a:t>, </a:t>
            </a:r>
            <a:r>
              <a:rPr lang="en-US" b="1" dirty="0" smtClean="0"/>
              <a:t>REALLY</a:t>
            </a:r>
            <a:r>
              <a:rPr lang="en-US" dirty="0" smtClean="0"/>
              <a:t> fun!</a:t>
            </a:r>
          </a:p>
          <a:p>
            <a:pPr>
              <a:spcBef>
                <a:spcPts val="200"/>
              </a:spcBef>
            </a:pPr>
            <a:endParaRPr lang="en-US" dirty="0" smtClean="0"/>
          </a:p>
          <a:p>
            <a:pPr>
              <a:spcBef>
                <a:spcPts val="200"/>
              </a:spcBef>
              <a:buFont typeface="Arial" panose="020B0604020202020204" pitchFamily="34" charset="0"/>
              <a:buChar char="•"/>
            </a:pPr>
            <a:r>
              <a:rPr lang="en-US" dirty="0" smtClean="0"/>
              <a:t>    as usual, the tags must be properly nested for a valid page</a:t>
            </a:r>
          </a:p>
          <a:p>
            <a:endParaRPr lang="en-US" dirty="0"/>
          </a:p>
        </p:txBody>
      </p:sp>
    </p:spTree>
    <p:extLst>
      <p:ext uri="{BB962C8B-B14F-4D97-AF65-F5344CB8AC3E}">
        <p14:creationId xmlns:p14="http://schemas.microsoft.com/office/powerpoint/2010/main" val="2343241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Nesting </a:t>
            </a:r>
            <a:r>
              <a:rPr lang="en-US" b="1" dirty="0" smtClean="0"/>
              <a:t>tags</a:t>
            </a:r>
            <a:endParaRPr lang="en-US" dirty="0"/>
          </a:p>
        </p:txBody>
      </p:sp>
      <p:sp>
        <p:nvSpPr>
          <p:cNvPr id="4" name="Rectangle 1"/>
          <p:cNvSpPr>
            <a:spLocks noGrp="1" noChangeArrowheads="1"/>
          </p:cNvSpPr>
          <p:nvPr>
            <p:ph idx="1"/>
          </p:nvPr>
        </p:nvSpPr>
        <p:spPr bwMode="auto">
          <a:xfrm>
            <a:off x="1097280" y="1830193"/>
            <a:ext cx="88505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solidFill>
                  <a:schemeClr val="tx1"/>
                </a:solidFill>
                <a:latin typeface="Courier New" panose="02070309020205020404" pitchFamily="49" charset="0"/>
                <a:cs typeface="Courier New" panose="02070309020205020404" pitchFamily="49" charset="0"/>
              </a:rPr>
              <a:t>	</a:t>
            </a: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HTML is &lt;</a:t>
            </a:r>
            <a:r>
              <a:rPr kumimoji="0" lang="en-US" sz="2400" b="0" i="0"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em</a:t>
            </a: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&gt;really, </a:t>
            </a:r>
          </a:p>
          <a:p>
            <a:pPr marL="0" marR="0" lvl="0" indent="0" algn="l" defTabSz="914400" rtl="0" eaLnBrk="0" fontAlgn="base" latinLnBrk="0" hangingPunct="0">
              <a:lnSpc>
                <a:spcPct val="100000"/>
              </a:lnSpc>
              <a:spcBef>
                <a:spcPct val="0"/>
              </a:spcBef>
              <a:spcAft>
                <a:spcPct val="0"/>
              </a:spcAft>
              <a:buClrTx/>
              <a:buSzTx/>
              <a:buFontTx/>
              <a:buNone/>
              <a:tabLst/>
            </a:pPr>
            <a:r>
              <a:rPr lang="en-US" sz="2400" dirty="0">
                <a:solidFill>
                  <a:schemeClr val="tx1"/>
                </a:solidFill>
                <a:latin typeface="Courier New" panose="02070309020205020404" pitchFamily="49" charset="0"/>
                <a:cs typeface="Courier New" panose="02070309020205020404" pitchFamily="49" charset="0"/>
              </a:rPr>
              <a:t>	</a:t>
            </a: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&lt;strong&gt;REALLY</a:t>
            </a:r>
            <a:r>
              <a:rPr kumimoji="0" lang="en-US" sz="24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24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em</a:t>
            </a:r>
            <a:r>
              <a:rPr kumimoji="0" lang="en-US" sz="24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a:t>
            </a: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lots of&lt;/strong&gt; fun!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p:txBody>
      </p:sp>
      <p:sp>
        <p:nvSpPr>
          <p:cNvPr id="7" name="Rectangle 6"/>
          <p:cNvSpPr/>
          <p:nvPr/>
        </p:nvSpPr>
        <p:spPr>
          <a:xfrm>
            <a:off x="1097280" y="3450580"/>
            <a:ext cx="9875520" cy="2677656"/>
          </a:xfrm>
          <a:prstGeom prst="rect">
            <a:avLst/>
          </a:prstGeom>
        </p:spPr>
        <p:txBody>
          <a:bodyPr wrap="square">
            <a:spAutoFit/>
          </a:bodyPr>
          <a:lstStyle/>
          <a:p>
            <a:pPr>
              <a:lnSpc>
                <a:spcPct val="150000"/>
              </a:lnSpc>
              <a:buFont typeface="Arial" panose="020B0604020202020204" pitchFamily="34" charset="0"/>
              <a:buChar char="•"/>
            </a:pPr>
            <a:r>
              <a:rPr lang="en-US" sz="2800" dirty="0" smtClean="0"/>
              <a:t> tags </a:t>
            </a:r>
            <a:r>
              <a:rPr lang="en-US" sz="2800" dirty="0"/>
              <a:t>must be correctly nested </a:t>
            </a:r>
          </a:p>
          <a:p>
            <a:pPr marL="742950" lvl="1" indent="-285750">
              <a:lnSpc>
                <a:spcPct val="150000"/>
              </a:lnSpc>
              <a:buFont typeface="Arial" panose="020B0604020202020204" pitchFamily="34" charset="0"/>
              <a:buChar char="•"/>
            </a:pPr>
            <a:r>
              <a:rPr lang="en-US" sz="2800" dirty="0"/>
              <a:t>(a closing tag must match the most recently opened tag)</a:t>
            </a:r>
          </a:p>
          <a:p>
            <a:pPr>
              <a:lnSpc>
                <a:spcPct val="150000"/>
              </a:lnSpc>
              <a:buFont typeface="Arial" panose="020B0604020202020204" pitchFamily="34" charset="0"/>
              <a:buChar char="•"/>
            </a:pPr>
            <a:r>
              <a:rPr lang="en-US" sz="2800" dirty="0" smtClean="0"/>
              <a:t> the </a:t>
            </a:r>
            <a:r>
              <a:rPr lang="en-US" sz="2800" dirty="0"/>
              <a:t>browser may render it correctly anyway, but it is invalid HTML </a:t>
            </a:r>
          </a:p>
          <a:p>
            <a:pPr marL="742950" lvl="1" indent="-285750">
              <a:lnSpc>
                <a:spcPct val="150000"/>
              </a:lnSpc>
              <a:buFont typeface="Arial" panose="020B0604020202020204" pitchFamily="34" charset="0"/>
              <a:buChar char="•"/>
            </a:pPr>
            <a:r>
              <a:rPr lang="en-US" sz="2800" dirty="0"/>
              <a:t>(how would we get the above effect in a valid way?) </a:t>
            </a:r>
          </a:p>
        </p:txBody>
      </p:sp>
    </p:spTree>
    <p:extLst>
      <p:ext uri="{BB962C8B-B14F-4D97-AF65-F5344CB8AC3E}">
        <p14:creationId xmlns:p14="http://schemas.microsoft.com/office/powerpoint/2010/main" val="5907720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Images: </a:t>
            </a:r>
            <a:r>
              <a:rPr lang="en-US" b="1" dirty="0">
                <a:solidFill>
                  <a:srgbClr val="84B93F"/>
                </a:solidFill>
              </a:rPr>
              <a:t>&lt;</a:t>
            </a:r>
            <a:r>
              <a:rPr lang="en-US" b="1" dirty="0" err="1">
                <a:solidFill>
                  <a:srgbClr val="84B93F"/>
                </a:solidFill>
              </a:rPr>
              <a:t>img</a:t>
            </a:r>
            <a:r>
              <a:rPr lang="en-US" b="1" dirty="0">
                <a:solidFill>
                  <a:srgbClr val="84B93F"/>
                </a:solidFill>
              </a:rPr>
              <a:t>&gt;</a:t>
            </a:r>
          </a:p>
        </p:txBody>
      </p:sp>
      <p:sp>
        <p:nvSpPr>
          <p:cNvPr id="3" name="Content Placeholder 2"/>
          <p:cNvSpPr>
            <a:spLocks noGrp="1"/>
          </p:cNvSpPr>
          <p:nvPr>
            <p:ph idx="1"/>
          </p:nvPr>
        </p:nvSpPr>
        <p:spPr>
          <a:xfrm>
            <a:off x="1097280" y="1845734"/>
            <a:ext cx="10058400" cy="4783666"/>
          </a:xfrm>
        </p:spPr>
        <p:txBody>
          <a:bodyPr/>
          <a:lstStyle/>
          <a:p>
            <a:pPr algn="ctr"/>
            <a:r>
              <a:rPr lang="en-US" sz="2200" i="1" dirty="0"/>
              <a:t>inserts a graphical image into the page (inline</a:t>
            </a:r>
            <a:r>
              <a:rPr lang="en-US" sz="2200" i="1" dirty="0" smtClean="0"/>
              <a:t>)</a:t>
            </a:r>
            <a:endParaRPr lang="en-US" sz="2200" dirty="0"/>
          </a:p>
          <a:p>
            <a:r>
              <a:rPr lang="en-US" sz="2100" dirty="0">
                <a:latin typeface="Courier New" panose="02070309020205020404" pitchFamily="49" charset="0"/>
                <a:cs typeface="Courier New" panose="02070309020205020404" pitchFamily="49" charset="0"/>
              </a:rPr>
              <a:t>&lt;</a:t>
            </a:r>
            <a:r>
              <a:rPr lang="en-US" sz="2100" dirty="0" err="1">
                <a:latin typeface="Courier New" panose="02070309020205020404" pitchFamily="49" charset="0"/>
                <a:cs typeface="Courier New" panose="02070309020205020404" pitchFamily="49" charset="0"/>
              </a:rPr>
              <a:t>img</a:t>
            </a:r>
            <a:r>
              <a:rPr lang="en-US" sz="2100" dirty="0">
                <a:latin typeface="Courier New" panose="02070309020205020404" pitchFamily="49" charset="0"/>
                <a:cs typeface="Courier New" panose="02070309020205020404" pitchFamily="49" charset="0"/>
              </a:rPr>
              <a:t> </a:t>
            </a:r>
            <a:r>
              <a:rPr lang="en-US" sz="2100" dirty="0" err="1">
                <a:latin typeface="Courier New" panose="02070309020205020404" pitchFamily="49" charset="0"/>
                <a:cs typeface="Courier New" panose="02070309020205020404" pitchFamily="49" charset="0"/>
              </a:rPr>
              <a:t>src</a:t>
            </a:r>
            <a:r>
              <a:rPr lang="en-US" sz="2100" dirty="0">
                <a:latin typeface="Courier New" panose="02070309020205020404" pitchFamily="49" charset="0"/>
                <a:cs typeface="Courier New" panose="02070309020205020404" pitchFamily="49" charset="0"/>
              </a:rPr>
              <a:t>="images/koalafications.jpg" alt="</a:t>
            </a:r>
            <a:r>
              <a:rPr lang="en-US" sz="2100" dirty="0" err="1">
                <a:latin typeface="Courier New" panose="02070309020205020404" pitchFamily="49" charset="0"/>
                <a:cs typeface="Courier New" panose="02070309020205020404" pitchFamily="49" charset="0"/>
              </a:rPr>
              <a:t>Koalified</a:t>
            </a:r>
            <a:r>
              <a:rPr lang="en-US" sz="2100" dirty="0">
                <a:latin typeface="Courier New" panose="02070309020205020404" pitchFamily="49" charset="0"/>
                <a:cs typeface="Courier New" panose="02070309020205020404" pitchFamily="49" charset="0"/>
              </a:rPr>
              <a:t> koala" /&gt;</a:t>
            </a:r>
          </a:p>
          <a:p>
            <a:endParaRPr lang="en-US" sz="2200" dirty="0"/>
          </a:p>
          <a:p>
            <a:endParaRPr lang="en-US" sz="2200" dirty="0" smtClean="0"/>
          </a:p>
          <a:p>
            <a:endParaRPr lang="en-US" sz="2200" dirty="0"/>
          </a:p>
          <a:p>
            <a:endParaRPr lang="en-US" sz="2200" dirty="0" smtClean="0"/>
          </a:p>
          <a:p>
            <a:endParaRPr lang="en-US" sz="2200" dirty="0"/>
          </a:p>
          <a:p>
            <a:pPr>
              <a:buFont typeface="Arial" panose="020B0604020202020204" pitchFamily="34" charset="0"/>
              <a:buChar char="•"/>
            </a:pPr>
            <a:r>
              <a:rPr lang="en-US" sz="2200" dirty="0"/>
              <a:t>    the </a:t>
            </a:r>
            <a:r>
              <a:rPr lang="en-US" sz="2200" dirty="0" err="1"/>
              <a:t>src</a:t>
            </a:r>
            <a:r>
              <a:rPr lang="en-US" sz="2200" dirty="0"/>
              <a:t> attribute specifies the image URL</a:t>
            </a:r>
          </a:p>
          <a:p>
            <a:pPr>
              <a:buFont typeface="Arial" panose="020B0604020202020204" pitchFamily="34" charset="0"/>
              <a:buChar char="•"/>
            </a:pPr>
            <a:r>
              <a:rPr lang="en-US" sz="2200" dirty="0"/>
              <a:t>    HTML5 also requires an alt attribute describing the image</a:t>
            </a:r>
          </a:p>
          <a:p>
            <a:endParaRPr lang="en-US" dirty="0"/>
          </a:p>
        </p:txBody>
      </p:sp>
      <p:pic>
        <p:nvPicPr>
          <p:cNvPr id="6146" name="Picture 2" descr="Koalified koa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2798049"/>
            <a:ext cx="19335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0044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Comments: </a:t>
            </a:r>
            <a:r>
              <a:rPr lang="en-US" b="1" dirty="0">
                <a:solidFill>
                  <a:srgbClr val="84B93F"/>
                </a:solidFill>
              </a:rPr>
              <a:t>&lt;!-- ... --&gt;</a:t>
            </a:r>
          </a:p>
        </p:txBody>
      </p:sp>
      <p:sp>
        <p:nvSpPr>
          <p:cNvPr id="3" name="Content Placeholder 2"/>
          <p:cNvSpPr>
            <a:spLocks noGrp="1"/>
          </p:cNvSpPr>
          <p:nvPr>
            <p:ph idx="1"/>
          </p:nvPr>
        </p:nvSpPr>
        <p:spPr>
          <a:xfrm>
            <a:off x="1097280" y="1845733"/>
            <a:ext cx="10058400" cy="4793605"/>
          </a:xfrm>
        </p:spPr>
        <p:txBody>
          <a:bodyPr>
            <a:normAutofit/>
          </a:bodyPr>
          <a:lstStyle/>
          <a:p>
            <a:pPr algn="ctr">
              <a:spcBef>
                <a:spcPts val="200"/>
              </a:spcBef>
            </a:pPr>
            <a:r>
              <a:rPr lang="en-US" sz="2200" i="1" dirty="0" smtClean="0"/>
              <a:t>comments to document your HTML file or "comment out" text</a:t>
            </a:r>
          </a:p>
          <a:p>
            <a:pPr>
              <a:spcBef>
                <a:spcPts val="200"/>
              </a:spcBef>
            </a:pPr>
            <a:endParaRPr lang="en-US" sz="2200" dirty="0" smtClean="0"/>
          </a:p>
          <a:p>
            <a:pPr>
              <a:spcBef>
                <a:spcPts val="200"/>
              </a:spcBef>
            </a:pPr>
            <a:r>
              <a:rPr lang="en-US" sz="2200" dirty="0" smtClean="0">
                <a:latin typeface="Courier New" panose="02070309020205020404" pitchFamily="49" charset="0"/>
                <a:cs typeface="Courier New" panose="02070309020205020404" pitchFamily="49" charset="0"/>
              </a:rPr>
              <a:t>&lt;!-- My web page, by Suzy Student</a:t>
            </a:r>
          </a:p>
          <a:p>
            <a:pPr>
              <a:spcBef>
                <a:spcPts val="200"/>
              </a:spcBef>
            </a:pPr>
            <a:r>
              <a:rPr lang="en-US" sz="2200" dirty="0" smtClean="0">
                <a:latin typeface="Courier New" panose="02070309020205020404" pitchFamily="49" charset="0"/>
                <a:cs typeface="Courier New" panose="02070309020205020404" pitchFamily="49" charset="0"/>
              </a:rPr>
              <a:t>     CSE 190 D, Spring 2048       --&gt;</a:t>
            </a:r>
          </a:p>
          <a:p>
            <a:pPr>
              <a:spcBef>
                <a:spcPts val="200"/>
              </a:spcBef>
            </a:pPr>
            <a:r>
              <a:rPr lang="en-US" sz="2200" dirty="0" smtClean="0">
                <a:latin typeface="Courier New" panose="02070309020205020404" pitchFamily="49" charset="0"/>
                <a:cs typeface="Courier New" panose="02070309020205020404" pitchFamily="49" charset="0"/>
              </a:rPr>
              <a:t>&lt;p&gt;CSE courses are &lt;!-- NOT --&gt; a lot of fun!&lt;/p&gt;</a:t>
            </a:r>
          </a:p>
          <a:p>
            <a:pPr>
              <a:spcBef>
                <a:spcPts val="200"/>
              </a:spcBef>
            </a:pPr>
            <a:endParaRPr lang="en-US" sz="2200" dirty="0" smtClean="0"/>
          </a:p>
          <a:p>
            <a:pPr>
              <a:spcBef>
                <a:spcPts val="200"/>
              </a:spcBef>
            </a:pPr>
            <a:r>
              <a:rPr lang="en-US" sz="2200" dirty="0" smtClean="0"/>
              <a:t>CSE courses are a lot of fun!</a:t>
            </a:r>
          </a:p>
          <a:p>
            <a:pPr>
              <a:spcBef>
                <a:spcPts val="200"/>
              </a:spcBef>
            </a:pPr>
            <a:endParaRPr lang="en-US" sz="2200" dirty="0" smtClean="0"/>
          </a:p>
          <a:p>
            <a:pPr>
              <a:spcBef>
                <a:spcPts val="200"/>
              </a:spcBef>
              <a:buFont typeface="Arial" panose="020B0604020202020204" pitchFamily="34" charset="0"/>
              <a:buChar char="•"/>
            </a:pPr>
            <a:r>
              <a:rPr lang="en-US" sz="2200" dirty="0" smtClean="0"/>
              <a:t>    many web pages are not thoroughly commented (or at all)</a:t>
            </a:r>
          </a:p>
          <a:p>
            <a:pPr>
              <a:spcBef>
                <a:spcPts val="200"/>
              </a:spcBef>
              <a:buFont typeface="Arial" panose="020B0604020202020204" pitchFamily="34" charset="0"/>
              <a:buChar char="•"/>
            </a:pPr>
            <a:r>
              <a:rPr lang="en-US" sz="2200" dirty="0" smtClean="0"/>
              <a:t>    still useful at top of page and for disabling code</a:t>
            </a:r>
          </a:p>
          <a:p>
            <a:pPr>
              <a:spcBef>
                <a:spcPts val="200"/>
              </a:spcBef>
              <a:buFont typeface="Arial" panose="020B0604020202020204" pitchFamily="34" charset="0"/>
              <a:buChar char="•"/>
            </a:pPr>
            <a:r>
              <a:rPr lang="en-US" sz="2200" dirty="0" smtClean="0"/>
              <a:t>    comments cannot be nested and cannot contain a --</a:t>
            </a:r>
          </a:p>
          <a:p>
            <a:pPr>
              <a:spcBef>
                <a:spcPts val="200"/>
              </a:spcBef>
            </a:pPr>
            <a:endParaRPr lang="en-US" dirty="0"/>
          </a:p>
        </p:txBody>
      </p:sp>
    </p:spTree>
    <p:extLst>
      <p:ext uri="{BB962C8B-B14F-4D97-AF65-F5344CB8AC3E}">
        <p14:creationId xmlns:p14="http://schemas.microsoft.com/office/powerpoint/2010/main" val="1430767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Unordered list: &lt;</a:t>
            </a:r>
            <a:r>
              <a:rPr lang="en-US" b="1" dirty="0" err="1"/>
              <a:t>ul</a:t>
            </a:r>
            <a:r>
              <a:rPr lang="en-US" b="1" dirty="0"/>
              <a:t>&gt;, &lt;li&gt;</a:t>
            </a:r>
          </a:p>
        </p:txBody>
      </p:sp>
      <p:sp>
        <p:nvSpPr>
          <p:cNvPr id="4" name="Content Placeholder 7"/>
          <p:cNvSpPr txBox="1">
            <a:spLocks/>
          </p:cNvSpPr>
          <p:nvPr/>
        </p:nvSpPr>
        <p:spPr>
          <a:xfrm>
            <a:off x="1020152" y="4784408"/>
            <a:ext cx="8153400" cy="15240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sz="2400" b="1" dirty="0" smtClean="0"/>
              <a:t>  </a:t>
            </a:r>
            <a:r>
              <a:rPr lang="en-US" sz="2400" b="1" dirty="0" err="1" smtClean="0"/>
              <a:t>ul</a:t>
            </a:r>
            <a:r>
              <a:rPr lang="en-US" sz="2400" dirty="0" smtClean="0"/>
              <a:t> represents a bulleted list of items (block)</a:t>
            </a:r>
          </a:p>
          <a:p>
            <a:pPr>
              <a:buFont typeface="Arial" panose="020B0604020202020204" pitchFamily="34" charset="0"/>
              <a:buChar char="•"/>
            </a:pPr>
            <a:r>
              <a:rPr lang="en-US" sz="2400" b="1" dirty="0" smtClean="0"/>
              <a:t>  li </a:t>
            </a:r>
            <a:r>
              <a:rPr lang="en-US" sz="2400" dirty="0" smtClean="0"/>
              <a:t>represents a single item within the list (block)</a:t>
            </a:r>
            <a:endParaRPr lang="en-US" sz="2400" dirty="0"/>
          </a:p>
        </p:txBody>
      </p:sp>
      <p:sp>
        <p:nvSpPr>
          <p:cNvPr id="5" name="TextBox 4"/>
          <p:cNvSpPr txBox="1"/>
          <p:nvPr/>
        </p:nvSpPr>
        <p:spPr>
          <a:xfrm>
            <a:off x="1097280" y="1829752"/>
            <a:ext cx="10058400" cy="1477328"/>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li&gt;No shoes&lt;/li&gt;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li&gt;No shirt&lt;/li&gt;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li&gt;No problem!&lt;/li&gt;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r>
              <a:rPr lang="en-US" dirty="0" smtClean="0">
                <a:latin typeface="Courier New" pitchFamily="49" charset="0"/>
                <a:cs typeface="Courier New" pitchFamily="49" charset="0"/>
              </a:rPr>
              <a:t>								                                      </a:t>
            </a:r>
            <a:r>
              <a:rPr lang="en-US" b="1" dirty="0" smtClean="0">
                <a:solidFill>
                  <a:schemeClr val="bg1">
                    <a:lumMod val="65000"/>
                  </a:schemeClr>
                </a:solidFill>
                <a:latin typeface="Consolas" pitchFamily="49" charset="0"/>
                <a:cs typeface="Consolas" pitchFamily="49" charset="0"/>
              </a:rPr>
              <a:t>HTML</a:t>
            </a:r>
          </a:p>
        </p:txBody>
      </p:sp>
      <p:sp>
        <p:nvSpPr>
          <p:cNvPr id="6" name="TextBox 5"/>
          <p:cNvSpPr txBox="1"/>
          <p:nvPr/>
        </p:nvSpPr>
        <p:spPr>
          <a:xfrm>
            <a:off x="1097280" y="3307080"/>
            <a:ext cx="10058400" cy="1015663"/>
          </a:xfrm>
          <a:prstGeom prst="rect">
            <a:avLst/>
          </a:prstGeom>
          <a:noFill/>
          <a:ln w="19050">
            <a:solidFill>
              <a:schemeClr val="tx1"/>
            </a:solidFill>
          </a:ln>
        </p:spPr>
        <p:txBody>
          <a:bodyPr wrap="square" rtlCol="0">
            <a:spAutoFit/>
          </a:bodyPr>
          <a:lstStyle/>
          <a:p>
            <a:pPr marL="285750" indent="-285750">
              <a:buFont typeface="Arial" pitchFamily="34" charset="0"/>
              <a:buChar char="•"/>
            </a:pPr>
            <a:r>
              <a:rPr lang="en-US" sz="2000" dirty="0">
                <a:latin typeface="Times New Roman" pitchFamily="18" charset="0"/>
                <a:cs typeface="Times New Roman" pitchFamily="18" charset="0"/>
              </a:rPr>
              <a:t>No </a:t>
            </a:r>
            <a:r>
              <a:rPr lang="en-US" sz="2000" dirty="0" smtClean="0">
                <a:latin typeface="Times New Roman" pitchFamily="18" charset="0"/>
                <a:cs typeface="Times New Roman" pitchFamily="18" charset="0"/>
              </a:rPr>
              <a:t>shoes</a:t>
            </a:r>
          </a:p>
          <a:p>
            <a:pPr marL="285750" indent="-285750">
              <a:buFont typeface="Arial" pitchFamily="34" charset="0"/>
              <a:buChar char="•"/>
            </a:pPr>
            <a:r>
              <a:rPr lang="en-US" sz="2000" dirty="0" smtClean="0">
                <a:latin typeface="Times New Roman" pitchFamily="18" charset="0"/>
                <a:cs typeface="Times New Roman" pitchFamily="18" charset="0"/>
              </a:rPr>
              <a:t>No shirt</a:t>
            </a:r>
          </a:p>
          <a:p>
            <a:pPr marL="285750" indent="-285750">
              <a:buFont typeface="Arial" pitchFamily="34" charset="0"/>
              <a:buChar char="•"/>
            </a:pPr>
            <a:r>
              <a:rPr lang="en-US" sz="2000" dirty="0" smtClean="0">
                <a:latin typeface="Times New Roman" pitchFamily="18" charset="0"/>
                <a:cs typeface="Times New Roman" pitchFamily="18" charset="0"/>
              </a:rPr>
              <a:t>No </a:t>
            </a:r>
            <a:r>
              <a:rPr lang="en-US" sz="2000" dirty="0">
                <a:latin typeface="Times New Roman" pitchFamily="18" charset="0"/>
                <a:cs typeface="Times New Roman" pitchFamily="18" charset="0"/>
              </a:rPr>
              <a:t>problem!</a:t>
            </a:r>
            <a:r>
              <a:rPr lang="en-US" dirty="0">
                <a:latin typeface="Consolas" pitchFamily="49" charset="0"/>
                <a:cs typeface="Consolas" pitchFamily="49" charset="0"/>
              </a:rPr>
              <a:t>	</a:t>
            </a:r>
            <a:r>
              <a:rPr lang="en-US" dirty="0" smtClean="0">
                <a:latin typeface="Consolas" pitchFamily="49" charset="0"/>
                <a:cs typeface="Consolas" pitchFamily="49" charset="0"/>
              </a:rPr>
              <a:t>					                                       </a:t>
            </a:r>
            <a:r>
              <a:rPr lang="en-US" b="1" dirty="0" smtClean="0">
                <a:solidFill>
                  <a:schemeClr val="bg1">
                    <a:lumMod val="65000"/>
                  </a:schemeClr>
                </a:solidFill>
                <a:latin typeface="Consolas" pitchFamily="49" charset="0"/>
                <a:cs typeface="Consolas" pitchFamily="49" charset="0"/>
              </a:rPr>
              <a:t>output</a:t>
            </a:r>
          </a:p>
        </p:txBody>
      </p:sp>
    </p:spTree>
    <p:extLst>
      <p:ext uri="{BB962C8B-B14F-4D97-AF65-F5344CB8AC3E}">
        <p14:creationId xmlns:p14="http://schemas.microsoft.com/office/powerpoint/2010/main" val="4214699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about unordered lists</a:t>
            </a:r>
          </a:p>
        </p:txBody>
      </p:sp>
      <p:sp>
        <p:nvSpPr>
          <p:cNvPr id="6" name="TextBox 5"/>
          <p:cNvSpPr txBox="1"/>
          <p:nvPr/>
        </p:nvSpPr>
        <p:spPr>
          <a:xfrm>
            <a:off x="1097280" y="1777117"/>
            <a:ext cx="5055042" cy="4524315"/>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&lt;li&gt;Harry Potter characters:</a:t>
            </a:r>
            <a:endParaRPr lang="en-US" dirty="0">
              <a:latin typeface="Courier New" pitchFamily="49" charset="0"/>
              <a:cs typeface="Courier New" pitchFamily="49" charset="0"/>
            </a:endParaRP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&lt;li&gt;Harry Potter&lt;/</a:t>
            </a:r>
            <a:r>
              <a:rPr lang="en-US" dirty="0">
                <a:latin typeface="Courier New" pitchFamily="49" charset="0"/>
                <a:cs typeface="Courier New" pitchFamily="49" charset="0"/>
              </a:rPr>
              <a:t>li&gt;</a:t>
            </a:r>
          </a:p>
          <a:p>
            <a:r>
              <a:rPr lang="en-US" dirty="0" smtClean="0">
                <a:latin typeface="Courier New" pitchFamily="49" charset="0"/>
                <a:cs typeface="Courier New" pitchFamily="49" charset="0"/>
              </a:rPr>
              <a:t>         &lt;li&gt;Hermione&lt;/</a:t>
            </a:r>
            <a:r>
              <a:rPr lang="en-US" dirty="0">
                <a:latin typeface="Courier New" pitchFamily="49" charset="0"/>
                <a:cs typeface="Courier New" pitchFamily="49" charset="0"/>
              </a:rPr>
              <a:t>li</a:t>
            </a:r>
            <a:r>
              <a:rPr lang="en-US" dirty="0" smtClean="0">
                <a:latin typeface="Courier New" pitchFamily="49" charset="0"/>
                <a:cs typeface="Courier New" pitchFamily="49" charset="0"/>
              </a:rPr>
              <a:t>&gt;</a:t>
            </a:r>
          </a:p>
          <a:p>
            <a:r>
              <a:rPr lang="en-US" dirty="0" smtClean="0">
                <a:latin typeface="Courier New" pitchFamily="49" charset="0"/>
                <a:cs typeface="Courier New" pitchFamily="49" charset="0"/>
              </a:rPr>
              <a:t>         &lt;li&gt;Ron&lt;/li&gt;</a:t>
            </a:r>
            <a:endParaRPr lang="en-US" dirty="0">
              <a:latin typeface="Courier New" pitchFamily="49" charset="0"/>
              <a:cs typeface="Courier New" pitchFamily="49" charset="0"/>
            </a:endParaRP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li&gt;</a:t>
            </a:r>
          </a:p>
          <a:p>
            <a:r>
              <a:rPr lang="en-US" dirty="0" smtClean="0">
                <a:latin typeface="Courier New" pitchFamily="49" charset="0"/>
                <a:cs typeface="Courier New" pitchFamily="49" charset="0"/>
              </a:rPr>
              <a:t>   &lt;li&gt;LOTR characters:</a:t>
            </a:r>
            <a:endParaRPr lang="en-US" dirty="0">
              <a:latin typeface="Courier New" pitchFamily="49" charset="0"/>
              <a:cs typeface="Courier New" pitchFamily="49" charset="0"/>
            </a:endParaRP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&lt;li&gt;Frodo&lt;/</a:t>
            </a:r>
            <a:r>
              <a:rPr lang="en-US" dirty="0">
                <a:latin typeface="Courier New" pitchFamily="49" charset="0"/>
                <a:cs typeface="Courier New" pitchFamily="49" charset="0"/>
              </a:rPr>
              <a:t>li&gt;</a:t>
            </a:r>
          </a:p>
          <a:p>
            <a:r>
              <a:rPr lang="en-US" dirty="0" smtClean="0">
                <a:latin typeface="Courier New" pitchFamily="49" charset="0"/>
                <a:cs typeface="Courier New" pitchFamily="49" charset="0"/>
              </a:rPr>
              <a:t>         &lt;li&gt;Bilbo&lt;/</a:t>
            </a:r>
            <a:r>
              <a:rPr lang="en-US" dirty="0">
                <a:latin typeface="Courier New" pitchFamily="49" charset="0"/>
                <a:cs typeface="Courier New" pitchFamily="49" charset="0"/>
              </a:rPr>
              <a:t>li</a:t>
            </a:r>
            <a:r>
              <a:rPr lang="en-US" dirty="0" smtClean="0">
                <a:latin typeface="Courier New" pitchFamily="49" charset="0"/>
                <a:cs typeface="Courier New" pitchFamily="49" charset="0"/>
              </a:rPr>
              <a:t>&gt;</a:t>
            </a:r>
          </a:p>
          <a:p>
            <a:r>
              <a:rPr lang="en-US" dirty="0" smtClean="0">
                <a:latin typeface="Courier New" pitchFamily="49" charset="0"/>
                <a:cs typeface="Courier New" pitchFamily="49" charset="0"/>
              </a:rPr>
              <a:t>         &lt;li&gt;Sam&lt;/li&gt;</a:t>
            </a:r>
            <a:endParaRPr lang="en-US" dirty="0">
              <a:latin typeface="Courier New" pitchFamily="49" charset="0"/>
              <a:cs typeface="Courier New" pitchFamily="49" charset="0"/>
            </a:endParaRP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a:latin typeface="Courier New" pitchFamily="49" charset="0"/>
                <a:cs typeface="Courier New" pitchFamily="49" charset="0"/>
              </a:rPr>
              <a:t>li&gt;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ul</a:t>
            </a:r>
            <a:r>
              <a:rPr lang="en-US" dirty="0">
                <a:latin typeface="Courier New" pitchFamily="49" charset="0"/>
                <a:cs typeface="Courier New" pitchFamily="49" charset="0"/>
              </a:rPr>
              <a:t>&gt;</a:t>
            </a:r>
            <a:r>
              <a:rPr lang="en-US" dirty="0" smtClean="0">
                <a:latin typeface="Courier New" pitchFamily="49" charset="0"/>
                <a:cs typeface="Courier New" pitchFamily="49" charset="0"/>
              </a:rPr>
              <a:t>							    </a:t>
            </a:r>
            <a:r>
              <a:rPr lang="en-US" i="1" dirty="0" smtClean="0">
                <a:solidFill>
                  <a:schemeClr val="tx1">
                    <a:lumMod val="50000"/>
                    <a:lumOff val="50000"/>
                  </a:schemeClr>
                </a:solidFill>
                <a:latin typeface="Consolas" pitchFamily="49" charset="0"/>
                <a:cs typeface="Consolas" pitchFamily="49" charset="0"/>
              </a:rPr>
              <a:t>HTML</a:t>
            </a:r>
          </a:p>
        </p:txBody>
      </p:sp>
      <p:sp>
        <p:nvSpPr>
          <p:cNvPr id="7" name="TextBox 6"/>
          <p:cNvSpPr txBox="1"/>
          <p:nvPr/>
        </p:nvSpPr>
        <p:spPr>
          <a:xfrm>
            <a:off x="6152322" y="1777117"/>
            <a:ext cx="5003358" cy="4493538"/>
          </a:xfrm>
          <a:prstGeom prst="rect">
            <a:avLst/>
          </a:prstGeom>
          <a:noFill/>
          <a:ln w="19050">
            <a:solidFill>
              <a:schemeClr val="tx1"/>
            </a:solidFill>
          </a:ln>
        </p:spPr>
        <p:txBody>
          <a:bodyPr wrap="square" rtlCol="0">
            <a:spAutoFit/>
          </a:bodyPr>
          <a:lstStyle/>
          <a:p>
            <a:pPr marL="285750" indent="-285750">
              <a:buFont typeface="Arial" pitchFamily="34" charset="0"/>
              <a:buChar char="•"/>
            </a:pPr>
            <a:r>
              <a:rPr lang="en-US" sz="2000" dirty="0" smtClean="0">
                <a:latin typeface="Times New Roman" pitchFamily="18" charset="0"/>
                <a:cs typeface="Times New Roman" pitchFamily="18" charset="0"/>
              </a:rPr>
              <a:t>Harry Potter characters:</a:t>
            </a:r>
          </a:p>
          <a:p>
            <a:pPr marL="742950" lvl="1" indent="-285750">
              <a:buFont typeface="Arial" pitchFamily="34" charset="0"/>
              <a:buChar char="•"/>
            </a:pPr>
            <a:r>
              <a:rPr lang="en-US" sz="2000" dirty="0" smtClean="0">
                <a:latin typeface="Times New Roman" pitchFamily="18" charset="0"/>
                <a:cs typeface="Times New Roman" pitchFamily="18" charset="0"/>
              </a:rPr>
              <a:t>Harry Potter</a:t>
            </a:r>
          </a:p>
          <a:p>
            <a:pPr marL="742950" lvl="1" indent="-285750">
              <a:buFont typeface="Arial" pitchFamily="34" charset="0"/>
              <a:buChar char="•"/>
            </a:pPr>
            <a:r>
              <a:rPr lang="en-US" sz="2000" dirty="0" smtClean="0">
                <a:latin typeface="Times New Roman" pitchFamily="18" charset="0"/>
                <a:cs typeface="Times New Roman" pitchFamily="18" charset="0"/>
              </a:rPr>
              <a:t>Hermione</a:t>
            </a:r>
          </a:p>
          <a:p>
            <a:pPr marL="742950" lvl="1" indent="-285750">
              <a:buFont typeface="Arial" pitchFamily="34" charset="0"/>
              <a:buChar char="•"/>
            </a:pPr>
            <a:r>
              <a:rPr lang="en-US" sz="2000" dirty="0" smtClean="0">
                <a:latin typeface="Times New Roman" pitchFamily="18" charset="0"/>
                <a:cs typeface="Times New Roman" pitchFamily="18" charset="0"/>
              </a:rPr>
              <a:t>Ron</a:t>
            </a:r>
          </a:p>
          <a:p>
            <a:pPr marL="285750" indent="-285750">
              <a:buFont typeface="Arial" pitchFamily="34" charset="0"/>
              <a:buChar char="•"/>
            </a:pPr>
            <a:r>
              <a:rPr lang="en-US" sz="2000" dirty="0" smtClean="0">
                <a:latin typeface="Times New Roman" pitchFamily="18" charset="0"/>
                <a:cs typeface="Times New Roman" pitchFamily="18" charset="0"/>
              </a:rPr>
              <a:t>LOTR characters:</a:t>
            </a:r>
          </a:p>
          <a:p>
            <a:pPr marL="742950" lvl="1" indent="-285750">
              <a:buFont typeface="Arial" pitchFamily="34" charset="0"/>
              <a:buChar char="•"/>
            </a:pPr>
            <a:r>
              <a:rPr lang="en-US" sz="2000" dirty="0" smtClean="0">
                <a:latin typeface="Times New Roman" pitchFamily="18" charset="0"/>
                <a:cs typeface="Times New Roman" pitchFamily="18" charset="0"/>
              </a:rPr>
              <a:t>Frodo</a:t>
            </a:r>
          </a:p>
          <a:p>
            <a:pPr marL="742950" lvl="1" indent="-285750">
              <a:buFont typeface="Arial" pitchFamily="34" charset="0"/>
              <a:buChar char="•"/>
            </a:pPr>
            <a:r>
              <a:rPr lang="en-US" sz="2000" dirty="0" smtClean="0">
                <a:latin typeface="Times New Roman" pitchFamily="18" charset="0"/>
                <a:cs typeface="Times New Roman" pitchFamily="18" charset="0"/>
              </a:rPr>
              <a:t>Bilbo</a:t>
            </a:r>
          </a:p>
          <a:p>
            <a:pPr marL="742950" lvl="1" indent="-285750">
              <a:buFont typeface="Arial" pitchFamily="34" charset="0"/>
              <a:buChar char="•"/>
            </a:pPr>
            <a:r>
              <a:rPr lang="en-US" sz="2000" dirty="0" smtClean="0">
                <a:latin typeface="Times New Roman" pitchFamily="18" charset="0"/>
                <a:cs typeface="Times New Roman" pitchFamily="18" charset="0"/>
              </a:rPr>
              <a:t>Sam</a:t>
            </a:r>
            <a:endParaRPr lang="en-US" sz="2000" dirty="0">
              <a:latin typeface="Times New Roman" pitchFamily="18" charset="0"/>
              <a:cs typeface="Times New Roman" pitchFamily="18" charset="0"/>
            </a:endParaRPr>
          </a:p>
          <a:p>
            <a:endParaRPr lang="en-US" dirty="0" smtClean="0">
              <a:latin typeface="Courier New" pitchFamily="49" charset="0"/>
              <a:cs typeface="Courier New" pitchFamily="49" charset="0"/>
            </a:endParaRPr>
          </a:p>
          <a:p>
            <a:endParaRPr lang="en-US" dirty="0">
              <a:latin typeface="Courier New" pitchFamily="49" charset="0"/>
              <a:cs typeface="Courier New" pitchFamily="49" charset="0"/>
            </a:endParaRPr>
          </a:p>
          <a:p>
            <a:endParaRPr lang="en-US" dirty="0" smtClean="0">
              <a:latin typeface="Courier New" pitchFamily="49" charset="0"/>
              <a:cs typeface="Courier New" pitchFamily="49" charset="0"/>
            </a:endParaRPr>
          </a:p>
          <a:p>
            <a:endParaRPr lang="en-US" dirty="0">
              <a:latin typeface="Courier New" pitchFamily="49" charset="0"/>
              <a:cs typeface="Courier New" pitchFamily="49" charset="0"/>
            </a:endParaRPr>
          </a:p>
          <a:p>
            <a:endParaRPr lang="en-US" dirty="0" smtClean="0">
              <a:latin typeface="Courier New" pitchFamily="49" charset="0"/>
              <a:cs typeface="Courier New" pitchFamily="49" charset="0"/>
            </a:endParaRPr>
          </a:p>
          <a:p>
            <a:pPr algn="r"/>
            <a:r>
              <a:rPr lang="en-US" dirty="0" smtClean="0">
                <a:latin typeface="Courier New" pitchFamily="49" charset="0"/>
                <a:cs typeface="Courier New" pitchFamily="49" charset="0"/>
              </a:rPr>
              <a:t>							                       </a:t>
            </a:r>
            <a:r>
              <a:rPr lang="en-US" i="1" dirty="0" smtClean="0">
                <a:solidFill>
                  <a:schemeClr val="tx1">
                    <a:lumMod val="50000"/>
                    <a:lumOff val="50000"/>
                  </a:schemeClr>
                </a:solidFill>
                <a:latin typeface="Consolas" pitchFamily="49" charset="0"/>
                <a:cs typeface="Consolas" pitchFamily="49" charset="0"/>
              </a:rPr>
              <a:t>output</a:t>
            </a:r>
          </a:p>
        </p:txBody>
      </p:sp>
    </p:spTree>
    <p:extLst>
      <p:ext uri="{BB962C8B-B14F-4D97-AF65-F5344CB8AC3E}">
        <p14:creationId xmlns:p14="http://schemas.microsoft.com/office/powerpoint/2010/main" val="31689250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Ordered list &lt;</a:t>
            </a:r>
            <a:r>
              <a:rPr lang="en-US" b="1" dirty="0" err="1"/>
              <a:t>ol</a:t>
            </a:r>
            <a:r>
              <a:rPr lang="en-US" b="1" dirty="0"/>
              <a:t>&gt;</a:t>
            </a:r>
          </a:p>
        </p:txBody>
      </p:sp>
      <p:sp>
        <p:nvSpPr>
          <p:cNvPr id="4" name="Content Placeholder 2"/>
          <p:cNvSpPr>
            <a:spLocks noGrp="1"/>
          </p:cNvSpPr>
          <p:nvPr>
            <p:ph sz="quarter" idx="1"/>
          </p:nvPr>
        </p:nvSpPr>
        <p:spPr>
          <a:xfrm>
            <a:off x="1100328" y="5257800"/>
            <a:ext cx="10058400" cy="1600200"/>
          </a:xfrm>
        </p:spPr>
        <p:txBody>
          <a:bodyPr>
            <a:normAutofit/>
          </a:bodyPr>
          <a:lstStyle/>
          <a:p>
            <a:pPr>
              <a:buFont typeface="Arial" panose="020B0604020202020204" pitchFamily="34" charset="0"/>
              <a:buChar char="•"/>
            </a:pPr>
            <a:r>
              <a:rPr lang="en-US" sz="2200" b="1" dirty="0" smtClean="0"/>
              <a:t>  </a:t>
            </a:r>
            <a:r>
              <a:rPr lang="en-US" sz="2200" b="1" dirty="0" err="1" smtClean="0"/>
              <a:t>ol</a:t>
            </a:r>
            <a:r>
              <a:rPr lang="en-US" sz="2200" dirty="0" smtClean="0"/>
              <a:t> </a:t>
            </a:r>
            <a:r>
              <a:rPr lang="en-US" sz="2200" dirty="0"/>
              <a:t>represents a numbered list of </a:t>
            </a:r>
            <a:r>
              <a:rPr lang="en-US" sz="2200" dirty="0" smtClean="0"/>
              <a:t>items</a:t>
            </a:r>
          </a:p>
          <a:p>
            <a:pPr>
              <a:buFont typeface="Arial" panose="020B0604020202020204" pitchFamily="34" charset="0"/>
              <a:buChar char="•"/>
            </a:pPr>
            <a:r>
              <a:rPr lang="en-US" sz="2200" dirty="0" smtClean="0"/>
              <a:t>  we </a:t>
            </a:r>
            <a:r>
              <a:rPr lang="en-US" sz="2200" dirty="0"/>
              <a:t>can make lists with letters or Roman numerals using CSS (later)</a:t>
            </a:r>
          </a:p>
        </p:txBody>
      </p:sp>
      <p:sp>
        <p:nvSpPr>
          <p:cNvPr id="5" name="TextBox 4"/>
          <p:cNvSpPr txBox="1"/>
          <p:nvPr/>
        </p:nvSpPr>
        <p:spPr>
          <a:xfrm>
            <a:off x="1097280" y="1905000"/>
            <a:ext cx="10058400" cy="1754326"/>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a:t>
            </a:r>
            <a:r>
              <a:rPr lang="en-US" dirty="0" smtClean="0">
                <a:latin typeface="Courier New" pitchFamily="49" charset="0"/>
                <a:cs typeface="Courier New" pitchFamily="49" charset="0"/>
              </a:rPr>
              <a:t>p&gt;Apple </a:t>
            </a:r>
            <a:r>
              <a:rPr lang="en-US" dirty="0">
                <a:latin typeface="Courier New" pitchFamily="49" charset="0"/>
                <a:cs typeface="Courier New" pitchFamily="49" charset="0"/>
              </a:rPr>
              <a:t>business model:&lt;/p&gt;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ol</a:t>
            </a:r>
            <a:r>
              <a:rPr lang="en-US" dirty="0">
                <a:latin typeface="Courier New" pitchFamily="49" charset="0"/>
                <a:cs typeface="Courier New" pitchFamily="49" charset="0"/>
              </a:rPr>
              <a:t>&gt;</a:t>
            </a:r>
          </a:p>
          <a:p>
            <a:r>
              <a:rPr lang="en-US" dirty="0">
                <a:latin typeface="Courier New" pitchFamily="49" charset="0"/>
                <a:cs typeface="Courier New" pitchFamily="49" charset="0"/>
              </a:rPr>
              <a:t>&lt;</a:t>
            </a:r>
            <a:r>
              <a:rPr lang="en-US" dirty="0" smtClean="0">
                <a:latin typeface="Courier New" pitchFamily="49" charset="0"/>
                <a:cs typeface="Courier New" pitchFamily="49" charset="0"/>
              </a:rPr>
              <a:t>li&gt;Beat Microsoft&lt;/</a:t>
            </a:r>
            <a:r>
              <a:rPr lang="en-US" dirty="0">
                <a:latin typeface="Courier New" pitchFamily="49" charset="0"/>
                <a:cs typeface="Courier New" pitchFamily="49" charset="0"/>
              </a:rPr>
              <a:t>li&gt;</a:t>
            </a:r>
          </a:p>
          <a:p>
            <a:r>
              <a:rPr lang="en-US" dirty="0">
                <a:latin typeface="Courier New" pitchFamily="49" charset="0"/>
                <a:cs typeface="Courier New" pitchFamily="49" charset="0"/>
              </a:rPr>
              <a:t>&lt;</a:t>
            </a:r>
            <a:r>
              <a:rPr lang="en-US" dirty="0" smtClean="0">
                <a:latin typeface="Courier New" pitchFamily="49" charset="0"/>
                <a:cs typeface="Courier New" pitchFamily="49" charset="0"/>
              </a:rPr>
              <a:t>li&gt;Beat Google&lt;/</a:t>
            </a:r>
            <a:r>
              <a:rPr lang="en-US" dirty="0">
                <a:latin typeface="Courier New" pitchFamily="49" charset="0"/>
                <a:cs typeface="Courier New" pitchFamily="49" charset="0"/>
              </a:rPr>
              <a:t>li&gt;</a:t>
            </a:r>
          </a:p>
          <a:p>
            <a:r>
              <a:rPr lang="en-US" dirty="0">
                <a:latin typeface="Courier New" pitchFamily="49" charset="0"/>
                <a:cs typeface="Courier New" pitchFamily="49" charset="0"/>
              </a:rPr>
              <a:t>&lt;</a:t>
            </a:r>
            <a:r>
              <a:rPr lang="en-US" dirty="0" smtClean="0">
                <a:latin typeface="Courier New" pitchFamily="49" charset="0"/>
                <a:cs typeface="Courier New" pitchFamily="49" charset="0"/>
              </a:rPr>
              <a:t>li&gt;Conquer the world!&lt;/</a:t>
            </a:r>
            <a:r>
              <a:rPr lang="en-US" dirty="0">
                <a:latin typeface="Courier New" pitchFamily="49" charset="0"/>
                <a:cs typeface="Courier New" pitchFamily="49" charset="0"/>
              </a:rPr>
              <a:t>li&gt;</a:t>
            </a:r>
          </a:p>
          <a:p>
            <a:r>
              <a:rPr lang="en-US" dirty="0">
                <a:latin typeface="Courier New" pitchFamily="49" charset="0"/>
                <a:cs typeface="Courier New" pitchFamily="49" charset="0"/>
              </a:rPr>
              <a:t>&lt;/</a:t>
            </a:r>
            <a:r>
              <a:rPr lang="en-US" dirty="0" err="1">
                <a:latin typeface="Courier New" pitchFamily="49" charset="0"/>
                <a:cs typeface="Courier New" pitchFamily="49" charset="0"/>
              </a:rPr>
              <a:t>ol</a:t>
            </a:r>
            <a:r>
              <a:rPr lang="en-US" dirty="0">
                <a:latin typeface="Courier New" pitchFamily="49" charset="0"/>
                <a:cs typeface="Courier New" pitchFamily="49" charset="0"/>
              </a:rPr>
              <a:t>&gt;</a:t>
            </a:r>
            <a:r>
              <a:rPr lang="en-US" dirty="0" smtClean="0">
                <a:latin typeface="Courier New" pitchFamily="49" charset="0"/>
                <a:cs typeface="Courier New" pitchFamily="49" charset="0"/>
              </a:rPr>
              <a:t>							                                         </a:t>
            </a:r>
            <a:r>
              <a:rPr lang="en-US" i="1" dirty="0" smtClean="0">
                <a:solidFill>
                  <a:schemeClr val="tx1">
                    <a:lumMod val="50000"/>
                    <a:lumOff val="50000"/>
                  </a:schemeClr>
                </a:solidFill>
                <a:latin typeface="Consolas" pitchFamily="49" charset="0"/>
                <a:cs typeface="Consolas" pitchFamily="49" charset="0"/>
              </a:rPr>
              <a:t>HTML</a:t>
            </a:r>
          </a:p>
        </p:txBody>
      </p:sp>
      <p:sp>
        <p:nvSpPr>
          <p:cNvPr id="6" name="TextBox 5"/>
          <p:cNvSpPr txBox="1"/>
          <p:nvPr/>
        </p:nvSpPr>
        <p:spPr>
          <a:xfrm>
            <a:off x="1097280" y="3659326"/>
            <a:ext cx="10058400" cy="1323439"/>
          </a:xfrm>
          <a:prstGeom prst="rect">
            <a:avLst/>
          </a:prstGeom>
          <a:noFill/>
          <a:ln w="19050">
            <a:solidFill>
              <a:schemeClr val="tx1"/>
            </a:solidFill>
          </a:ln>
        </p:spPr>
        <p:txBody>
          <a:bodyPr wrap="square" rtlCol="0">
            <a:spAutoFit/>
          </a:bodyPr>
          <a:lstStyle/>
          <a:p>
            <a:r>
              <a:rPr lang="en-US" sz="2000" dirty="0" smtClean="0">
                <a:latin typeface="Times New Roman" pitchFamily="18" charset="0"/>
                <a:cs typeface="Times New Roman" pitchFamily="18" charset="0"/>
              </a:rPr>
              <a:t>Apple business model:</a:t>
            </a:r>
          </a:p>
          <a:p>
            <a:pPr marL="342900" indent="-342900">
              <a:buFont typeface="+mj-lt"/>
              <a:buAutoNum type="arabicPeriod"/>
            </a:pPr>
            <a:r>
              <a:rPr lang="en-US" sz="2000" dirty="0" smtClean="0">
                <a:latin typeface="Times New Roman" pitchFamily="18" charset="0"/>
                <a:cs typeface="Times New Roman" pitchFamily="18" charset="0"/>
              </a:rPr>
              <a:t>Beat Microsoft</a:t>
            </a:r>
          </a:p>
          <a:p>
            <a:pPr marL="342900" indent="-342900">
              <a:buFont typeface="+mj-lt"/>
              <a:buAutoNum type="arabicPeriod"/>
            </a:pPr>
            <a:r>
              <a:rPr lang="en-US" sz="2000" dirty="0" smtClean="0">
                <a:latin typeface="Times New Roman" pitchFamily="18" charset="0"/>
                <a:cs typeface="Times New Roman" pitchFamily="18" charset="0"/>
              </a:rPr>
              <a:t>Beat Google</a:t>
            </a:r>
          </a:p>
          <a:p>
            <a:pPr marL="342900" indent="-342900">
              <a:buFont typeface="+mj-lt"/>
              <a:buAutoNum type="arabicPeriod"/>
            </a:pPr>
            <a:r>
              <a:rPr lang="en-US" sz="2000" dirty="0" smtClean="0">
                <a:latin typeface="Times New Roman" pitchFamily="18" charset="0"/>
                <a:cs typeface="Times New Roman" pitchFamily="18" charset="0"/>
              </a:rPr>
              <a:t>Conquer the world	</a:t>
            </a:r>
            <a:r>
              <a:rPr lang="en-US" dirty="0" smtClean="0">
                <a:latin typeface="Consolas" pitchFamily="49" charset="0"/>
                <a:cs typeface="Consolas" pitchFamily="49" charset="0"/>
              </a:rPr>
              <a:t>			                                          </a:t>
            </a:r>
            <a:r>
              <a:rPr lang="en-US" i="1" dirty="0" smtClean="0">
                <a:solidFill>
                  <a:schemeClr val="tx1">
                    <a:lumMod val="50000"/>
                    <a:lumOff val="50000"/>
                  </a:schemeClr>
                </a:solidFill>
                <a:latin typeface="Consolas" pitchFamily="49" charset="0"/>
                <a:cs typeface="Consolas" pitchFamily="49" charset="0"/>
              </a:rPr>
              <a:t>output</a:t>
            </a:r>
          </a:p>
        </p:txBody>
      </p:sp>
    </p:spTree>
    <p:extLst>
      <p:ext uri="{BB962C8B-B14F-4D97-AF65-F5344CB8AC3E}">
        <p14:creationId xmlns:p14="http://schemas.microsoft.com/office/powerpoint/2010/main" val="518567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Definition list &lt;dl&gt;, &lt;</a:t>
            </a:r>
            <a:r>
              <a:rPr lang="en-US" b="1" dirty="0" err="1"/>
              <a:t>dt</a:t>
            </a:r>
            <a:r>
              <a:rPr lang="en-US" b="1" dirty="0"/>
              <a:t>&gt;, &lt;</a:t>
            </a:r>
            <a:r>
              <a:rPr lang="en-US" b="1" dirty="0" err="1"/>
              <a:t>dd</a:t>
            </a:r>
            <a:r>
              <a:rPr lang="en-US" b="1" dirty="0"/>
              <a:t>&gt;</a:t>
            </a:r>
          </a:p>
        </p:txBody>
      </p:sp>
      <p:sp>
        <p:nvSpPr>
          <p:cNvPr id="5" name="Content Placeholder 2"/>
          <p:cNvSpPr>
            <a:spLocks noGrp="1"/>
          </p:cNvSpPr>
          <p:nvPr>
            <p:ph sz="quarter" idx="1"/>
          </p:nvPr>
        </p:nvSpPr>
        <p:spPr>
          <a:xfrm>
            <a:off x="1097280" y="5443330"/>
            <a:ext cx="8153400" cy="1600200"/>
          </a:xfrm>
        </p:spPr>
        <p:txBody>
          <a:bodyPr>
            <a:normAutofit/>
          </a:bodyPr>
          <a:lstStyle/>
          <a:p>
            <a:pPr>
              <a:buFont typeface="Arial" panose="020B0604020202020204" pitchFamily="34" charset="0"/>
              <a:buChar char="•"/>
            </a:pPr>
            <a:r>
              <a:rPr lang="en-US" sz="2200" b="1" dirty="0" smtClean="0"/>
              <a:t>  dl</a:t>
            </a:r>
            <a:r>
              <a:rPr lang="en-US" sz="2200" dirty="0" smtClean="0"/>
              <a:t> </a:t>
            </a:r>
            <a:r>
              <a:rPr lang="en-US" sz="2200" dirty="0"/>
              <a:t>represents a list of definitions of </a:t>
            </a:r>
            <a:r>
              <a:rPr lang="en-US" sz="2200" dirty="0" smtClean="0"/>
              <a:t>terms</a:t>
            </a:r>
            <a:endParaRPr lang="en-US" sz="2200" dirty="0"/>
          </a:p>
          <a:p>
            <a:pPr>
              <a:buFont typeface="Arial" panose="020B0604020202020204" pitchFamily="34" charset="0"/>
              <a:buChar char="•"/>
            </a:pPr>
            <a:r>
              <a:rPr lang="en-US" sz="2200" b="1" dirty="0" smtClean="0"/>
              <a:t>  </a:t>
            </a:r>
            <a:r>
              <a:rPr lang="en-US" sz="2200" b="1" dirty="0" err="1" smtClean="0"/>
              <a:t>dt</a:t>
            </a:r>
            <a:r>
              <a:rPr lang="en-US" sz="2200" dirty="0" smtClean="0"/>
              <a:t> </a:t>
            </a:r>
            <a:r>
              <a:rPr lang="en-US" sz="2200" dirty="0"/>
              <a:t>represents each term, and </a:t>
            </a:r>
            <a:r>
              <a:rPr lang="en-US" sz="2200" b="1" dirty="0" err="1"/>
              <a:t>dd</a:t>
            </a:r>
            <a:r>
              <a:rPr lang="en-US" sz="2200" dirty="0"/>
              <a:t> its definition</a:t>
            </a:r>
          </a:p>
        </p:txBody>
      </p:sp>
      <p:sp>
        <p:nvSpPr>
          <p:cNvPr id="6" name="TextBox 5"/>
          <p:cNvSpPr txBox="1"/>
          <p:nvPr/>
        </p:nvSpPr>
        <p:spPr>
          <a:xfrm>
            <a:off x="1097280" y="1851991"/>
            <a:ext cx="10058400" cy="1477328"/>
          </a:xfrm>
          <a:prstGeom prst="rect">
            <a:avLst/>
          </a:prstGeom>
          <a:solidFill>
            <a:srgbClr val="E5F5FF"/>
          </a:solidFill>
          <a:ln w="19050">
            <a:solidFill>
              <a:schemeClr val="tx1"/>
            </a:solidFill>
          </a:ln>
        </p:spPr>
        <p:txBody>
          <a:bodyPr wrap="square" rtlCol="0">
            <a:spAutoFit/>
          </a:bodyPr>
          <a:lstStyle/>
          <a:p>
            <a:r>
              <a:rPr lang="en-US" dirty="0">
                <a:latin typeface="Courier New" pitchFamily="49" charset="0"/>
                <a:cs typeface="Courier New" pitchFamily="49" charset="0"/>
              </a:rPr>
              <a:t>&lt;dl&gt;</a:t>
            </a: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dt</a:t>
            </a:r>
            <a:r>
              <a:rPr lang="en-US" dirty="0">
                <a:latin typeface="Courier New" pitchFamily="49" charset="0"/>
                <a:cs typeface="Courier New" pitchFamily="49" charset="0"/>
              </a:rPr>
              <a:t>&gt;newbie&lt;/</a:t>
            </a:r>
            <a:r>
              <a:rPr lang="en-US" dirty="0" err="1">
                <a:latin typeface="Courier New" pitchFamily="49" charset="0"/>
                <a:cs typeface="Courier New" pitchFamily="49" charset="0"/>
              </a:rPr>
              <a:t>dt</a:t>
            </a:r>
            <a:r>
              <a:rPr lang="en-US" dirty="0">
                <a:latin typeface="Courier New" pitchFamily="49" charset="0"/>
                <a:cs typeface="Courier New" pitchFamily="49" charset="0"/>
              </a:rPr>
              <a:t>&gt; &lt;</a:t>
            </a:r>
            <a:r>
              <a:rPr lang="en-US" dirty="0" err="1">
                <a:latin typeface="Courier New" pitchFamily="49" charset="0"/>
                <a:cs typeface="Courier New" pitchFamily="49" charset="0"/>
              </a:rPr>
              <a:t>dd</a:t>
            </a:r>
            <a:r>
              <a:rPr lang="en-US" dirty="0">
                <a:latin typeface="Courier New" pitchFamily="49" charset="0"/>
                <a:cs typeface="Courier New" pitchFamily="49" charset="0"/>
              </a:rPr>
              <a:t>&gt;one who does not have mad skills&lt;/</a:t>
            </a:r>
            <a:r>
              <a:rPr lang="en-US" dirty="0" err="1">
                <a:latin typeface="Courier New" pitchFamily="49" charset="0"/>
                <a:cs typeface="Courier New" pitchFamily="49" charset="0"/>
              </a:rPr>
              <a:t>dd</a:t>
            </a:r>
            <a:r>
              <a:rPr lang="en-US" dirty="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dt</a:t>
            </a:r>
            <a:r>
              <a:rPr lang="en-US" dirty="0">
                <a:latin typeface="Courier New" pitchFamily="49" charset="0"/>
                <a:cs typeface="Courier New" pitchFamily="49" charset="0"/>
              </a:rPr>
              <a:t>&gt;own&lt;/</a:t>
            </a:r>
            <a:r>
              <a:rPr lang="en-US" dirty="0" err="1">
                <a:latin typeface="Courier New" pitchFamily="49" charset="0"/>
                <a:cs typeface="Courier New" pitchFamily="49" charset="0"/>
              </a:rPr>
              <a:t>dt</a:t>
            </a:r>
            <a:r>
              <a:rPr lang="en-US" dirty="0">
                <a:latin typeface="Courier New" pitchFamily="49" charset="0"/>
                <a:cs typeface="Courier New" pitchFamily="49" charset="0"/>
              </a:rPr>
              <a:t>&gt; &lt;</a:t>
            </a:r>
            <a:r>
              <a:rPr lang="en-US" dirty="0" err="1">
                <a:latin typeface="Courier New" pitchFamily="49" charset="0"/>
                <a:cs typeface="Courier New" pitchFamily="49" charset="0"/>
              </a:rPr>
              <a:t>dd</a:t>
            </a:r>
            <a:r>
              <a:rPr lang="en-US" dirty="0">
                <a:latin typeface="Courier New" pitchFamily="49" charset="0"/>
                <a:cs typeface="Courier New" pitchFamily="49" charset="0"/>
              </a:rPr>
              <a:t>&gt;to soundly defeat (e.g. I owned that newbie</a:t>
            </a:r>
            <a:r>
              <a:rPr lang="en-US" dirty="0" smtClean="0">
                <a:latin typeface="Courier New" pitchFamily="49" charset="0"/>
                <a:cs typeface="Courier New" pitchFamily="49" charset="0"/>
              </a:rPr>
              <a:t>!)&lt;/</a:t>
            </a:r>
            <a:r>
              <a:rPr lang="en-US" dirty="0" err="1" smtClean="0">
                <a:latin typeface="Courier New" pitchFamily="49" charset="0"/>
                <a:cs typeface="Courier New" pitchFamily="49" charset="0"/>
              </a:rPr>
              <a:t>dd</a:t>
            </a:r>
            <a:r>
              <a:rPr lang="en-US" dirty="0" smtClean="0">
                <a:latin typeface="Courier New" pitchFamily="49" charset="0"/>
                <a:cs typeface="Courier New" pitchFamily="49" charset="0"/>
              </a:rPr>
              <a:t>&gt;</a:t>
            </a:r>
          </a:p>
          <a:p>
            <a:r>
              <a:rPr lang="en-US" dirty="0" smtClean="0">
                <a:latin typeface="Courier New" pitchFamily="49" charset="0"/>
                <a:cs typeface="Courier New" pitchFamily="49" charset="0"/>
              </a:rPr>
              <a:t>   &lt;</a:t>
            </a:r>
            <a:r>
              <a:rPr lang="en-US" dirty="0" err="1">
                <a:latin typeface="Courier New" pitchFamily="49" charset="0"/>
                <a:cs typeface="Courier New" pitchFamily="49" charset="0"/>
              </a:rPr>
              <a:t>dt</a:t>
            </a:r>
            <a:r>
              <a:rPr lang="en-US" dirty="0">
                <a:latin typeface="Courier New" pitchFamily="49" charset="0"/>
                <a:cs typeface="Courier New" pitchFamily="49" charset="0"/>
              </a:rPr>
              <a:t>&gt;frag&lt;/</a:t>
            </a:r>
            <a:r>
              <a:rPr lang="en-US" dirty="0" err="1">
                <a:latin typeface="Courier New" pitchFamily="49" charset="0"/>
                <a:cs typeface="Courier New" pitchFamily="49" charset="0"/>
              </a:rPr>
              <a:t>dt</a:t>
            </a:r>
            <a:r>
              <a:rPr lang="en-US" dirty="0">
                <a:latin typeface="Courier New" pitchFamily="49" charset="0"/>
                <a:cs typeface="Courier New" pitchFamily="49" charset="0"/>
              </a:rPr>
              <a:t>&gt; &lt;</a:t>
            </a:r>
            <a:r>
              <a:rPr lang="en-US" dirty="0" err="1">
                <a:latin typeface="Courier New" pitchFamily="49" charset="0"/>
                <a:cs typeface="Courier New" pitchFamily="49" charset="0"/>
              </a:rPr>
              <a:t>dd</a:t>
            </a:r>
            <a:r>
              <a:rPr lang="en-US" dirty="0">
                <a:latin typeface="Courier New" pitchFamily="49" charset="0"/>
                <a:cs typeface="Courier New" pitchFamily="49" charset="0"/>
              </a:rPr>
              <a:t>&gt;a kill in a shooting game&lt;/</a:t>
            </a:r>
            <a:r>
              <a:rPr lang="en-US" dirty="0" err="1">
                <a:latin typeface="Courier New" pitchFamily="49" charset="0"/>
                <a:cs typeface="Courier New" pitchFamily="49" charset="0"/>
              </a:rPr>
              <a:t>dd</a:t>
            </a:r>
            <a:r>
              <a:rPr lang="en-US" dirty="0">
                <a:latin typeface="Courier New" pitchFamily="49" charset="0"/>
                <a:cs typeface="Courier New" pitchFamily="49" charset="0"/>
              </a:rPr>
              <a:t>&gt;</a:t>
            </a:r>
          </a:p>
          <a:p>
            <a:r>
              <a:rPr lang="en-US" dirty="0">
                <a:latin typeface="Courier New" pitchFamily="49" charset="0"/>
                <a:cs typeface="Courier New" pitchFamily="49" charset="0"/>
              </a:rPr>
              <a:t>&lt;/dl&gt;</a:t>
            </a:r>
            <a:r>
              <a:rPr lang="en-US" dirty="0" smtClean="0">
                <a:latin typeface="Courier New" pitchFamily="49" charset="0"/>
                <a:cs typeface="Courier New" pitchFamily="49" charset="0"/>
              </a:rPr>
              <a:t>			</a:t>
            </a:r>
            <a:r>
              <a:rPr lang="en-US" dirty="0">
                <a:latin typeface="Courier New" pitchFamily="49" charset="0"/>
                <a:cs typeface="Courier New" pitchFamily="49" charset="0"/>
              </a:rPr>
              <a:t> </a:t>
            </a:r>
            <a:r>
              <a:rPr lang="en-US" dirty="0" smtClean="0">
                <a:latin typeface="Courier New" pitchFamily="49" charset="0"/>
                <a:cs typeface="Courier New" pitchFamily="49" charset="0"/>
              </a:rPr>
              <a:t>                                                      </a:t>
            </a:r>
            <a:r>
              <a:rPr lang="en-US" b="1" dirty="0" smtClean="0">
                <a:solidFill>
                  <a:schemeClr val="bg1">
                    <a:lumMod val="65000"/>
                  </a:schemeClr>
                </a:solidFill>
                <a:latin typeface="Consolas" pitchFamily="49" charset="0"/>
                <a:cs typeface="Consolas" pitchFamily="49" charset="0"/>
              </a:rPr>
              <a:t>HTML</a:t>
            </a:r>
          </a:p>
        </p:txBody>
      </p:sp>
      <p:sp>
        <p:nvSpPr>
          <p:cNvPr id="7" name="TextBox 6"/>
          <p:cNvSpPr txBox="1"/>
          <p:nvPr/>
        </p:nvSpPr>
        <p:spPr>
          <a:xfrm>
            <a:off x="1097280" y="3329319"/>
            <a:ext cx="10058400" cy="1938992"/>
          </a:xfrm>
          <a:prstGeom prst="rect">
            <a:avLst/>
          </a:prstGeom>
          <a:noFill/>
          <a:ln w="19050">
            <a:solidFill>
              <a:schemeClr val="tx1"/>
            </a:solidFill>
          </a:ln>
        </p:spPr>
        <p:txBody>
          <a:bodyPr wrap="square" rtlCol="0">
            <a:spAutoFit/>
          </a:bodyPr>
          <a:lstStyle/>
          <a:p>
            <a:r>
              <a:rPr lang="en-US" sz="2000" dirty="0">
                <a:latin typeface="Times New Roman" pitchFamily="18" charset="0"/>
                <a:cs typeface="Times New Roman" pitchFamily="18" charset="0"/>
              </a:rPr>
              <a:t>newbie</a:t>
            </a:r>
          </a:p>
          <a:p>
            <a:r>
              <a:rPr lang="en-US" sz="2000" dirty="0" smtClean="0">
                <a:latin typeface="Times New Roman" pitchFamily="18" charset="0"/>
                <a:cs typeface="Times New Roman" pitchFamily="18" charset="0"/>
              </a:rPr>
              <a:t>	one </a:t>
            </a:r>
            <a:r>
              <a:rPr lang="en-US" sz="2000" dirty="0">
                <a:latin typeface="Times New Roman" pitchFamily="18" charset="0"/>
                <a:cs typeface="Times New Roman" pitchFamily="18" charset="0"/>
              </a:rPr>
              <a:t>who does not have mad skills</a:t>
            </a:r>
          </a:p>
          <a:p>
            <a:r>
              <a:rPr lang="en-US" sz="2000" dirty="0" smtClean="0">
                <a:latin typeface="Times New Roman" pitchFamily="18" charset="0"/>
                <a:cs typeface="Times New Roman" pitchFamily="18" charset="0"/>
              </a:rPr>
              <a:t>own</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	to soundly defeat (e.g. I owned that newbie!)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frag</a:t>
            </a:r>
            <a:endParaRPr lang="en-US" sz="2000" dirty="0">
              <a:latin typeface="Times New Roman" pitchFamily="18" charset="0"/>
              <a:cs typeface="Times New Roman" pitchFamily="18" charset="0"/>
            </a:endParaRPr>
          </a:p>
          <a:p>
            <a:r>
              <a:rPr lang="en-US" sz="2000" dirty="0" smtClean="0">
                <a:latin typeface="Times New Roman" pitchFamily="18" charset="0"/>
                <a:cs typeface="Times New Roman" pitchFamily="18" charset="0"/>
              </a:rPr>
              <a:t>	a </a:t>
            </a:r>
            <a:r>
              <a:rPr lang="en-US" sz="2000" dirty="0">
                <a:latin typeface="Times New Roman" pitchFamily="18" charset="0"/>
                <a:cs typeface="Times New Roman" pitchFamily="18" charset="0"/>
              </a:rPr>
              <a:t>kill in a shooting game</a:t>
            </a:r>
            <a:r>
              <a:rPr lang="en-US" dirty="0" smtClean="0">
                <a:latin typeface="Consolas" pitchFamily="49" charset="0"/>
                <a:cs typeface="Consolas" pitchFamily="49" charset="0"/>
              </a:rPr>
              <a:t>	                                               </a:t>
            </a:r>
            <a:r>
              <a:rPr lang="en-US" b="1" dirty="0" smtClean="0">
                <a:solidFill>
                  <a:schemeClr val="bg1">
                    <a:lumMod val="65000"/>
                  </a:schemeClr>
                </a:solidFill>
                <a:latin typeface="Consolas" pitchFamily="49" charset="0"/>
                <a:cs typeface="Consolas" pitchFamily="49" charset="0"/>
              </a:rPr>
              <a:t>output</a:t>
            </a:r>
          </a:p>
        </p:txBody>
      </p:sp>
    </p:spTree>
    <p:extLst>
      <p:ext uri="{BB962C8B-B14F-4D97-AF65-F5344CB8AC3E}">
        <p14:creationId xmlns:p14="http://schemas.microsoft.com/office/powerpoint/2010/main" val="15454473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page metadata: &lt;meta&gt;</a:t>
            </a:r>
          </a:p>
        </p:txBody>
      </p:sp>
      <p:sp>
        <p:nvSpPr>
          <p:cNvPr id="3" name="Content Placeholder 2"/>
          <p:cNvSpPr>
            <a:spLocks noGrp="1"/>
          </p:cNvSpPr>
          <p:nvPr>
            <p:ph idx="1"/>
          </p:nvPr>
        </p:nvSpPr>
        <p:spPr>
          <a:xfrm>
            <a:off x="1097280" y="1845734"/>
            <a:ext cx="10058400" cy="489962"/>
          </a:xfrm>
        </p:spPr>
        <p:txBody>
          <a:bodyPr/>
          <a:lstStyle/>
          <a:p>
            <a:pPr algn="ctr"/>
            <a:r>
              <a:rPr lang="en-US" i="1" dirty="0"/>
              <a:t>information about your page (for a browser, search engine, etc.) </a:t>
            </a:r>
          </a:p>
        </p:txBody>
      </p:sp>
      <p:sp>
        <p:nvSpPr>
          <p:cNvPr id="6" name="Rectangle 5"/>
          <p:cNvSpPr/>
          <p:nvPr/>
        </p:nvSpPr>
        <p:spPr>
          <a:xfrm>
            <a:off x="1097280" y="2550540"/>
            <a:ext cx="10058400" cy="1107996"/>
          </a:xfrm>
          <a:prstGeom prst="rect">
            <a:avLst/>
          </a:prstGeom>
          <a:solidFill>
            <a:srgbClr val="E5F5FF"/>
          </a:solidFill>
          <a:ln w="19050">
            <a:solidFill>
              <a:schemeClr val="tx1"/>
            </a:solidFill>
          </a:ln>
        </p:spPr>
        <p:txBody>
          <a:bodyPr wrap="square">
            <a:spAutoFit/>
          </a:bodyPr>
          <a:lstStyle/>
          <a:p>
            <a:r>
              <a:rPr lang="en-US" sz="2200" dirty="0"/>
              <a:t>&lt;meta charset="utf-8" /&gt;</a:t>
            </a:r>
          </a:p>
          <a:p>
            <a:r>
              <a:rPr lang="en-US" sz="2200" dirty="0"/>
              <a:t>&lt;meta name="</a:t>
            </a:r>
            <a:r>
              <a:rPr lang="en-US" sz="2200" dirty="0" smtClean="0"/>
              <a:t>description“ content</a:t>
            </a:r>
            <a:r>
              <a:rPr lang="en-US" sz="2200" dirty="0"/>
              <a:t>="Authors' web site for Building Java Programs." /&gt;</a:t>
            </a:r>
          </a:p>
          <a:p>
            <a:r>
              <a:rPr lang="en-US" sz="2200" dirty="0"/>
              <a:t>&lt;meta name="keywords" content="java, textbook" </a:t>
            </a:r>
            <a:r>
              <a:rPr lang="en-US" sz="2200" dirty="0" smtClean="0"/>
              <a:t>/&gt;                                              </a:t>
            </a:r>
            <a:r>
              <a:rPr lang="en-US" sz="2200" b="1" dirty="0" smtClean="0">
                <a:solidFill>
                  <a:schemeClr val="bg1">
                    <a:lumMod val="65000"/>
                  </a:schemeClr>
                </a:solidFill>
              </a:rPr>
              <a:t>HTML</a:t>
            </a:r>
            <a:endParaRPr lang="en-US" sz="2200" b="1" dirty="0">
              <a:solidFill>
                <a:schemeClr val="bg1">
                  <a:lumMod val="65000"/>
                </a:schemeClr>
              </a:solidFill>
            </a:endParaRPr>
          </a:p>
        </p:txBody>
      </p:sp>
      <p:sp>
        <p:nvSpPr>
          <p:cNvPr id="7" name="Rectangle 6"/>
          <p:cNvSpPr/>
          <p:nvPr/>
        </p:nvSpPr>
        <p:spPr>
          <a:xfrm>
            <a:off x="1097280" y="3658536"/>
            <a:ext cx="10058400" cy="2677656"/>
          </a:xfrm>
          <a:prstGeom prst="rect">
            <a:avLst/>
          </a:prstGeom>
        </p:spPr>
        <p:txBody>
          <a:bodyPr wrap="square">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    placed </a:t>
            </a:r>
            <a:r>
              <a:rPr lang="en-US" sz="2400" b="1" dirty="0"/>
              <a:t>in the head</a:t>
            </a:r>
            <a:r>
              <a:rPr lang="en-US" sz="2400" dirty="0"/>
              <a:t> section of your HTML page</a:t>
            </a:r>
          </a:p>
          <a:p>
            <a:pPr marL="285750" indent="-285750">
              <a:buFont typeface="Arial" panose="020B0604020202020204" pitchFamily="34" charset="0"/>
              <a:buChar char="•"/>
            </a:pPr>
            <a:r>
              <a:rPr lang="en-US" sz="2400" dirty="0"/>
              <a:t>    meta tags often have both the name and content attributes</a:t>
            </a:r>
          </a:p>
          <a:p>
            <a:pPr marL="742950" lvl="1" indent="-285750">
              <a:buFont typeface="Arial" panose="020B0604020202020204" pitchFamily="34" charset="0"/>
              <a:buChar char="•"/>
            </a:pPr>
            <a:r>
              <a:rPr lang="en-US" sz="2400" dirty="0"/>
              <a:t>        some meta tags use the http-</a:t>
            </a:r>
            <a:r>
              <a:rPr lang="en-US" sz="2400" dirty="0" err="1"/>
              <a:t>equiv</a:t>
            </a:r>
            <a:r>
              <a:rPr lang="en-US" sz="2400" dirty="0"/>
              <a:t> attribute instead of name</a:t>
            </a:r>
          </a:p>
          <a:p>
            <a:pPr marL="742950" lvl="1" indent="-285750">
              <a:buFont typeface="Arial" panose="020B0604020202020204" pitchFamily="34" charset="0"/>
              <a:buChar char="•"/>
            </a:pPr>
            <a:r>
              <a:rPr lang="en-US" sz="2400" dirty="0"/>
              <a:t>        the meta tag with charset attribute indicates language/character </a:t>
            </a:r>
            <a:r>
              <a:rPr lang="en-US" sz="2400" dirty="0" smtClean="0"/>
              <a:t>  encodings</a:t>
            </a:r>
            <a:endParaRPr lang="en-US" sz="2400" dirty="0"/>
          </a:p>
          <a:p>
            <a:pPr marL="285750" indent="-285750">
              <a:buFont typeface="Arial" panose="020B0604020202020204" pitchFamily="34" charset="0"/>
              <a:buChar char="•"/>
            </a:pPr>
            <a:r>
              <a:rPr lang="en-US" sz="2400" dirty="0"/>
              <a:t>    using a meta tag Content-Type stops validator "tentatively valid" warnings</a:t>
            </a:r>
          </a:p>
        </p:txBody>
      </p:sp>
    </p:spTree>
    <p:extLst>
      <p:ext uri="{BB962C8B-B14F-4D97-AF65-F5344CB8AC3E}">
        <p14:creationId xmlns:p14="http://schemas.microsoft.com/office/powerpoint/2010/main" val="5009595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Favorites icon ("favicon</a:t>
            </a:r>
            <a:r>
              <a:rPr lang="en-US" b="1" dirty="0" smtClean="0"/>
              <a:t>")</a:t>
            </a:r>
            <a:endParaRPr lang="en-US" dirty="0"/>
          </a:p>
        </p:txBody>
      </p:sp>
      <p:sp>
        <p:nvSpPr>
          <p:cNvPr id="3" name="Content Placeholder 2"/>
          <p:cNvSpPr>
            <a:spLocks noGrp="1"/>
          </p:cNvSpPr>
          <p:nvPr>
            <p:ph idx="1"/>
          </p:nvPr>
        </p:nvSpPr>
        <p:spPr>
          <a:xfrm>
            <a:off x="1097280" y="1845734"/>
            <a:ext cx="10058400" cy="410449"/>
          </a:xfrm>
          <a:solidFill>
            <a:srgbClr val="E5F5FF"/>
          </a:solidFill>
          <a:ln w="19050">
            <a:solidFill>
              <a:schemeClr val="tx1"/>
            </a:solidFill>
          </a:ln>
        </p:spPr>
        <p:txBody>
          <a:bodyPr>
            <a:normAutofit/>
          </a:bodyPr>
          <a:lstStyle/>
          <a:p>
            <a:r>
              <a:rPr lang="en-US" sz="1800" dirty="0">
                <a:latin typeface="Courier New" panose="02070309020205020404" pitchFamily="49" charset="0"/>
                <a:cs typeface="Courier New" panose="02070309020205020404" pitchFamily="49" charset="0"/>
              </a:rPr>
              <a:t>&lt;link </a:t>
            </a:r>
            <a:r>
              <a:rPr lang="en-US" sz="1800" dirty="0" err="1">
                <a:latin typeface="Courier New" panose="02070309020205020404" pitchFamily="49" charset="0"/>
                <a:cs typeface="Courier New" panose="02070309020205020404" pitchFamily="49" charset="0"/>
              </a:rPr>
              <a:t>href</a:t>
            </a:r>
            <a:r>
              <a:rPr lang="en-US" sz="1800" dirty="0">
                <a:latin typeface="Courier New" panose="02070309020205020404" pitchFamily="49" charset="0"/>
                <a:cs typeface="Courier New" panose="02070309020205020404" pitchFamily="49" charset="0"/>
              </a:rPr>
              <a:t>="filename" type="MIME type" </a:t>
            </a:r>
            <a:r>
              <a:rPr lang="en-US" sz="1800" dirty="0" err="1">
                <a:latin typeface="Courier New" panose="02070309020205020404" pitchFamily="49" charset="0"/>
                <a:cs typeface="Courier New" panose="02070309020205020404" pitchFamily="49" charset="0"/>
              </a:rPr>
              <a:t>rel</a:t>
            </a:r>
            <a:r>
              <a:rPr lang="en-US" sz="1800" dirty="0">
                <a:latin typeface="Courier New" panose="02070309020205020404" pitchFamily="49" charset="0"/>
                <a:cs typeface="Courier New" panose="02070309020205020404" pitchFamily="49" charset="0"/>
              </a:rPr>
              <a:t>="shortcut icon" </a:t>
            </a:r>
            <a:r>
              <a:rPr lang="en-US" sz="1800" dirty="0" smtClean="0">
                <a:latin typeface="Courier New" panose="02070309020205020404" pitchFamily="49" charset="0"/>
                <a:cs typeface="Courier New" panose="02070309020205020404" pitchFamily="49" charset="0"/>
              </a:rPr>
              <a:t>/&gt;       </a:t>
            </a:r>
            <a:r>
              <a:rPr lang="en-US" sz="1800" b="1" dirty="0" smtClean="0">
                <a:solidFill>
                  <a:schemeClr val="bg1">
                    <a:lumMod val="65000"/>
                  </a:schemeClr>
                </a:solidFill>
                <a:latin typeface="Courier New" panose="02070309020205020404" pitchFamily="49" charset="0"/>
                <a:cs typeface="Courier New" panose="02070309020205020404" pitchFamily="49" charset="0"/>
              </a:rPr>
              <a:t>HTML</a:t>
            </a:r>
            <a:endParaRPr lang="en-US" sz="1800" b="1" dirty="0">
              <a:solidFill>
                <a:schemeClr val="bg1">
                  <a:lumMod val="65000"/>
                </a:schemeClr>
              </a:solidFill>
              <a:latin typeface="Courier New" panose="02070309020205020404" pitchFamily="49" charset="0"/>
              <a:cs typeface="Courier New" panose="02070309020205020404" pitchFamily="49" charset="0"/>
            </a:endParaRPr>
          </a:p>
        </p:txBody>
      </p:sp>
      <p:sp>
        <p:nvSpPr>
          <p:cNvPr id="5" name="Rectangle 4"/>
          <p:cNvSpPr/>
          <p:nvPr/>
        </p:nvSpPr>
        <p:spPr>
          <a:xfrm>
            <a:off x="1097280" y="2667864"/>
            <a:ext cx="10058400" cy="369332"/>
          </a:xfrm>
          <a:prstGeom prst="rect">
            <a:avLst/>
          </a:prstGeom>
          <a:solidFill>
            <a:srgbClr val="E5F5FF"/>
          </a:solidFill>
          <a:ln w="19050">
            <a:solidFill>
              <a:schemeClr val="tx1"/>
            </a:solidFill>
          </a:ln>
        </p:spPr>
        <p:txBody>
          <a:bodyPr wrap="square">
            <a:spAutoFit/>
          </a:bodyPr>
          <a:lstStyle/>
          <a:p>
            <a:r>
              <a:rPr lang="en-US" dirty="0">
                <a:latin typeface="Courier New" panose="02070309020205020404" pitchFamily="49" charset="0"/>
                <a:cs typeface="Courier New" panose="02070309020205020404" pitchFamily="49" charset="0"/>
              </a:rPr>
              <a:t>&lt;link </a:t>
            </a:r>
            <a:r>
              <a:rPr lang="en-US" dirty="0" err="1">
                <a:latin typeface="Courier New" panose="02070309020205020404" pitchFamily="49" charset="0"/>
                <a:cs typeface="Courier New" panose="02070309020205020404" pitchFamily="49" charset="0"/>
              </a:rPr>
              <a:t>href</a:t>
            </a:r>
            <a:r>
              <a:rPr lang="en-US" dirty="0">
                <a:latin typeface="Courier New" panose="02070309020205020404" pitchFamily="49" charset="0"/>
                <a:cs typeface="Courier New" panose="02070309020205020404" pitchFamily="49" charset="0"/>
              </a:rPr>
              <a:t>="yahoo.gif" type="image/gif" </a:t>
            </a:r>
            <a:r>
              <a:rPr lang="en-US" dirty="0" err="1">
                <a:latin typeface="Courier New" panose="02070309020205020404" pitchFamily="49" charset="0"/>
                <a:cs typeface="Courier New" panose="02070309020205020404" pitchFamily="49" charset="0"/>
              </a:rPr>
              <a:t>rel</a:t>
            </a:r>
            <a:r>
              <a:rPr lang="en-US" dirty="0">
                <a:latin typeface="Courier New" panose="02070309020205020404" pitchFamily="49" charset="0"/>
                <a:cs typeface="Courier New" panose="02070309020205020404" pitchFamily="49" charset="0"/>
              </a:rPr>
              <a:t>="shortcut icon" </a:t>
            </a:r>
            <a:r>
              <a:rPr lang="en-US" dirty="0" smtClean="0">
                <a:latin typeface="Courier New" panose="02070309020205020404" pitchFamily="49" charset="0"/>
                <a:cs typeface="Courier New" panose="02070309020205020404" pitchFamily="49" charset="0"/>
              </a:rPr>
              <a:t>/&gt;      </a:t>
            </a:r>
            <a:r>
              <a:rPr lang="en-US" b="1" dirty="0" smtClean="0">
                <a:solidFill>
                  <a:schemeClr val="bg1">
                    <a:lumMod val="65000"/>
                  </a:schemeClr>
                </a:solidFill>
                <a:latin typeface="Courier New" panose="02070309020205020404" pitchFamily="49" charset="0"/>
                <a:cs typeface="Courier New" panose="02070309020205020404" pitchFamily="49" charset="0"/>
              </a:rPr>
              <a:t>HTML</a:t>
            </a:r>
            <a:endParaRPr lang="en-US" b="1" dirty="0">
              <a:solidFill>
                <a:schemeClr val="bg1">
                  <a:lumMod val="65000"/>
                </a:schemeClr>
              </a:solidFill>
              <a:latin typeface="Courier New" panose="02070309020205020404" pitchFamily="49" charset="0"/>
              <a:cs typeface="Courier New" panose="02070309020205020404" pitchFamily="49" charset="0"/>
            </a:endParaRPr>
          </a:p>
        </p:txBody>
      </p:sp>
      <p:pic>
        <p:nvPicPr>
          <p:cNvPr id="5123" name="Picture 3" descr="favic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1712" y="3166525"/>
            <a:ext cx="2428875" cy="1114425"/>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descr="fav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5019" y="3336609"/>
            <a:ext cx="1828800" cy="6096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097280" y="3037196"/>
            <a:ext cx="10058400" cy="1200329"/>
          </a:xfrm>
          <a:prstGeom prst="rect">
            <a:avLst/>
          </a:prstGeom>
          <a:noFill/>
          <a:ln w="19050">
            <a:solidFill>
              <a:schemeClr val="tx1"/>
            </a:solidFill>
          </a:ln>
        </p:spPr>
        <p:txBody>
          <a:bodyPr wrap="square" rtlCol="0">
            <a:spAutoFit/>
          </a:bodyPr>
          <a:lstStyle/>
          <a:p>
            <a:r>
              <a:rPr lang="en-US" dirty="0" smtClean="0"/>
              <a:t>         </a:t>
            </a:r>
          </a:p>
          <a:p>
            <a:endParaRPr lang="en-US" dirty="0"/>
          </a:p>
          <a:p>
            <a:endParaRPr lang="en-US" dirty="0" smtClean="0"/>
          </a:p>
          <a:p>
            <a:r>
              <a:rPr lang="en-US" dirty="0"/>
              <a:t> </a:t>
            </a:r>
            <a:r>
              <a:rPr lang="en-US" dirty="0" smtClean="0"/>
              <a:t>                                                                                                                                                                               </a:t>
            </a:r>
            <a:r>
              <a:rPr lang="en-US" b="1" dirty="0" smtClean="0">
                <a:solidFill>
                  <a:schemeClr val="bg1">
                    <a:lumMod val="65000"/>
                  </a:schemeClr>
                </a:solidFill>
              </a:rPr>
              <a:t>output</a:t>
            </a:r>
            <a:endParaRPr lang="en-US" b="1" dirty="0">
              <a:solidFill>
                <a:schemeClr val="bg1">
                  <a:lumMod val="65000"/>
                </a:schemeClr>
              </a:solidFill>
            </a:endParaRPr>
          </a:p>
        </p:txBody>
      </p:sp>
      <p:sp>
        <p:nvSpPr>
          <p:cNvPr id="8" name="Rectangle 7"/>
          <p:cNvSpPr/>
          <p:nvPr/>
        </p:nvSpPr>
        <p:spPr>
          <a:xfrm>
            <a:off x="1097280" y="4237525"/>
            <a:ext cx="10058400" cy="1938992"/>
          </a:xfrm>
          <a:prstGeom prst="rect">
            <a:avLst/>
          </a:prstGeom>
        </p:spPr>
        <p:txBody>
          <a:bodyPr wrap="square">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    the link tag, placed in the head section, attaches another file to the page</a:t>
            </a:r>
          </a:p>
          <a:p>
            <a:pPr marL="800100" lvl="1" indent="-342900">
              <a:buFont typeface="Arial" panose="020B0604020202020204" pitchFamily="34" charset="0"/>
              <a:buChar char="•"/>
            </a:pPr>
            <a:r>
              <a:rPr lang="en-US" sz="2400" dirty="0"/>
              <a:t>        in this case, an icon to be placed in the browser title bar and bookmarks</a:t>
            </a:r>
          </a:p>
          <a:p>
            <a:pPr marL="342900" indent="-342900">
              <a:buFont typeface="Arial" panose="020B0604020202020204" pitchFamily="34" charset="0"/>
              <a:buChar char="•"/>
            </a:pPr>
            <a:r>
              <a:rPr lang="en-US" sz="2400" dirty="0"/>
              <a:t>    IE6: Doesn't work; must put a file favicon.ico in the root of the web server </a:t>
            </a:r>
          </a:p>
        </p:txBody>
      </p:sp>
    </p:spTree>
    <p:extLst>
      <p:ext uri="{BB962C8B-B14F-4D97-AF65-F5344CB8AC3E}">
        <p14:creationId xmlns:p14="http://schemas.microsoft.com/office/powerpoint/2010/main" val="2641397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Web </a:t>
            </a:r>
            <a:r>
              <a:rPr lang="en-US" b="1" dirty="0" smtClean="0"/>
              <a:t>Standards</a:t>
            </a:r>
            <a:endParaRPr lang="en-US" dirty="0"/>
          </a:p>
        </p:txBody>
      </p:sp>
      <p:sp>
        <p:nvSpPr>
          <p:cNvPr id="3" name="Content Placeholder 2"/>
          <p:cNvSpPr>
            <a:spLocks noGrp="1"/>
          </p:cNvSpPr>
          <p:nvPr>
            <p:ph idx="1"/>
          </p:nvPr>
        </p:nvSpPr>
        <p:spPr/>
        <p:txBody>
          <a:bodyPr/>
          <a:lstStyle/>
          <a:p>
            <a:r>
              <a:rPr lang="en-US" sz="2400" dirty="0"/>
              <a:t>It is important to write proper HTML code and follow proper syntax. </a:t>
            </a:r>
          </a:p>
          <a:p>
            <a:r>
              <a:rPr lang="en-US" sz="2400" dirty="0"/>
              <a:t>Why use valid HTML and web standards? </a:t>
            </a:r>
          </a:p>
          <a:p>
            <a:pPr lvl="1"/>
            <a:r>
              <a:rPr lang="en-US" sz="2400" dirty="0"/>
              <a:t>more rigid and structured language</a:t>
            </a:r>
          </a:p>
          <a:p>
            <a:pPr lvl="1"/>
            <a:r>
              <a:rPr lang="en-US" sz="2400" dirty="0"/>
              <a:t>more interoperable across different web browsers</a:t>
            </a:r>
          </a:p>
          <a:p>
            <a:pPr lvl="1"/>
            <a:r>
              <a:rPr lang="en-US" sz="2400" dirty="0"/>
              <a:t>more likely that our pages will display correctly in the future</a:t>
            </a:r>
          </a:p>
          <a:p>
            <a:pPr lvl="1"/>
            <a:r>
              <a:rPr lang="en-US" sz="2400" dirty="0"/>
              <a:t>can be interchanged with other XML data: </a:t>
            </a:r>
            <a:r>
              <a:rPr lang="en-US" sz="2400" dirty="0">
                <a:hlinkClick r:id="rId2"/>
              </a:rPr>
              <a:t>SVG</a:t>
            </a:r>
            <a:r>
              <a:rPr lang="en-US" sz="2400" dirty="0"/>
              <a:t> (graphics), </a:t>
            </a:r>
            <a:r>
              <a:rPr lang="en-US" sz="2400" dirty="0" err="1">
                <a:hlinkClick r:id="rId3"/>
              </a:rPr>
              <a:t>MathML</a:t>
            </a:r>
            <a:r>
              <a:rPr lang="en-US" sz="2400" dirty="0"/>
              <a:t>, </a:t>
            </a:r>
            <a:r>
              <a:rPr lang="en-US" sz="2400" dirty="0" err="1">
                <a:hlinkClick r:id="rId4"/>
              </a:rPr>
              <a:t>MusicML</a:t>
            </a:r>
            <a:r>
              <a:rPr lang="en-US" sz="2400" dirty="0"/>
              <a:t>, </a:t>
            </a:r>
            <a:r>
              <a:rPr lang="en-US" sz="2400" dirty="0">
                <a:hlinkClick r:id="rId5"/>
              </a:rPr>
              <a:t>etc.</a:t>
            </a:r>
            <a:endParaRPr lang="en-US" sz="2400" dirty="0"/>
          </a:p>
          <a:p>
            <a:endParaRPr lang="en-US" dirty="0"/>
          </a:p>
        </p:txBody>
      </p:sp>
    </p:spTree>
    <p:extLst>
      <p:ext uri="{BB962C8B-B14F-4D97-AF65-F5344CB8AC3E}">
        <p14:creationId xmlns:p14="http://schemas.microsoft.com/office/powerpoint/2010/main" val="347238326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Tips for Testing Web Pages</a:t>
            </a:r>
            <a:endParaRPr lang="en-GB" dirty="0"/>
          </a:p>
        </p:txBody>
      </p:sp>
      <p:sp>
        <p:nvSpPr>
          <p:cNvPr id="3" name="Content Placeholder 2"/>
          <p:cNvSpPr>
            <a:spLocks noGrp="1"/>
          </p:cNvSpPr>
          <p:nvPr>
            <p:ph idx="1"/>
          </p:nvPr>
        </p:nvSpPr>
        <p:spPr>
          <a:xfrm>
            <a:off x="1097280" y="1845733"/>
            <a:ext cx="10058400" cy="4901055"/>
          </a:xfrm>
        </p:spPr>
        <p:txBody>
          <a:bodyPr>
            <a:noAutofit/>
          </a:bodyPr>
          <a:lstStyle/>
          <a:p>
            <a:pPr>
              <a:buFont typeface="Wingdings" panose="05000000000000000000" pitchFamily="2" charset="2"/>
              <a:buChar char="Ø"/>
            </a:pPr>
            <a:r>
              <a:rPr lang="en-US" sz="1800" dirty="0" smtClean="0"/>
              <a:t>Before </a:t>
            </a:r>
            <a:r>
              <a:rPr lang="en-US" sz="1800" dirty="0"/>
              <a:t>you transfer your files, test them locally on your machine </a:t>
            </a:r>
            <a:r>
              <a:rPr lang="en-US" sz="1800" dirty="0" smtClean="0"/>
              <a:t>to ensure </a:t>
            </a:r>
            <a:r>
              <a:rPr lang="en-US" sz="1800" dirty="0"/>
              <a:t>that the links work and the content reflects the visual </a:t>
            </a:r>
            <a:r>
              <a:rPr lang="en-US" sz="1800" dirty="0" smtClean="0"/>
              <a:t>design you </a:t>
            </a:r>
            <a:r>
              <a:rPr lang="en-US" sz="1800" dirty="0"/>
              <a:t>intended. After you transfer the pages to a web server or </a:t>
            </a:r>
            <a:r>
              <a:rPr lang="en-US" sz="1800" dirty="0" smtClean="0"/>
              <a:t>removable device</a:t>
            </a:r>
            <a:r>
              <a:rPr lang="en-US" sz="1800" dirty="0"/>
              <a:t>, test them all again.</a:t>
            </a:r>
          </a:p>
          <a:p>
            <a:pPr>
              <a:buFont typeface="Wingdings" panose="05000000000000000000" pitchFamily="2" charset="2"/>
              <a:buChar char="Ø"/>
            </a:pPr>
            <a:r>
              <a:rPr lang="en-US" sz="1800" dirty="0" smtClean="0"/>
              <a:t>Perform </a:t>
            </a:r>
            <a:r>
              <a:rPr lang="en-US" sz="1800" dirty="0"/>
              <a:t>these tests with as many browsers that you can—Chrome</a:t>
            </a:r>
            <a:r>
              <a:rPr lang="en-US" sz="1800" dirty="0" smtClean="0"/>
              <a:t>, Firefox</a:t>
            </a:r>
            <a:r>
              <a:rPr lang="en-US" sz="1800" dirty="0"/>
              <a:t>, Internet Explorer, Opera, and Safari is a good list—and </a:t>
            </a:r>
            <a:r>
              <a:rPr lang="en-US" sz="1800" dirty="0" err="1" smtClean="0"/>
              <a:t>onboth</a:t>
            </a:r>
            <a:r>
              <a:rPr lang="en-US" sz="1800" dirty="0" smtClean="0"/>
              <a:t> </a:t>
            </a:r>
            <a:r>
              <a:rPr lang="en-US" sz="1800" dirty="0"/>
              <a:t>Mac and Windows platforms. If possible, check at low </a:t>
            </a:r>
            <a:r>
              <a:rPr lang="en-US" sz="1800" dirty="0" smtClean="0"/>
              <a:t>resolution (</a:t>
            </a:r>
            <a:r>
              <a:rPr lang="en-US" sz="1800" dirty="0"/>
              <a:t>800×600) and high resolution (1600×1200).</a:t>
            </a:r>
          </a:p>
          <a:p>
            <a:pPr>
              <a:buFont typeface="Wingdings" panose="05000000000000000000" pitchFamily="2" charset="2"/>
              <a:buChar char="Ø"/>
            </a:pPr>
            <a:r>
              <a:rPr lang="en-US" sz="1800" dirty="0" smtClean="0"/>
              <a:t>Turn </a:t>
            </a:r>
            <a:r>
              <a:rPr lang="en-US" sz="1800" dirty="0"/>
              <a:t>off auto image loading in your web browser before you </a:t>
            </a:r>
            <a:r>
              <a:rPr lang="en-US" sz="1800" dirty="0" smtClean="0"/>
              <a:t>start testing </a:t>
            </a:r>
            <a:r>
              <a:rPr lang="en-US" sz="1800" dirty="0"/>
              <a:t>so that you can see what each page looks like without </a:t>
            </a:r>
            <a:r>
              <a:rPr lang="en-US" sz="1800" dirty="0" smtClean="0"/>
              <a:t>the graphics</a:t>
            </a:r>
            <a:r>
              <a:rPr lang="en-US" sz="1800" dirty="0"/>
              <a:t>. Check your alt tag messages, and then turn image </a:t>
            </a:r>
            <a:r>
              <a:rPr lang="en-US" sz="1800" dirty="0" smtClean="0"/>
              <a:t>loading back </a:t>
            </a:r>
            <a:r>
              <a:rPr lang="en-US" sz="1800" dirty="0"/>
              <a:t>on to load the graphics and review the page carefully again.</a:t>
            </a:r>
          </a:p>
          <a:p>
            <a:pPr>
              <a:buFont typeface="Wingdings" panose="05000000000000000000" pitchFamily="2" charset="2"/>
              <a:buChar char="Ø"/>
            </a:pPr>
            <a:r>
              <a:rPr lang="en-US" sz="1800" dirty="0" smtClean="0"/>
              <a:t>Use </a:t>
            </a:r>
            <a:r>
              <a:rPr lang="en-US" sz="1800" dirty="0"/>
              <a:t>your browser’s font size settings to look at each page in </a:t>
            </a:r>
            <a:r>
              <a:rPr lang="en-US" sz="1800" dirty="0" smtClean="0"/>
              <a:t>various font </a:t>
            </a:r>
            <a:r>
              <a:rPr lang="en-US" sz="1800" dirty="0"/>
              <a:t>sizes to ensure that your layout doesn’t fall to pieces if </a:t>
            </a:r>
            <a:r>
              <a:rPr lang="en-US" sz="1800" dirty="0" smtClean="0"/>
              <a:t>users override </a:t>
            </a:r>
            <a:r>
              <a:rPr lang="en-US" sz="1800" dirty="0"/>
              <a:t>your font specifications with their own.</a:t>
            </a:r>
          </a:p>
          <a:p>
            <a:pPr>
              <a:buFont typeface="Wingdings" panose="05000000000000000000" pitchFamily="2" charset="2"/>
              <a:buChar char="Ø"/>
            </a:pPr>
            <a:r>
              <a:rPr lang="en-US" sz="1800" dirty="0" smtClean="0"/>
              <a:t>Wait </a:t>
            </a:r>
            <a:r>
              <a:rPr lang="en-US" sz="1800" dirty="0"/>
              <a:t>for each page to completely finish loading, and then scroll </a:t>
            </a:r>
            <a:r>
              <a:rPr lang="en-US" sz="1800" dirty="0" smtClean="0"/>
              <a:t>all the </a:t>
            </a:r>
            <a:r>
              <a:rPr lang="en-US" sz="1800" dirty="0"/>
              <a:t>way down to make sure that all images appear where </a:t>
            </a:r>
            <a:r>
              <a:rPr lang="en-US" sz="1800" dirty="0" smtClean="0"/>
              <a:t>they should</a:t>
            </a:r>
            <a:r>
              <a:rPr lang="en-US" sz="1800" dirty="0"/>
              <a:t>.</a:t>
            </a:r>
          </a:p>
          <a:p>
            <a:pPr>
              <a:buFont typeface="Wingdings" panose="05000000000000000000" pitchFamily="2" charset="2"/>
              <a:buChar char="Ø"/>
            </a:pPr>
            <a:r>
              <a:rPr lang="en-US" sz="1800" dirty="0" smtClean="0"/>
              <a:t>Time </a:t>
            </a:r>
            <a:r>
              <a:rPr lang="en-US" sz="1800" dirty="0"/>
              <a:t>how long it takes each page to load. Does it take more than </a:t>
            </a:r>
            <a:r>
              <a:rPr lang="en-US" sz="1800" dirty="0" smtClean="0"/>
              <a:t>a few </a:t>
            </a:r>
            <a:r>
              <a:rPr lang="en-US" sz="1800" dirty="0"/>
              <a:t>seconds to load? If so, is the information on that page </a:t>
            </a:r>
            <a:r>
              <a:rPr lang="en-US" sz="1800" dirty="0" smtClean="0"/>
              <a:t>valuable enough </a:t>
            </a:r>
            <a:r>
              <a:rPr lang="en-US" sz="1800" dirty="0"/>
              <a:t>to keep users from going elsewhere before the page </a:t>
            </a:r>
            <a:r>
              <a:rPr lang="en-US" sz="1800" dirty="0" smtClean="0"/>
              <a:t>finishes loading</a:t>
            </a:r>
            <a:r>
              <a:rPr lang="en-US" sz="1800" dirty="0"/>
              <a:t>?</a:t>
            </a:r>
            <a:endParaRPr lang="en-GB" sz="1800" dirty="0"/>
          </a:p>
        </p:txBody>
      </p:sp>
    </p:spTree>
    <p:extLst>
      <p:ext uri="{BB962C8B-B14F-4D97-AF65-F5344CB8AC3E}">
        <p14:creationId xmlns:p14="http://schemas.microsoft.com/office/powerpoint/2010/main" val="123375709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351" y="286603"/>
            <a:ext cx="10970329" cy="1450757"/>
          </a:xfrm>
        </p:spPr>
        <p:txBody>
          <a:bodyPr/>
          <a:lstStyle/>
          <a:p>
            <a:r>
              <a:rPr lang="en-GB" dirty="0" smtClean="0"/>
              <a:t>Validating a Web Page</a:t>
            </a:r>
            <a:endParaRPr lang="en-GB" dirty="0"/>
          </a:p>
        </p:txBody>
      </p:sp>
      <p:sp>
        <p:nvSpPr>
          <p:cNvPr id="3" name="Content Placeholder 2"/>
          <p:cNvSpPr>
            <a:spLocks noGrp="1"/>
          </p:cNvSpPr>
          <p:nvPr>
            <p:ph idx="1"/>
          </p:nvPr>
        </p:nvSpPr>
        <p:spPr>
          <a:xfrm>
            <a:off x="158166" y="1833377"/>
            <a:ext cx="5958428" cy="4592136"/>
          </a:xfrm>
        </p:spPr>
        <p:txBody>
          <a:bodyPr/>
          <a:lstStyle/>
          <a:p>
            <a:endParaRPr lang="en-GB" dirty="0" smtClean="0"/>
          </a:p>
          <a:p>
            <a:pPr>
              <a:buFont typeface="Wingdings" panose="05000000000000000000" pitchFamily="2" charset="2"/>
              <a:buChar char="Ø"/>
            </a:pPr>
            <a:r>
              <a:rPr lang="en-US" dirty="0" smtClean="0"/>
              <a:t>One way </a:t>
            </a:r>
            <a:r>
              <a:rPr lang="en-US" dirty="0"/>
              <a:t>to test your pages is to validate </a:t>
            </a:r>
            <a:r>
              <a:rPr lang="en-US" dirty="0" smtClean="0"/>
              <a:t>them</a:t>
            </a:r>
          </a:p>
          <a:p>
            <a:pPr>
              <a:buFont typeface="Wingdings" panose="05000000000000000000" pitchFamily="2" charset="2"/>
              <a:buChar char="Ø"/>
            </a:pPr>
            <a:r>
              <a:rPr lang="en-US" dirty="0" smtClean="0"/>
              <a:t>Validation </a:t>
            </a:r>
            <a:r>
              <a:rPr lang="en-US" dirty="0"/>
              <a:t>is the process of testing your pages with a special </a:t>
            </a:r>
            <a:r>
              <a:rPr lang="en-US" dirty="0" smtClean="0"/>
              <a:t>application that </a:t>
            </a:r>
            <a:r>
              <a:rPr lang="en-US" dirty="0"/>
              <a:t>searches for errors and makes sure your pages follow the </a:t>
            </a:r>
            <a:r>
              <a:rPr lang="en-US" dirty="0" smtClean="0"/>
              <a:t>strict XHTML/HTML 5 </a:t>
            </a:r>
            <a:r>
              <a:rPr lang="en-US" dirty="0"/>
              <a:t>standard. </a:t>
            </a:r>
            <a:endParaRPr lang="en-US" dirty="0" smtClean="0"/>
          </a:p>
          <a:p>
            <a:pPr>
              <a:buFont typeface="Wingdings" panose="05000000000000000000" pitchFamily="2" charset="2"/>
              <a:buChar char="Ø"/>
            </a:pPr>
            <a:r>
              <a:rPr lang="en-US" dirty="0" smtClean="0"/>
              <a:t>The </a:t>
            </a:r>
            <a:r>
              <a:rPr lang="en-US" dirty="0"/>
              <a:t>standards body </a:t>
            </a:r>
            <a:r>
              <a:rPr lang="en-US" dirty="0" smtClean="0"/>
              <a:t>responsible for </a:t>
            </a:r>
            <a:r>
              <a:rPr lang="en-US" dirty="0"/>
              <a:t>developing web standards—the World Wide Web </a:t>
            </a:r>
            <a:r>
              <a:rPr lang="en-US" dirty="0" smtClean="0"/>
              <a:t>Consortium (</a:t>
            </a:r>
            <a:r>
              <a:rPr lang="en-US" dirty="0"/>
              <a:t>W3C)—offers an online validation tool you can use. </a:t>
            </a:r>
            <a:endParaRPr lang="en-US" dirty="0" smtClean="0"/>
          </a:p>
          <a:p>
            <a:pPr lvl="1">
              <a:buFont typeface="Wingdings" panose="05000000000000000000" pitchFamily="2" charset="2"/>
              <a:buChar char="Ø"/>
            </a:pPr>
            <a:r>
              <a:rPr lang="en-US" dirty="0" smtClean="0"/>
              <a:t>URL</a:t>
            </a:r>
            <a:r>
              <a:rPr lang="en-US" dirty="0"/>
              <a:t>: </a:t>
            </a:r>
            <a:r>
              <a:rPr lang="en-US" dirty="0">
                <a:hlinkClick r:id="rId2"/>
              </a:rPr>
              <a:t>http://</a:t>
            </a:r>
            <a:r>
              <a:rPr lang="en-US" dirty="0" smtClean="0">
                <a:hlinkClick r:id="rId2"/>
              </a:rPr>
              <a:t>validator.w3.org/</a:t>
            </a:r>
            <a:r>
              <a:rPr lang="en-US" dirty="0" smtClean="0"/>
              <a:t>.</a:t>
            </a:r>
          </a:p>
          <a:p>
            <a:pPr marL="0" indent="0">
              <a:buNone/>
            </a:pPr>
            <a:endParaRPr lang="en-US" dirty="0"/>
          </a:p>
          <a:p>
            <a:pPr lvl="1">
              <a:buFont typeface="Wingdings" panose="05000000000000000000" pitchFamily="2" charset="2"/>
              <a:buChar char="Ø"/>
            </a:pPr>
            <a:endParaRPr lang="en-GB"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301" y="1769204"/>
            <a:ext cx="5657850" cy="429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64229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W3C HTML </a:t>
            </a:r>
            <a:r>
              <a:rPr lang="en-US" b="1" dirty="0" smtClean="0"/>
              <a:t>Validator</a:t>
            </a:r>
            <a:endParaRPr lang="en-US" dirty="0"/>
          </a:p>
        </p:txBody>
      </p:sp>
      <p:sp>
        <p:nvSpPr>
          <p:cNvPr id="4" name="Rectangle 1"/>
          <p:cNvSpPr>
            <a:spLocks noGrp="1" noChangeArrowheads="1"/>
          </p:cNvSpPr>
          <p:nvPr>
            <p:ph idx="1"/>
          </p:nvPr>
        </p:nvSpPr>
        <p:spPr bwMode="auto">
          <a:xfrm>
            <a:off x="482146" y="2012938"/>
            <a:ext cx="1128866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a:p>
            <a:pPr marL="0" marR="0" lvl="0" indent="0" algn="l" defTabSz="914400" rtl="0" eaLnBrk="0" fontAlgn="base" latinLnBrk="0" hangingPunct="0">
              <a:lnSpc>
                <a:spcPct val="100000"/>
              </a:lnSpc>
              <a:spcBef>
                <a:spcPct val="0"/>
              </a:spcBef>
              <a:spcAft>
                <a:spcPct val="0"/>
              </a:spcAft>
              <a:buClrTx/>
              <a:buSzTx/>
              <a:buFontTx/>
              <a:buNone/>
              <a:tabLst/>
            </a:pPr>
            <a:r>
              <a:rPr lang="en-US" sz="1600" dirty="0" smtClean="0">
                <a:solidFill>
                  <a:schemeClr val="tx1"/>
                </a:solidFill>
                <a:latin typeface="Courier New" panose="02070309020205020404" pitchFamily="49" charset="0"/>
                <a:cs typeface="Courier New" panose="02070309020205020404" pitchFamily="49" charset="0"/>
              </a:rPr>
              <a:t>	</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 </a:t>
            </a:r>
            <a:r>
              <a:rPr kumimoji="0" lang="en-US" sz="16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href</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="http://validator.w3.org/check/</a:t>
            </a:r>
            <a:r>
              <a:rPr kumimoji="0" lang="en-US" sz="16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referer</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"&gt; </a:t>
            </a:r>
          </a:p>
          <a:p>
            <a:pPr marL="0" marR="0" lvl="0" indent="0" algn="l" defTabSz="914400" rtl="0" eaLnBrk="0" fontAlgn="base" latinLnBrk="0" hangingPunct="0">
              <a:lnSpc>
                <a:spcPct val="100000"/>
              </a:lnSpc>
              <a:spcBef>
                <a:spcPct val="0"/>
              </a:spcBef>
              <a:spcAft>
                <a:spcPct val="0"/>
              </a:spcAft>
              <a:buClrTx/>
              <a:buSzTx/>
              <a:buFontTx/>
              <a:buNone/>
              <a:tabLst/>
            </a:pPr>
            <a:r>
              <a:rPr lang="en-US" sz="1600" i="1" dirty="0" smtClean="0">
                <a:solidFill>
                  <a:schemeClr val="tx1"/>
                </a:solidFill>
                <a:latin typeface="Courier New" panose="02070309020205020404" pitchFamily="49" charset="0"/>
                <a:cs typeface="Courier New" panose="02070309020205020404" pitchFamily="49" charset="0"/>
              </a:rPr>
              <a:t>		</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t>
            </a:r>
            <a:r>
              <a:rPr kumimoji="0" lang="en-US" sz="16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img</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r>
              <a:rPr kumimoji="0" lang="en-US" sz="1600" b="0" i="1" u="none" strike="noStrike" cap="none" normalizeH="0" baseline="0" dirty="0" err="1" smtClean="0">
                <a:ln>
                  <a:noFill/>
                </a:ln>
                <a:solidFill>
                  <a:schemeClr val="tx1"/>
                </a:solidFill>
                <a:effectLst/>
                <a:latin typeface="Courier New" panose="02070309020205020404" pitchFamily="49" charset="0"/>
                <a:cs typeface="Courier New" panose="02070309020205020404" pitchFamily="49" charset="0"/>
              </a:rPr>
              <a:t>src</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="http://webster.cs.washington.edu/w3c-html.png" alt="Validate" /&gt; </a:t>
            </a:r>
          </a:p>
          <a:p>
            <a:pPr marL="0" marR="0" lvl="0" indent="0" algn="l" defTabSz="914400" rtl="0" eaLnBrk="0" fontAlgn="base" latinLnBrk="0" hangingPunct="0">
              <a:lnSpc>
                <a:spcPct val="100000"/>
              </a:lnSpc>
              <a:spcBef>
                <a:spcPct val="0"/>
              </a:spcBef>
              <a:spcAft>
                <a:spcPct val="0"/>
              </a:spcAft>
              <a:buClrTx/>
              <a:buSzTx/>
              <a:buFontTx/>
              <a:buNone/>
              <a:tabLst/>
            </a:pPr>
            <a:r>
              <a:rPr lang="en-US" sz="1600" i="1" dirty="0" smtClean="0">
                <a:solidFill>
                  <a:schemeClr val="tx1"/>
                </a:solidFill>
                <a:latin typeface="Courier New" panose="02070309020205020404" pitchFamily="49" charset="0"/>
                <a:cs typeface="Courier New" panose="02070309020205020404" pitchFamily="49" charset="0"/>
              </a:rPr>
              <a:t>	</a:t>
            </a:r>
            <a:r>
              <a:rPr kumimoji="0" lang="en-US" sz="1600" b="0" i="1"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&lt;/a&gt;</a:t>
            </a:r>
            <a:r>
              <a:rPr kumimoji="0" 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latin typeface="Courier New" panose="02070309020205020404" pitchFamily="49" charset="0"/>
                <a:cs typeface="Courier New" panose="02070309020205020404" pitchFamily="49" charset="0"/>
              </a:rPr>
              <a:t>&lt;/p&gt; </a:t>
            </a:r>
          </a:p>
        </p:txBody>
      </p:sp>
      <p:sp>
        <p:nvSpPr>
          <p:cNvPr id="6" name="TextBox 5"/>
          <p:cNvSpPr txBox="1"/>
          <p:nvPr/>
        </p:nvSpPr>
        <p:spPr>
          <a:xfrm>
            <a:off x="160638" y="4133058"/>
            <a:ext cx="1099504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smtClean="0">
                <a:solidFill>
                  <a:srgbClr val="84B93F"/>
                </a:solidFill>
                <a:hlinkClick r:id="rId2"/>
              </a:rPr>
              <a:t>validator.w3.org</a:t>
            </a:r>
            <a:endParaRPr lang="en-US" sz="2400" dirty="0" smtClean="0">
              <a:solidFill>
                <a:srgbClr val="84B93F"/>
              </a:solidFill>
            </a:endParaRPr>
          </a:p>
          <a:p>
            <a:pPr marL="285750" indent="-285750">
              <a:lnSpc>
                <a:spcPct val="150000"/>
              </a:lnSpc>
              <a:buFont typeface="Arial" panose="020B0604020202020204" pitchFamily="34" charset="0"/>
              <a:buChar char="•"/>
            </a:pPr>
            <a:r>
              <a:rPr lang="en-US" sz="2400" dirty="0" smtClean="0"/>
              <a:t>checks your HTML code to make sure it follows the official HTML syntax</a:t>
            </a:r>
          </a:p>
          <a:p>
            <a:pPr marL="285750" indent="-285750">
              <a:lnSpc>
                <a:spcPct val="150000"/>
              </a:lnSpc>
              <a:buFont typeface="Arial" panose="020B0604020202020204" pitchFamily="34" charset="0"/>
              <a:buChar char="•"/>
            </a:pPr>
            <a:r>
              <a:rPr lang="en-US" sz="2400" dirty="0" smtClean="0"/>
              <a:t>more picky than the browser, which may render bad HTML </a:t>
            </a:r>
            <a:r>
              <a:rPr lang="en-US" sz="2400" dirty="0" smtClean="0"/>
              <a:t>correctly</a:t>
            </a:r>
          </a:p>
          <a:p>
            <a:pPr marL="285750" indent="-285750">
              <a:lnSpc>
                <a:spcPct val="150000"/>
              </a:lnSpc>
              <a:buFont typeface="Arial" panose="020B0604020202020204" pitchFamily="34" charset="0"/>
              <a:buChar char="•"/>
            </a:pPr>
            <a:r>
              <a:rPr lang="en-US" sz="2400" dirty="0"/>
              <a:t>Validation </a:t>
            </a:r>
            <a:r>
              <a:rPr lang="en-US" sz="2400" dirty="0" smtClean="0"/>
              <a:t> </a:t>
            </a:r>
            <a:r>
              <a:rPr lang="en-US" sz="2400" dirty="0"/>
              <a:t>informs you whether your </a:t>
            </a:r>
            <a:r>
              <a:rPr lang="en-US" sz="2400" dirty="0" smtClean="0"/>
              <a:t>pages are </a:t>
            </a:r>
            <a:r>
              <a:rPr lang="en-US" sz="2400" dirty="0"/>
              <a:t>constructed </a:t>
            </a:r>
            <a:r>
              <a:rPr lang="en-US" sz="2400" dirty="0" smtClean="0"/>
              <a:t>properly</a:t>
            </a:r>
          </a:p>
          <a:p>
            <a:pPr marL="285750" indent="-285750">
              <a:lnSpc>
                <a:spcPct val="150000"/>
              </a:lnSpc>
              <a:buFont typeface="Arial" panose="020B0604020202020204" pitchFamily="34" charset="0"/>
              <a:buChar char="•"/>
            </a:pPr>
            <a:r>
              <a:rPr lang="en-US" sz="2400" dirty="0" smtClean="0"/>
              <a:t>Assists in </a:t>
            </a:r>
            <a:r>
              <a:rPr lang="en-US" sz="2400" dirty="0"/>
              <a:t>finding and fixing </a:t>
            </a:r>
            <a:r>
              <a:rPr lang="en-US" sz="2400" dirty="0" smtClean="0"/>
              <a:t>problems before </a:t>
            </a:r>
            <a:r>
              <a:rPr lang="en-US" sz="2400" dirty="0"/>
              <a:t>you post pages for the world to see.</a:t>
            </a:r>
            <a:endParaRPr lang="en-US" sz="2400" dirty="0" smtClean="0"/>
          </a:p>
          <a:p>
            <a:pPr>
              <a:lnSpc>
                <a:spcPct val="150000"/>
              </a:lnSpc>
            </a:pPr>
            <a:endParaRPr lang="en-US" sz="2400" dirty="0"/>
          </a:p>
        </p:txBody>
      </p:sp>
      <p:pic>
        <p:nvPicPr>
          <p:cNvPr id="6147" name="Picture 3" descr="Valid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46" y="3529819"/>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38876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a Website </a:t>
            </a: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smtClean="0"/>
              <a:t> Store </a:t>
            </a:r>
            <a:r>
              <a:rPr lang="en-US" dirty="0"/>
              <a:t>web content </a:t>
            </a:r>
            <a:r>
              <a:rPr lang="en-US" dirty="0" smtClean="0"/>
              <a:t>(html file, </a:t>
            </a:r>
            <a:r>
              <a:rPr lang="en-US" dirty="0" err="1" smtClean="0"/>
              <a:t>css</a:t>
            </a:r>
            <a:r>
              <a:rPr lang="en-US" dirty="0" smtClean="0"/>
              <a:t>, images, etc.) for </a:t>
            </a:r>
            <a:r>
              <a:rPr lang="en-US" dirty="0"/>
              <a:t>an individual website </a:t>
            </a:r>
            <a:r>
              <a:rPr lang="en-US" dirty="0" smtClean="0"/>
              <a:t>in </a:t>
            </a:r>
            <a:r>
              <a:rPr lang="en-US" dirty="0"/>
              <a:t>the same </a:t>
            </a:r>
            <a:r>
              <a:rPr lang="en-US" dirty="0" smtClean="0"/>
              <a:t>folder.</a:t>
            </a:r>
          </a:p>
          <a:p>
            <a:pPr>
              <a:buFont typeface="Wingdings" panose="05000000000000000000" pitchFamily="2" charset="2"/>
              <a:buChar char="§"/>
            </a:pPr>
            <a:r>
              <a:rPr lang="en-US" dirty="0"/>
              <a:t>put your </a:t>
            </a:r>
            <a:r>
              <a:rPr lang="en-US" dirty="0" smtClean="0"/>
              <a:t>files into </a:t>
            </a:r>
            <a:r>
              <a:rPr lang="en-US" dirty="0"/>
              <a:t>directories (or folders, if you will) whose names reflect the </a:t>
            </a:r>
            <a:r>
              <a:rPr lang="en-US" dirty="0" smtClean="0"/>
              <a:t>content within </a:t>
            </a:r>
            <a:r>
              <a:rPr lang="en-US" dirty="0"/>
              <a:t>them. For example, all your images could be in an “images” directory</a:t>
            </a:r>
            <a:r>
              <a:rPr lang="en-US" dirty="0" smtClean="0"/>
              <a:t>, corporate </a:t>
            </a:r>
            <a:r>
              <a:rPr lang="en-US" dirty="0"/>
              <a:t>information could be in an “about” directory, and so on</a:t>
            </a:r>
            <a:r>
              <a:rPr lang="en-US" dirty="0" smtClean="0"/>
              <a:t>.</a:t>
            </a:r>
          </a:p>
          <a:p>
            <a:pPr lvl="1">
              <a:buFont typeface="Wingdings" panose="05000000000000000000" pitchFamily="2" charset="2"/>
              <a:buChar char="§"/>
            </a:pPr>
            <a:endParaRPr lang="en-US" dirty="0"/>
          </a:p>
          <a:p>
            <a:pPr>
              <a:buFont typeface="Wingdings" panose="05000000000000000000" pitchFamily="2" charset="2"/>
              <a:buChar char="§"/>
            </a:pPr>
            <a:endParaRPr lang="en-GB" dirty="0">
              <a:solidFill>
                <a:schemeClr val="tx1"/>
              </a:solidFill>
            </a:endParaRPr>
          </a:p>
        </p:txBody>
      </p:sp>
    </p:spTree>
    <p:extLst>
      <p:ext uri="{BB962C8B-B14F-4D97-AF65-F5344CB8AC3E}">
        <p14:creationId xmlns:p14="http://schemas.microsoft.com/office/powerpoint/2010/main" val="65804747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Assignment 1</a:t>
            </a:r>
            <a:endParaRPr lang="en-GB" dirty="0"/>
          </a:p>
        </p:txBody>
      </p:sp>
      <p:sp>
        <p:nvSpPr>
          <p:cNvPr id="3" name="Content Placeholder 2"/>
          <p:cNvSpPr>
            <a:spLocks noGrp="1"/>
          </p:cNvSpPr>
          <p:nvPr>
            <p:ph idx="1"/>
          </p:nvPr>
        </p:nvSpPr>
        <p:spPr/>
        <p:txBody>
          <a:bodyPr/>
          <a:lstStyle/>
          <a:p>
            <a:pPr>
              <a:buFont typeface="Wingdings" panose="05000000000000000000" pitchFamily="2" charset="2"/>
              <a:buChar char="q"/>
            </a:pPr>
            <a:r>
              <a:rPr lang="en-GB" dirty="0" smtClean="0"/>
              <a:t>Study the attached </a:t>
            </a:r>
            <a:r>
              <a:rPr lang="en-GB" dirty="0" smtClean="0">
                <a:hlinkClick r:id="rId2" action="ppaction://hlinkfile"/>
              </a:rPr>
              <a:t>word document </a:t>
            </a:r>
            <a:r>
              <a:rPr lang="en-GB" dirty="0" smtClean="0"/>
              <a:t>and complete the anchor tags for the attached </a:t>
            </a:r>
            <a:r>
              <a:rPr lang="en-GB" dirty="0" smtClean="0">
                <a:hlinkClick r:id="rId3" action="ppaction://hlinkfile"/>
              </a:rPr>
              <a:t>html document</a:t>
            </a:r>
            <a:r>
              <a:rPr lang="en-GB" dirty="0" smtClean="0"/>
              <a:t>. </a:t>
            </a:r>
          </a:p>
          <a:p>
            <a:pPr>
              <a:buFont typeface="Wingdings" panose="05000000000000000000" pitchFamily="2" charset="2"/>
              <a:buChar char="q"/>
            </a:pPr>
            <a:r>
              <a:rPr lang="en-GB" dirty="0" smtClean="0"/>
              <a:t>Insert at least two recent images of yourself in the page.</a:t>
            </a:r>
          </a:p>
          <a:p>
            <a:pPr>
              <a:buFont typeface="Wingdings" panose="05000000000000000000" pitchFamily="2" charset="2"/>
              <a:buChar char="q"/>
            </a:pPr>
            <a:r>
              <a:rPr lang="en-GB" dirty="0" smtClean="0"/>
              <a:t>Write a brief proposal about yourself.</a:t>
            </a:r>
          </a:p>
          <a:p>
            <a:pPr>
              <a:buFont typeface="Wingdings" panose="05000000000000000000" pitchFamily="2" charset="2"/>
              <a:buChar char="q"/>
            </a:pPr>
            <a:r>
              <a:rPr lang="en-GB" dirty="0" smtClean="0"/>
              <a:t>Save your work as </a:t>
            </a:r>
            <a:r>
              <a:rPr lang="en-GB" b="1" dirty="0" smtClean="0">
                <a:solidFill>
                  <a:srgbClr val="C00000"/>
                </a:solidFill>
              </a:rPr>
              <a:t>MYIndexnumber.html </a:t>
            </a:r>
          </a:p>
          <a:p>
            <a:pPr>
              <a:buFont typeface="Wingdings" panose="05000000000000000000" pitchFamily="2" charset="2"/>
              <a:buChar char="q"/>
            </a:pPr>
            <a:r>
              <a:rPr lang="en-GB" dirty="0" smtClean="0"/>
              <a:t>Email your completed document to: </a:t>
            </a:r>
            <a:r>
              <a:rPr lang="en-GB" dirty="0" smtClean="0">
                <a:hlinkClick r:id="rId4"/>
              </a:rPr>
              <a:t>halimasadi56@gmail.com</a:t>
            </a:r>
            <a:r>
              <a:rPr lang="en-GB" dirty="0" smtClean="0"/>
              <a:t>.  </a:t>
            </a:r>
          </a:p>
          <a:p>
            <a:pPr>
              <a:buFont typeface="Wingdings" panose="05000000000000000000" pitchFamily="2" charset="2"/>
              <a:buChar char="q"/>
            </a:pPr>
            <a:endParaRPr lang="en-GB" dirty="0"/>
          </a:p>
          <a:p>
            <a:pPr lvl="1">
              <a:buFont typeface="Wingdings" panose="05000000000000000000" pitchFamily="2" charset="2"/>
              <a:buChar char="q"/>
            </a:pPr>
            <a:r>
              <a:rPr lang="en-GB" smtClean="0"/>
              <a:t>Subject : INF 213 </a:t>
            </a:r>
            <a:r>
              <a:rPr lang="en-GB"/>
              <a:t>Assignment 1</a:t>
            </a:r>
            <a:endParaRPr lang="en-GB" dirty="0" smtClean="0"/>
          </a:p>
          <a:p>
            <a:pPr>
              <a:buFont typeface="Wingdings" panose="05000000000000000000" pitchFamily="2" charset="2"/>
              <a:buChar char="q"/>
            </a:pPr>
            <a:endParaRPr lang="en-GB" dirty="0"/>
          </a:p>
          <a:p>
            <a:pPr>
              <a:buFont typeface="Wingdings" panose="05000000000000000000" pitchFamily="2" charset="2"/>
              <a:buChar char="q"/>
            </a:pPr>
            <a:endParaRPr lang="en-GB" dirty="0"/>
          </a:p>
        </p:txBody>
      </p:sp>
    </p:spTree>
    <p:extLst>
      <p:ext uri="{BB962C8B-B14F-4D97-AF65-F5344CB8AC3E}">
        <p14:creationId xmlns:p14="http://schemas.microsoft.com/office/powerpoint/2010/main" val="2897519532"/>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4342</TotalTime>
  <Words>3529</Words>
  <Application>Microsoft Office PowerPoint</Application>
  <PresentationFormat>Custom</PresentationFormat>
  <Paragraphs>441</Paragraphs>
  <Slides>43</Slides>
  <Notes>10</Notes>
  <HiddenSlides>7</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Retrospect</vt:lpstr>
      <vt:lpstr>INF 213 – Web Technology 1</vt:lpstr>
      <vt:lpstr>Hypertext Markup Language (HTML)</vt:lpstr>
      <vt:lpstr>History of HTML</vt:lpstr>
      <vt:lpstr>What is HTML5?</vt:lpstr>
      <vt:lpstr>Goals of HTML5</vt:lpstr>
      <vt:lpstr>New Elements in HTML5</vt:lpstr>
      <vt:lpstr>Other New Features in HTML5</vt:lpstr>
      <vt:lpstr>First Look at HTML5</vt:lpstr>
      <vt:lpstr>The &lt;html&gt; Element</vt:lpstr>
      <vt:lpstr>The &lt;head&gt; Section</vt:lpstr>
      <vt:lpstr>Basic HTML5 Web Page</vt:lpstr>
      <vt:lpstr>Viewing the HTML5 Web Page</vt:lpstr>
      <vt:lpstr>Page title: &lt;title&gt;</vt:lpstr>
      <vt:lpstr> Paragraph: &lt;p&gt;</vt:lpstr>
      <vt:lpstr>Headings: &lt;h1&gt;, &lt;h2&gt;, ..., &lt;h6&gt;</vt:lpstr>
      <vt:lpstr> Links: &lt;a&gt;</vt:lpstr>
      <vt:lpstr> Links: &lt;anchor&gt;</vt:lpstr>
      <vt:lpstr>Block and inline elements</vt:lpstr>
      <vt:lpstr>Quotations &lt;blockquote&gt;</vt:lpstr>
      <vt:lpstr>Inline quotations &lt;q&gt;</vt:lpstr>
      <vt:lpstr>Computer code &lt;code&gt;</vt:lpstr>
      <vt:lpstr>Preformatted text &lt;pre&gt;</vt:lpstr>
      <vt:lpstr>Line break: &lt;br&gt;</vt:lpstr>
      <vt:lpstr>HTML Character Entities</vt:lpstr>
      <vt:lpstr>Unicode</vt:lpstr>
      <vt:lpstr>Deletions and insertions: &lt;del&gt;, &lt;ins&gt;</vt:lpstr>
      <vt:lpstr>Abbreviations: &lt;abbr&gt;</vt:lpstr>
      <vt:lpstr>Phrase elements : &lt;em&gt;, &lt;strong&gt;</vt:lpstr>
      <vt:lpstr>Nesting tags</vt:lpstr>
      <vt:lpstr>Images: &lt;img&gt;</vt:lpstr>
      <vt:lpstr>Comments: &lt;!-- ... --&gt;</vt:lpstr>
      <vt:lpstr>Unordered list: &lt;ul&gt;, &lt;li&gt;</vt:lpstr>
      <vt:lpstr>More about unordered lists</vt:lpstr>
      <vt:lpstr>Ordered list &lt;ol&gt;</vt:lpstr>
      <vt:lpstr>Definition list &lt;dl&gt;, &lt;dt&gt;, &lt;dd&gt;</vt:lpstr>
      <vt:lpstr>Web page metadata: &lt;meta&gt;</vt:lpstr>
      <vt:lpstr>Favorites icon ("favicon")</vt:lpstr>
      <vt:lpstr>Web Standards</vt:lpstr>
      <vt:lpstr>Tips for Testing Web Pages</vt:lpstr>
      <vt:lpstr>Validating a Web Page</vt:lpstr>
      <vt:lpstr>W3C HTML Validator</vt:lpstr>
      <vt:lpstr>Managing a Website </vt:lpstr>
      <vt:lpstr>Assignment 1</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154</dc:title>
  <dc:creator>allison</dc:creator>
  <cp:lastModifiedBy>user</cp:lastModifiedBy>
  <cp:revision>55</cp:revision>
  <dcterms:created xsi:type="dcterms:W3CDTF">2014-09-24T02:51:58Z</dcterms:created>
  <dcterms:modified xsi:type="dcterms:W3CDTF">2018-09-10T13:23:10Z</dcterms:modified>
</cp:coreProperties>
</file>